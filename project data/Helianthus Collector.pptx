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58" r:id="rId3"/>
    <p:sldId id="260" r:id="rId4"/>
    <p:sldId id="261" r:id="rId5"/>
    <p:sldId id="263" r:id="rId6"/>
    <p:sldId id="264" r:id="rId7"/>
    <p:sldId id="278" r:id="rId8"/>
    <p:sldId id="277" r:id="rId9"/>
    <p:sldId id="280" r:id="rId10"/>
    <p:sldId id="281" r:id="rId11"/>
    <p:sldId id="282" r:id="rId12"/>
    <p:sldId id="276" r:id="rId13"/>
    <p:sldId id="265" r:id="rId14"/>
    <p:sldId id="266" r:id="rId15"/>
    <p:sldId id="283"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D5749"/>
    <a:srgbClr val="CC0000"/>
    <a:srgbClr val="F5800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044" autoAdjust="0"/>
    <p:restoredTop sz="94660"/>
  </p:normalViewPr>
  <p:slideViewPr>
    <p:cSldViewPr snapToGrid="0">
      <p:cViewPr varScale="1">
        <p:scale>
          <a:sx n="65" d="100"/>
          <a:sy n="65" d="100"/>
        </p:scale>
        <p:origin x="894"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hmed\Downloads\intensty.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176957880264967"/>
          <c:y val="6.986111111111111E-2"/>
          <c:w val="0.78994685039370083"/>
          <c:h val="0.51681284631087776"/>
        </c:manualLayout>
      </c:layout>
      <c:scatterChart>
        <c:scatterStyle val="smoothMarker"/>
        <c:varyColors val="0"/>
        <c:ser>
          <c:idx val="0"/>
          <c:order val="0"/>
          <c:tx>
            <c:v>Equator</c:v>
          </c:tx>
          <c:spPr>
            <a:ln w="19050" cap="rnd">
              <a:solidFill>
                <a:schemeClr val="accent1"/>
              </a:solidFill>
              <a:round/>
            </a:ln>
            <a:effectLst/>
          </c:spPr>
          <c:marker>
            <c:symbol val="none"/>
          </c:marker>
          <c:xVal>
            <c:numRef>
              <c:f>Sheet1!$A$1:$A$5</c:f>
              <c:numCache>
                <c:formatCode>h:mm</c:formatCode>
                <c:ptCount val="5"/>
                <c:pt idx="0">
                  <c:v>0.25</c:v>
                </c:pt>
                <c:pt idx="1">
                  <c:v>0.375</c:v>
                </c:pt>
                <c:pt idx="2">
                  <c:v>0.5</c:v>
                </c:pt>
                <c:pt idx="3">
                  <c:v>0.625</c:v>
                </c:pt>
                <c:pt idx="4">
                  <c:v>0.75</c:v>
                </c:pt>
              </c:numCache>
            </c:numRef>
          </c:xVal>
          <c:yVal>
            <c:numRef>
              <c:f>Sheet1!$B$1:$B$5</c:f>
              <c:numCache>
                <c:formatCode>General</c:formatCode>
                <c:ptCount val="5"/>
                <c:pt idx="0">
                  <c:v>200</c:v>
                </c:pt>
                <c:pt idx="1">
                  <c:v>600</c:v>
                </c:pt>
                <c:pt idx="2">
                  <c:v>1000</c:v>
                </c:pt>
                <c:pt idx="3">
                  <c:v>600</c:v>
                </c:pt>
                <c:pt idx="4">
                  <c:v>200</c:v>
                </c:pt>
              </c:numCache>
            </c:numRef>
          </c:yVal>
          <c:smooth val="1"/>
          <c:extLst>
            <c:ext xmlns:c16="http://schemas.microsoft.com/office/drawing/2014/chart" uri="{C3380CC4-5D6E-409C-BE32-E72D297353CC}">
              <c16:uniqueId val="{00000000-01C9-4610-86BC-D6415B138DFE}"/>
            </c:ext>
          </c:extLst>
        </c:ser>
        <c:ser>
          <c:idx val="1"/>
          <c:order val="1"/>
          <c:tx>
            <c:v>23.5N/ 23.5 S</c:v>
          </c:tx>
          <c:spPr>
            <a:ln w="19050" cap="rnd">
              <a:solidFill>
                <a:srgbClr val="F5800B"/>
              </a:solidFill>
              <a:round/>
            </a:ln>
            <a:effectLst/>
          </c:spPr>
          <c:marker>
            <c:symbol val="none"/>
          </c:marker>
          <c:xVal>
            <c:numRef>
              <c:f>Sheet1!$A$1:$A$5</c:f>
              <c:numCache>
                <c:formatCode>h:mm</c:formatCode>
                <c:ptCount val="5"/>
                <c:pt idx="0">
                  <c:v>0.25</c:v>
                </c:pt>
                <c:pt idx="1">
                  <c:v>0.375</c:v>
                </c:pt>
                <c:pt idx="2">
                  <c:v>0.5</c:v>
                </c:pt>
                <c:pt idx="3">
                  <c:v>0.625</c:v>
                </c:pt>
                <c:pt idx="4">
                  <c:v>0.75</c:v>
                </c:pt>
              </c:numCache>
            </c:numRef>
          </c:xVal>
          <c:yVal>
            <c:numRef>
              <c:f>Sheet1!$C$1:$C$5</c:f>
              <c:numCache>
                <c:formatCode>General</c:formatCode>
                <c:ptCount val="5"/>
                <c:pt idx="0">
                  <c:v>100</c:v>
                </c:pt>
                <c:pt idx="1">
                  <c:v>450</c:v>
                </c:pt>
                <c:pt idx="2">
                  <c:v>750</c:v>
                </c:pt>
                <c:pt idx="3">
                  <c:v>450</c:v>
                </c:pt>
                <c:pt idx="4">
                  <c:v>100</c:v>
                </c:pt>
              </c:numCache>
            </c:numRef>
          </c:yVal>
          <c:smooth val="1"/>
          <c:extLst>
            <c:ext xmlns:c16="http://schemas.microsoft.com/office/drawing/2014/chart" uri="{C3380CC4-5D6E-409C-BE32-E72D297353CC}">
              <c16:uniqueId val="{00000001-01C9-4610-86BC-D6415B138DFE}"/>
            </c:ext>
          </c:extLst>
        </c:ser>
        <c:ser>
          <c:idx val="2"/>
          <c:order val="2"/>
          <c:tx>
            <c:v>45N/ 45S</c:v>
          </c:tx>
          <c:spPr>
            <a:ln w="19050" cap="rnd">
              <a:solidFill>
                <a:schemeClr val="bg1">
                  <a:lumMod val="50000"/>
                </a:schemeClr>
              </a:solidFill>
              <a:round/>
            </a:ln>
            <a:effectLst/>
          </c:spPr>
          <c:marker>
            <c:symbol val="none"/>
          </c:marker>
          <c:xVal>
            <c:numRef>
              <c:f>Sheet1!$A$1:$A$5</c:f>
              <c:numCache>
                <c:formatCode>h:mm</c:formatCode>
                <c:ptCount val="5"/>
                <c:pt idx="0">
                  <c:v>0.25</c:v>
                </c:pt>
                <c:pt idx="1">
                  <c:v>0.375</c:v>
                </c:pt>
                <c:pt idx="2">
                  <c:v>0.5</c:v>
                </c:pt>
                <c:pt idx="3">
                  <c:v>0.625</c:v>
                </c:pt>
                <c:pt idx="4">
                  <c:v>0.75</c:v>
                </c:pt>
              </c:numCache>
            </c:numRef>
          </c:xVal>
          <c:yVal>
            <c:numRef>
              <c:f>Sheet1!$D$1:$D$5</c:f>
              <c:numCache>
                <c:formatCode>General</c:formatCode>
                <c:ptCount val="5"/>
                <c:pt idx="0">
                  <c:v>50</c:v>
                </c:pt>
                <c:pt idx="1">
                  <c:v>350</c:v>
                </c:pt>
                <c:pt idx="2">
                  <c:v>650</c:v>
                </c:pt>
                <c:pt idx="3">
                  <c:v>350</c:v>
                </c:pt>
                <c:pt idx="4">
                  <c:v>50</c:v>
                </c:pt>
              </c:numCache>
            </c:numRef>
          </c:yVal>
          <c:smooth val="1"/>
          <c:extLst>
            <c:ext xmlns:c16="http://schemas.microsoft.com/office/drawing/2014/chart" uri="{C3380CC4-5D6E-409C-BE32-E72D297353CC}">
              <c16:uniqueId val="{00000002-01C9-4610-86BC-D6415B138DFE}"/>
            </c:ext>
          </c:extLst>
        </c:ser>
        <c:ser>
          <c:idx val="3"/>
          <c:order val="3"/>
          <c:tx>
            <c:v>90N/ 90S</c:v>
          </c:tx>
          <c:spPr>
            <a:ln w="19050" cap="rnd">
              <a:solidFill>
                <a:srgbClr val="FFC000"/>
              </a:solidFill>
              <a:round/>
            </a:ln>
            <a:effectLst/>
          </c:spPr>
          <c:marker>
            <c:symbol val="none"/>
          </c:marker>
          <c:xVal>
            <c:numRef>
              <c:f>Sheet1!$A$1:$A$5</c:f>
              <c:numCache>
                <c:formatCode>h:mm</c:formatCode>
                <c:ptCount val="5"/>
                <c:pt idx="0">
                  <c:v>0.25</c:v>
                </c:pt>
                <c:pt idx="1">
                  <c:v>0.375</c:v>
                </c:pt>
                <c:pt idx="2">
                  <c:v>0.5</c:v>
                </c:pt>
                <c:pt idx="3">
                  <c:v>0.625</c:v>
                </c:pt>
                <c:pt idx="4">
                  <c:v>0.75</c:v>
                </c:pt>
              </c:numCache>
            </c:numRef>
          </c:xVal>
          <c:yVal>
            <c:numRef>
              <c:f>Sheet1!$E$1:$E$5</c:f>
              <c:numCache>
                <c:formatCode>General</c:formatCode>
                <c:ptCount val="5"/>
                <c:pt idx="0">
                  <c:v>25</c:v>
                </c:pt>
                <c:pt idx="1">
                  <c:v>275</c:v>
                </c:pt>
                <c:pt idx="2">
                  <c:v>525</c:v>
                </c:pt>
                <c:pt idx="3">
                  <c:v>275</c:v>
                </c:pt>
                <c:pt idx="4">
                  <c:v>25</c:v>
                </c:pt>
              </c:numCache>
            </c:numRef>
          </c:yVal>
          <c:smooth val="1"/>
          <c:extLst>
            <c:ext xmlns:c16="http://schemas.microsoft.com/office/drawing/2014/chart" uri="{C3380CC4-5D6E-409C-BE32-E72D297353CC}">
              <c16:uniqueId val="{00000003-01C9-4610-86BC-D6415B138DFE}"/>
            </c:ext>
          </c:extLst>
        </c:ser>
        <c:dLbls>
          <c:showLegendKey val="0"/>
          <c:showVal val="0"/>
          <c:showCatName val="0"/>
          <c:showSerName val="0"/>
          <c:showPercent val="0"/>
          <c:showBubbleSize val="0"/>
        </c:dLbls>
        <c:axId val="460124744"/>
        <c:axId val="460129336"/>
      </c:scatterChart>
      <c:valAx>
        <c:axId val="460124744"/>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day</a:t>
                </a:r>
                <a:r>
                  <a:rPr lang="en-US" baseline="0" dirty="0"/>
                  <a:t> time</a:t>
                </a:r>
                <a:endParaRPr lang="en-US" dirty="0"/>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h:mm"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0129336"/>
        <c:crosses val="autoZero"/>
        <c:crossBetween val="midCat"/>
      </c:valAx>
      <c:valAx>
        <c:axId val="46012933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baseline="0" dirty="0"/>
                  <a:t>Solar Radiation ( W/m^2)</a:t>
                </a:r>
                <a:endParaRPr lang="en-US" dirty="0"/>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460124744"/>
        <c:crosses val="autoZero"/>
        <c:crossBetween val="midCat"/>
      </c:valAx>
      <c:spPr>
        <a:noFill/>
        <a:ln>
          <a:noFill/>
        </a:ln>
        <a:effectLst/>
      </c:spPr>
    </c:plotArea>
    <c:legend>
      <c:legendPos val="b"/>
      <c:layout>
        <c:manualLayout>
          <c:xMode val="edge"/>
          <c:yMode val="edge"/>
          <c:x val="0"/>
          <c:y val="0.67650408282298047"/>
          <c:w val="0.19543737032870895"/>
          <c:h val="0.30497739865850104"/>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bg1"/>
    </a:solid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15391368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35703318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513194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3369901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1032287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31320397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27135587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63027088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2504085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9889769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1C6AE12-CA9C-48EA-B81F-94E0F0D3CD5D}" type="datetimeFigureOut">
              <a:rPr lang="en-US" smtClean="0"/>
              <a:t>1/28/2022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4435157-0A05-42B8-B3BB-91017D513084}" type="slidenum">
              <a:rPr lang="en-US" smtClean="0"/>
              <a:t>‹#›</a:t>
            </a:fld>
            <a:endParaRPr lang="en-US" dirty="0"/>
          </a:p>
        </p:txBody>
      </p:sp>
    </p:spTree>
    <p:extLst>
      <p:ext uri="{BB962C8B-B14F-4D97-AF65-F5344CB8AC3E}">
        <p14:creationId xmlns:p14="http://schemas.microsoft.com/office/powerpoint/2010/main" val="15575856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C6AE12-CA9C-48EA-B81F-94E0F0D3CD5D}" type="datetimeFigureOut">
              <a:rPr lang="en-US" smtClean="0"/>
              <a:t>1/28/2022</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435157-0A05-42B8-B3BB-91017D513084}" type="slidenum">
              <a:rPr lang="en-US" smtClean="0"/>
              <a:t>‹#›</a:t>
            </a:fld>
            <a:endParaRPr lang="en-US" dirty="0"/>
          </a:p>
        </p:txBody>
      </p:sp>
    </p:spTree>
    <p:extLst>
      <p:ext uri="{BB962C8B-B14F-4D97-AF65-F5344CB8AC3E}">
        <p14:creationId xmlns:p14="http://schemas.microsoft.com/office/powerpoint/2010/main" val="2222045831"/>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21000" b="-21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80D55-BC7B-4AE7-A11D-BE1469830F74}"/>
              </a:ext>
            </a:extLst>
          </p:cNvPr>
          <p:cNvSpPr>
            <a:spLocks noGrp="1"/>
          </p:cNvSpPr>
          <p:nvPr>
            <p:ph type="ctrTitle"/>
          </p:nvPr>
        </p:nvSpPr>
        <p:spPr>
          <a:xfrm>
            <a:off x="3590795" y="3126528"/>
            <a:ext cx="9144000" cy="2387600"/>
          </a:xfrm>
        </p:spPr>
        <p:txBody>
          <a:bodyPr>
            <a:normAutofit/>
          </a:bodyPr>
          <a:lstStyle/>
          <a:p>
            <a:r>
              <a:rPr lang="en-US" dirty="0"/>
              <a:t>Helianthus Collector</a:t>
            </a:r>
          </a:p>
        </p:txBody>
      </p:sp>
      <p:sp>
        <p:nvSpPr>
          <p:cNvPr id="3" name="Subtitle 2">
            <a:extLst>
              <a:ext uri="{FF2B5EF4-FFF2-40B4-BE49-F238E27FC236}">
                <a16:creationId xmlns:a16="http://schemas.microsoft.com/office/drawing/2014/main" id="{2F9BEDAE-32DA-4CFC-B89D-88AD3C345187}"/>
              </a:ext>
            </a:extLst>
          </p:cNvPr>
          <p:cNvSpPr>
            <a:spLocks noGrp="1"/>
          </p:cNvSpPr>
          <p:nvPr>
            <p:ph type="subTitle" idx="1"/>
          </p:nvPr>
        </p:nvSpPr>
        <p:spPr>
          <a:xfrm>
            <a:off x="3803737" y="5514128"/>
            <a:ext cx="9144000" cy="1655762"/>
          </a:xfrm>
        </p:spPr>
        <p:txBody>
          <a:bodyPr>
            <a:normAutofit/>
          </a:bodyPr>
          <a:lstStyle/>
          <a:p>
            <a:r>
              <a:rPr lang="en-US" dirty="0">
                <a:solidFill>
                  <a:schemeClr val="bg1"/>
                </a:solidFill>
              </a:rPr>
              <a:t>Group 21301</a:t>
            </a:r>
          </a:p>
        </p:txBody>
      </p:sp>
    </p:spTree>
    <p:extLst>
      <p:ext uri="{BB962C8B-B14F-4D97-AF65-F5344CB8AC3E}">
        <p14:creationId xmlns:p14="http://schemas.microsoft.com/office/powerpoint/2010/main" val="36268070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0D143-9279-40CF-9206-CAE263B99799}"/>
              </a:ext>
            </a:extLst>
          </p:cNvPr>
          <p:cNvSpPr>
            <a:spLocks noGrp="1"/>
          </p:cNvSpPr>
          <p:nvPr>
            <p:ph type="title"/>
          </p:nvPr>
        </p:nvSpPr>
        <p:spPr>
          <a:xfrm>
            <a:off x="1066800" y="176328"/>
            <a:ext cx="10058400" cy="1371600"/>
          </a:xfrm>
        </p:spPr>
        <p:txBody>
          <a:bodyPr/>
          <a:lstStyle/>
          <a:p>
            <a:pPr algn="ctr"/>
            <a:r>
              <a:rPr lang="en-US" dirty="0"/>
              <a:t>Materials </a:t>
            </a:r>
          </a:p>
        </p:txBody>
      </p:sp>
      <p:pic>
        <p:nvPicPr>
          <p:cNvPr id="49" name="Content Placeholder 48">
            <a:extLst>
              <a:ext uri="{FF2B5EF4-FFF2-40B4-BE49-F238E27FC236}">
                <a16:creationId xmlns:a16="http://schemas.microsoft.com/office/drawing/2014/main" id="{F67C1B84-5B86-4C49-9DF1-AC2E62568307}"/>
              </a:ext>
            </a:extLst>
          </p:cNvPr>
          <p:cNvPicPr>
            <a:picLocks noGrp="1" noChangeAspect="1"/>
          </p:cNvPicPr>
          <p:nvPr>
            <p:ph idx="1"/>
          </p:nvPr>
        </p:nvPicPr>
        <p:blipFill>
          <a:blip r:embed="rId2"/>
          <a:stretch>
            <a:fillRect/>
          </a:stretch>
        </p:blipFill>
        <p:spPr>
          <a:xfrm>
            <a:off x="1286006" y="1410142"/>
            <a:ext cx="9619988" cy="4963738"/>
          </a:xfrm>
          <a:prstGeom prst="rect">
            <a:avLst/>
          </a:prstGeom>
        </p:spPr>
      </p:pic>
    </p:spTree>
    <p:extLst>
      <p:ext uri="{BB962C8B-B14F-4D97-AF65-F5344CB8AC3E}">
        <p14:creationId xmlns:p14="http://schemas.microsoft.com/office/powerpoint/2010/main" val="18060191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182F9-6DFA-4D85-AB33-A33FDEDB865B}"/>
              </a:ext>
            </a:extLst>
          </p:cNvPr>
          <p:cNvSpPr>
            <a:spLocks noGrp="1"/>
          </p:cNvSpPr>
          <p:nvPr>
            <p:ph type="title"/>
          </p:nvPr>
        </p:nvSpPr>
        <p:spPr/>
        <p:txBody>
          <a:bodyPr/>
          <a:lstStyle/>
          <a:p>
            <a:pPr algn="ctr"/>
            <a:r>
              <a:rPr lang="en-US" dirty="0"/>
              <a:t>Test plan</a:t>
            </a:r>
          </a:p>
        </p:txBody>
      </p:sp>
      <p:sp>
        <p:nvSpPr>
          <p:cNvPr id="3" name="Content Placeholder 2">
            <a:extLst>
              <a:ext uri="{FF2B5EF4-FFF2-40B4-BE49-F238E27FC236}">
                <a16:creationId xmlns:a16="http://schemas.microsoft.com/office/drawing/2014/main" id="{16C77A2D-7333-4659-AD94-47598B212615}"/>
              </a:ext>
            </a:extLst>
          </p:cNvPr>
          <p:cNvSpPr>
            <a:spLocks noGrp="1"/>
          </p:cNvSpPr>
          <p:nvPr>
            <p:ph idx="1"/>
          </p:nvPr>
        </p:nvSpPr>
        <p:spPr/>
        <p:txBody>
          <a:bodyPr/>
          <a:lstStyle/>
          <a:p>
            <a:r>
              <a:rPr lang="en-US" dirty="0"/>
              <a:t>There are main two test plans that have been done; in the first one, the prototype was fixed, did not contain a tracing system, on the surface in the north direction, the prototype takes a long time until it reached 10 degrees difference from. In the second test plan, the prototype was connected to the stepper motor, that make it able to move to trace the sun’s direction, the prototype was settled by an angle of 30.22 to the south which is Obour city’s latitude, this test was held at 12 AM with a temperature of 17°c, at which reached 10 degrees difference in temperature, which took less time compared to the first trial.</a:t>
            </a:r>
            <a:br>
              <a:rPr lang="en-US" dirty="0"/>
            </a:br>
            <a:endParaRPr lang="en-US" dirty="0"/>
          </a:p>
        </p:txBody>
      </p:sp>
    </p:spTree>
    <p:extLst>
      <p:ext uri="{BB962C8B-B14F-4D97-AF65-F5344CB8AC3E}">
        <p14:creationId xmlns:p14="http://schemas.microsoft.com/office/powerpoint/2010/main" val="40951026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68A29-09F4-4A84-AB0A-E768A733464A}"/>
              </a:ext>
            </a:extLst>
          </p:cNvPr>
          <p:cNvSpPr>
            <a:spLocks noGrp="1"/>
          </p:cNvSpPr>
          <p:nvPr>
            <p:ph type="title"/>
          </p:nvPr>
        </p:nvSpPr>
        <p:spPr/>
        <p:txBody>
          <a:bodyPr/>
          <a:lstStyle/>
          <a:p>
            <a:pPr algn="ctr"/>
            <a:r>
              <a:rPr lang="en-US" dirty="0"/>
              <a:t>Results </a:t>
            </a:r>
          </a:p>
        </p:txBody>
      </p:sp>
      <p:sp>
        <p:nvSpPr>
          <p:cNvPr id="3" name="Content Placeholder 2">
            <a:extLst>
              <a:ext uri="{FF2B5EF4-FFF2-40B4-BE49-F238E27FC236}">
                <a16:creationId xmlns:a16="http://schemas.microsoft.com/office/drawing/2014/main" id="{0C26F550-16BD-4608-BE2C-5E63238BC5F0}"/>
              </a:ext>
            </a:extLst>
          </p:cNvPr>
          <p:cNvSpPr>
            <a:spLocks noGrp="1"/>
          </p:cNvSpPr>
          <p:nvPr>
            <p:ph idx="1"/>
          </p:nvPr>
        </p:nvSpPr>
        <p:spPr>
          <a:xfrm>
            <a:off x="0" y="1911221"/>
            <a:ext cx="6683477" cy="4696056"/>
          </a:xfrm>
        </p:spPr>
        <p:txBody>
          <a:bodyPr>
            <a:normAutofit fontScale="92500" lnSpcReduction="20000"/>
          </a:bodyPr>
          <a:lstStyle/>
          <a:p>
            <a:pPr marL="0" indent="0">
              <a:buNone/>
            </a:pPr>
            <a:r>
              <a:rPr lang="en-US" dirty="0"/>
              <a:t>There are main two test plans that have been done; in the first one, the prototype was fixed, did not contain a tracing system, on the surface in the north direction, the prototype takes a long time until it reached 10 degrees difference from. In the second test plan, the prototype was connected to the stepper motor, that make it able to move to trace the sun’s direction, the prototype was settled by an angle of 30.22 to the south which is Obour city’s latitude, this test was held at 12 AM with a temperature of 17°c, at which reached 10 degrees difference in temperature, which took less time compared to the first trial.</a:t>
            </a:r>
            <a:br>
              <a:rPr lang="en-US" dirty="0"/>
            </a:br>
            <a:endParaRPr lang="en-US" dirty="0"/>
          </a:p>
        </p:txBody>
      </p:sp>
      <p:pic>
        <p:nvPicPr>
          <p:cNvPr id="4" name="Content Placeholder 5">
            <a:extLst>
              <a:ext uri="{FF2B5EF4-FFF2-40B4-BE49-F238E27FC236}">
                <a16:creationId xmlns:a16="http://schemas.microsoft.com/office/drawing/2014/main" id="{FEDCE002-898A-4910-AC67-889066FBDF3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799007" y="2185328"/>
            <a:ext cx="5257936" cy="3014789"/>
          </a:xfrm>
          <a:prstGeom prst="rect">
            <a:avLst/>
          </a:prstGeom>
        </p:spPr>
      </p:pic>
    </p:spTree>
    <p:extLst>
      <p:ext uri="{BB962C8B-B14F-4D97-AF65-F5344CB8AC3E}">
        <p14:creationId xmlns:p14="http://schemas.microsoft.com/office/powerpoint/2010/main" val="1057281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674C693A-C9FD-4B2B-981A-E15B21FCC8C2}"/>
              </a:ext>
            </a:extLst>
          </p:cNvPr>
          <p:cNvGraphicFramePr>
            <a:graphicFrameLocks noGrp="1"/>
          </p:cNvGraphicFramePr>
          <p:nvPr>
            <p:ph idx="1"/>
            <p:extLst>
              <p:ext uri="{D42A27DB-BD31-4B8C-83A1-F6EECF244321}">
                <p14:modId xmlns:p14="http://schemas.microsoft.com/office/powerpoint/2010/main" val="2940491405"/>
              </p:ext>
            </p:extLst>
          </p:nvPr>
        </p:nvGraphicFramePr>
        <p:xfrm>
          <a:off x="2446750" y="1458184"/>
          <a:ext cx="7298499" cy="3941632"/>
        </p:xfrm>
        <a:graphic>
          <a:graphicData uri="http://schemas.openxmlformats.org/drawingml/2006/chart">
            <c:chart xmlns:c="http://schemas.openxmlformats.org/drawingml/2006/chart" xmlns:r="http://schemas.openxmlformats.org/officeDocument/2006/relationships" r:id="rId2"/>
          </a:graphicData>
        </a:graphic>
      </p:graphicFrame>
      <p:sp>
        <p:nvSpPr>
          <p:cNvPr id="3" name="Title 1">
            <a:extLst>
              <a:ext uri="{FF2B5EF4-FFF2-40B4-BE49-F238E27FC236}">
                <a16:creationId xmlns:a16="http://schemas.microsoft.com/office/drawing/2014/main" id="{889C5F52-DB6E-46BA-8DF2-4AF01578A0F9}"/>
              </a:ext>
            </a:extLst>
          </p:cNvPr>
          <p:cNvSpPr>
            <a:spLocks noGrp="1"/>
          </p:cNvSpPr>
          <p:nvPr>
            <p:ph type="title"/>
          </p:nvPr>
        </p:nvSpPr>
        <p:spPr>
          <a:xfrm>
            <a:off x="838200" y="365125"/>
            <a:ext cx="10515600" cy="1325563"/>
          </a:xfrm>
        </p:spPr>
        <p:txBody>
          <a:bodyPr/>
          <a:lstStyle/>
          <a:p>
            <a:pPr algn="ctr"/>
            <a:r>
              <a:rPr lang="en-US" dirty="0"/>
              <a:t>Graphs </a:t>
            </a:r>
          </a:p>
        </p:txBody>
      </p:sp>
      <p:sp>
        <p:nvSpPr>
          <p:cNvPr id="5" name="TextBox 4">
            <a:extLst>
              <a:ext uri="{FF2B5EF4-FFF2-40B4-BE49-F238E27FC236}">
                <a16:creationId xmlns:a16="http://schemas.microsoft.com/office/drawing/2014/main" id="{98630403-46D0-420E-AF8E-C66916D90D7A}"/>
              </a:ext>
            </a:extLst>
          </p:cNvPr>
          <p:cNvSpPr txBox="1"/>
          <p:nvPr/>
        </p:nvSpPr>
        <p:spPr>
          <a:xfrm>
            <a:off x="4132990" y="5399816"/>
            <a:ext cx="3926018" cy="646331"/>
          </a:xfrm>
          <a:prstGeom prst="rect">
            <a:avLst/>
          </a:prstGeom>
          <a:noFill/>
        </p:spPr>
        <p:txBody>
          <a:bodyPr wrap="square">
            <a:spAutoFit/>
          </a:bodyPr>
          <a:lstStyle/>
          <a:p>
            <a:pPr algn="ctr"/>
            <a:r>
              <a:rPr lang="en-US" sz="1800" b="1" i="0" dirty="0">
                <a:solidFill>
                  <a:srgbClr val="0D5749"/>
                </a:solidFill>
                <a:effectLst/>
                <a:latin typeface="TimesNewRomanPS-BoldMT"/>
              </a:rPr>
              <a:t>Solar intensity during the day</a:t>
            </a:r>
            <a:r>
              <a:rPr lang="en-US" dirty="0"/>
              <a:t> </a:t>
            </a:r>
            <a:br>
              <a:rPr lang="en-US" dirty="0"/>
            </a:br>
            <a:endParaRPr lang="en-US" dirty="0"/>
          </a:p>
        </p:txBody>
      </p:sp>
    </p:spTree>
    <p:extLst>
      <p:ext uri="{BB962C8B-B14F-4D97-AF65-F5344CB8AC3E}">
        <p14:creationId xmlns:p14="http://schemas.microsoft.com/office/powerpoint/2010/main" val="2258365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Chart, bar chart, treemap chart&#10;&#10;Description automatically generated">
            <a:extLst>
              <a:ext uri="{FF2B5EF4-FFF2-40B4-BE49-F238E27FC236}">
                <a16:creationId xmlns:a16="http://schemas.microsoft.com/office/drawing/2014/main" id="{FADE393E-81DB-4B51-BC8E-0962F0C37DC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54949" y="899677"/>
            <a:ext cx="7082102" cy="5058645"/>
          </a:xfrm>
          <a:prstGeom prst="rect">
            <a:avLst/>
          </a:prstGeom>
        </p:spPr>
      </p:pic>
      <p:sp>
        <p:nvSpPr>
          <p:cNvPr id="4" name="TextBox 3">
            <a:extLst>
              <a:ext uri="{FF2B5EF4-FFF2-40B4-BE49-F238E27FC236}">
                <a16:creationId xmlns:a16="http://schemas.microsoft.com/office/drawing/2014/main" id="{624371F3-CA8B-4B17-9287-CA9997A4753D}"/>
              </a:ext>
            </a:extLst>
          </p:cNvPr>
          <p:cNvSpPr txBox="1"/>
          <p:nvPr/>
        </p:nvSpPr>
        <p:spPr>
          <a:xfrm>
            <a:off x="5209253" y="5958322"/>
            <a:ext cx="1773494" cy="646331"/>
          </a:xfrm>
          <a:prstGeom prst="rect">
            <a:avLst/>
          </a:prstGeom>
          <a:noFill/>
        </p:spPr>
        <p:txBody>
          <a:bodyPr wrap="square">
            <a:spAutoFit/>
          </a:bodyPr>
          <a:lstStyle/>
          <a:p>
            <a:r>
              <a:rPr lang="en-US" sz="1800" b="1" i="0" dirty="0">
                <a:solidFill>
                  <a:srgbClr val="0D5749"/>
                </a:solidFill>
                <a:effectLst/>
                <a:latin typeface="TimesNewRomanPS-BoldMT"/>
              </a:rPr>
              <a:t>Trials’ Energy</a:t>
            </a:r>
            <a:r>
              <a:rPr lang="en-US" dirty="0"/>
              <a:t> </a:t>
            </a:r>
            <a:br>
              <a:rPr lang="en-US" dirty="0"/>
            </a:br>
            <a:endParaRPr lang="en-US" dirty="0"/>
          </a:p>
        </p:txBody>
      </p:sp>
    </p:spTree>
    <p:extLst>
      <p:ext uri="{BB962C8B-B14F-4D97-AF65-F5344CB8AC3E}">
        <p14:creationId xmlns:p14="http://schemas.microsoft.com/office/powerpoint/2010/main" val="17394094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A87120-98FA-4AE4-B902-A588F75C9FFF}"/>
              </a:ext>
            </a:extLst>
          </p:cNvPr>
          <p:cNvSpPr>
            <a:spLocks noGrp="1"/>
          </p:cNvSpPr>
          <p:nvPr>
            <p:ph type="title"/>
          </p:nvPr>
        </p:nvSpPr>
        <p:spPr/>
        <p:txBody>
          <a:bodyPr/>
          <a:lstStyle/>
          <a:p>
            <a:pPr algn="ctr"/>
            <a:r>
              <a:rPr lang="en-US" dirty="0"/>
              <a:t>Calculations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6AFD1573-0A34-4CA8-B060-4CD70E1278F6}"/>
                  </a:ext>
                </a:extLst>
              </p:cNvPr>
              <p:cNvSpPr>
                <a:spLocks noGrp="1"/>
              </p:cNvSpPr>
              <p:nvPr>
                <p:ph idx="1"/>
              </p:nvPr>
            </p:nvSpPr>
            <p:spPr>
              <a:xfrm>
                <a:off x="1066800" y="2089178"/>
                <a:ext cx="10058400" cy="4403697"/>
              </a:xfrm>
            </p:spPr>
            <p:txBody>
              <a:bodyPr>
                <a:normAutofit/>
              </a:bodyPr>
              <a:lstStyle/>
              <a:p>
                <a:pPr marL="0" indent="0">
                  <a:buNone/>
                </a:pPr>
                <a:r>
                  <a:rPr lang="en-US" sz="3000" dirty="0">
                    <a:solidFill>
                      <a:srgbClr val="0D5749"/>
                    </a:solidFill>
                    <a:latin typeface="Times New Roman" panose="02020603050405020304" pitchFamily="18" charset="0"/>
                    <a:cs typeface="Times New Roman" panose="02020603050405020304" pitchFamily="18" charset="0"/>
                  </a:rPr>
                  <a:t>Efficiency</a:t>
                </a:r>
                <a:r>
                  <a:rPr lang="en-US" sz="3000" dirty="0">
                    <a:solidFill>
                      <a:srgbClr val="0D5749"/>
                    </a:solidFill>
                    <a:latin typeface="CambriaMath"/>
                  </a:rPr>
                  <a:t> : </a:t>
                </a:r>
              </a:p>
              <a:p>
                <a:pPr marL="0" indent="0" algn="ctr">
                  <a:buNone/>
                </a:pPr>
                <a14:m>
                  <m:oMathPara xmlns:m="http://schemas.openxmlformats.org/officeDocument/2006/math">
                    <m:oMathParaPr>
                      <m:jc m:val="centerGroup"/>
                    </m:oMathParaPr>
                    <m:oMath xmlns:m="http://schemas.openxmlformats.org/officeDocument/2006/math">
                      <m:f>
                        <m:fPr>
                          <m:ctrlPr>
                            <a:rPr kumimoji="0" lang="en-US" sz="2500" b="1" i="1" u="none" strike="noStrike" kern="1200" cap="none" spc="0" normalizeH="0" baseline="0" noProof="0" smtClean="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𝑻</m:t>
                              </m:r>
                            </m:e>
                            <m:sub>
                              <m: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𝟐</m:t>
                              </m:r>
                            </m:sub>
                          </m:sSub>
                          <m: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sSub>
                            <m:sSubPr>
                              <m:ctrlP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𝑻</m:t>
                              </m:r>
                            </m:e>
                            <m:sub>
                              <m: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𝟏</m:t>
                              </m:r>
                            </m:sub>
                          </m:sSub>
                        </m:num>
                        <m:den>
                          <m:sSub>
                            <m:sSubPr>
                              <m:ctrlP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ctrlPr>
                            </m:sSubPr>
                            <m:e>
                              <m: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𝑻</m:t>
                              </m:r>
                            </m:e>
                            <m:sub>
                              <m: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𝟏</m:t>
                              </m:r>
                            </m:sub>
                          </m:sSub>
                        </m:den>
                      </m:f>
                      <m: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m:t>
                      </m:r>
                      <m:r>
                        <a:rPr kumimoji="0" lang="en-US" sz="2500" b="1" i="1" u="none" strike="noStrike" kern="1200" cap="none" spc="0" normalizeH="0" baseline="0" noProof="0">
                          <a:ln>
                            <a:noFill/>
                          </a:ln>
                          <a:solidFill>
                            <a:srgbClr val="0D5749"/>
                          </a:solidFill>
                          <a:effectLst/>
                          <a:uLnTx/>
                          <a:uFillTx/>
                          <a:latin typeface="Cambria Math" panose="02040503050406030204" pitchFamily="18" charset="0"/>
                          <a:ea typeface="Times New Roman" panose="02020603050405020304" pitchFamily="18" charset="0"/>
                          <a:cs typeface="Times New Roman" panose="02020603050405020304" pitchFamily="18" charset="0"/>
                        </a:rPr>
                        <m:t>𝟏𝟎𝟎</m:t>
                      </m:r>
                    </m:oMath>
                  </m:oMathPara>
                </a14:m>
                <a:endParaRPr lang="en-US" sz="2500" b="1" dirty="0"/>
              </a:p>
              <a:p>
                <a:pPr marL="0" indent="0" algn="ctr">
                  <a:buNone/>
                </a:pPr>
                <a:r>
                  <a:rPr lang="en-US" sz="2500" b="1" dirty="0">
                    <a:solidFill>
                      <a:srgbClr val="0D5749"/>
                    </a:solidFill>
                  </a:rPr>
                  <a:t>=</a:t>
                </a:r>
                <a:r>
                  <a:rPr lang="en-US" sz="2500" b="1" dirty="0"/>
                  <a:t> </a:t>
                </a:r>
                <a14:m>
                  <m:oMath xmlns:m="http://schemas.openxmlformats.org/officeDocument/2006/math">
                    <m:f>
                      <m:fPr>
                        <m:ctrlPr>
                          <a:rPr lang="en-US" sz="25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5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𝟐𝟗</m:t>
                        </m:r>
                        <m:r>
                          <a:rPr lang="en-US" sz="25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5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𝟐</m:t>
                        </m:r>
                        <m:r>
                          <a:rPr lang="en-US" sz="25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5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𝟏𝟗</m:t>
                        </m:r>
                        <m:r>
                          <a:rPr lang="en-US" sz="25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5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𝟐</m:t>
                        </m:r>
                      </m:num>
                      <m:den>
                        <m:r>
                          <a:rPr lang="en-US" sz="25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𝟏𝟗</m:t>
                        </m:r>
                        <m:r>
                          <a:rPr lang="en-US" sz="25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500" b="1" i="1" smtClean="0">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𝟐</m:t>
                        </m:r>
                      </m:den>
                    </m:f>
                    <m:r>
                      <a:rPr lang="en-US" sz="25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500" b="1" i="1">
                        <a:solidFill>
                          <a:srgbClr val="0D5749"/>
                        </a:solidFill>
                        <a:effectLst/>
                        <a:latin typeface="Cambria Math" panose="02040503050406030204" pitchFamily="18" charset="0"/>
                        <a:ea typeface="Times New Roman" panose="02020603050405020304" pitchFamily="18" charset="0"/>
                        <a:cs typeface="Times New Roman" panose="02020603050405020304" pitchFamily="18" charset="0"/>
                      </a:rPr>
                      <m:t>𝟏𝟎𝟎</m:t>
                    </m:r>
                  </m:oMath>
                </a14:m>
                <a:endParaRPr lang="en-US" sz="2500" b="1" dirty="0"/>
              </a:p>
              <a:p>
                <a:pPr marL="0" indent="0" algn="ctr">
                  <a:buNone/>
                </a:pPr>
                <a:r>
                  <a:rPr lang="en-US" sz="2500" b="1" dirty="0">
                    <a:solidFill>
                      <a:srgbClr val="0D5749"/>
                    </a:solidFill>
                  </a:rPr>
                  <a:t>= 52%</a:t>
                </a:r>
              </a:p>
              <a:p>
                <a:pPr marL="0" indent="0" algn="ctr">
                  <a:buNone/>
                </a:pPr>
                <a:endParaRPr lang="en-US" sz="2500" b="1" dirty="0">
                  <a:solidFill>
                    <a:srgbClr val="0D5749"/>
                  </a:solidFill>
                </a:endParaRPr>
              </a:p>
            </p:txBody>
          </p:sp>
        </mc:Choice>
        <mc:Fallback>
          <p:sp>
            <p:nvSpPr>
              <p:cNvPr id="3" name="Content Placeholder 2">
                <a:extLst>
                  <a:ext uri="{FF2B5EF4-FFF2-40B4-BE49-F238E27FC236}">
                    <a16:creationId xmlns:a16="http://schemas.microsoft.com/office/drawing/2014/main" id="{6AFD1573-0A34-4CA8-B060-4CD70E1278F6}"/>
                  </a:ext>
                </a:extLst>
              </p:cNvPr>
              <p:cNvSpPr>
                <a:spLocks noGrp="1" noRot="1" noChangeAspect="1" noMove="1" noResize="1" noEditPoints="1" noAdjustHandles="1" noChangeArrowheads="1" noChangeShapeType="1" noTextEdit="1"/>
              </p:cNvSpPr>
              <p:nvPr>
                <p:ph idx="1"/>
              </p:nvPr>
            </p:nvSpPr>
            <p:spPr>
              <a:xfrm>
                <a:off x="1066800" y="2089178"/>
                <a:ext cx="10058400" cy="4403697"/>
              </a:xfrm>
              <a:blipFill>
                <a:blip r:embed="rId2"/>
                <a:stretch>
                  <a:fillRect l="-1394" t="-3047"/>
                </a:stretch>
              </a:blipFill>
            </p:spPr>
            <p:txBody>
              <a:bodyPr/>
              <a:lstStyle/>
              <a:p>
                <a:r>
                  <a:rPr lang="en-US">
                    <a:noFill/>
                  </a:rPr>
                  <a:t> </a:t>
                </a:r>
              </a:p>
            </p:txBody>
          </p:sp>
        </mc:Fallback>
      </mc:AlternateContent>
    </p:spTree>
    <p:extLst>
      <p:ext uri="{BB962C8B-B14F-4D97-AF65-F5344CB8AC3E}">
        <p14:creationId xmlns:p14="http://schemas.microsoft.com/office/powerpoint/2010/main" val="15934029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62E4-9029-42D4-91EB-D56A5FB2E141}"/>
              </a:ext>
            </a:extLst>
          </p:cNvPr>
          <p:cNvSpPr>
            <a:spLocks noGrp="1"/>
          </p:cNvSpPr>
          <p:nvPr>
            <p:ph type="title"/>
          </p:nvPr>
        </p:nvSpPr>
        <p:spPr/>
        <p:txBody>
          <a:bodyPr/>
          <a:lstStyle/>
          <a:p>
            <a:pPr algn="ctr"/>
            <a:r>
              <a:rPr lang="en-US" dirty="0"/>
              <a:t>Calculations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94AF46C-CE1A-4920-AAE1-8DF05F52D8DF}"/>
                  </a:ext>
                </a:extLst>
              </p:cNvPr>
              <p:cNvSpPr>
                <a:spLocks noGrp="1"/>
              </p:cNvSpPr>
              <p:nvPr>
                <p:ph idx="1"/>
              </p:nvPr>
            </p:nvSpPr>
            <p:spPr/>
            <p:txBody>
              <a:bodyPr/>
              <a:lstStyle/>
              <a:p>
                <a:pPr marL="0" indent="0">
                  <a:buNone/>
                </a:pPr>
                <a:r>
                  <a:rPr lang="en-US" sz="2800" b="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Mass flow rate </a:t>
                </a:r>
                <a14:m>
                  <m:oMath xmlns:m="http://schemas.openxmlformats.org/officeDocument/2006/math">
                    <m:acc>
                      <m:accPr>
                        <m:chr m:val="̇"/>
                        <m:ctrlPr>
                          <a:rPr lang="en-US" sz="2800" b="1" i="1" smtClean="0">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800" b="1"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m:t>
                        </m:r>
                        <m:r>
                          <a:rPr lang="en-US" sz="2800" b="1" i="1">
                            <a:solidFill>
                              <a:schemeClr val="tx1"/>
                            </a:solidFill>
                            <a:effectLst/>
                            <a:latin typeface="Cambria Math" panose="02040503050406030204" pitchFamily="18" charset="0"/>
                            <a:ea typeface="Times New Roman" panose="02020603050405020304" pitchFamily="18" charset="0"/>
                            <a:cs typeface="Times New Roman" panose="02020603050405020304" pitchFamily="18" charset="0"/>
                          </a:rPr>
                          <m:t>𝒎</m:t>
                        </m:r>
                      </m:e>
                    </m:acc>
                  </m:oMath>
                </a14:m>
                <a:r>
                  <a:rPr lang="en-US" sz="2800" b="1"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a:t>
                </a:r>
              </a:p>
              <a:p>
                <a:pPr marL="0" indent="0" algn="ctr">
                  <a:buNone/>
                </a:pPr>
                <a14:m>
                  <m:oMath xmlns:m="http://schemas.openxmlformats.org/officeDocument/2006/math">
                    <m:r>
                      <a:rPr lang="en-US" b="1" i="1" smtClean="0">
                        <a:solidFill>
                          <a:srgbClr val="0D5749"/>
                        </a:solidFill>
                        <a:latin typeface="Cambria Math" panose="02040503050406030204" pitchFamily="18" charset="0"/>
                        <a:ea typeface="Calibri" panose="020F0502020204030204" pitchFamily="34" charset="0"/>
                        <a:cs typeface="Times New Roman" panose="02020603050405020304" pitchFamily="18" charset="0"/>
                      </a:rPr>
                      <m:t>=</m:t>
                    </m:r>
                    <m:r>
                      <a:rPr lang="en-US" sz="2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𝝆</m:t>
                    </m:r>
                    <m:r>
                      <a:rPr lang="en-US" sz="2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2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𝑨</m:t>
                    </m:r>
                    <m:r>
                      <a:rPr lang="en-US" sz="2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m:t>
                    </m:r>
                    <m:r>
                      <a:rPr lang="en-US" sz="2800" b="1" i="1">
                        <a:solidFill>
                          <a:srgbClr val="0D5749"/>
                        </a:solidFill>
                        <a:effectLst/>
                        <a:latin typeface="Cambria Math" panose="02040503050406030204" pitchFamily="18" charset="0"/>
                        <a:ea typeface="Calibri" panose="020F0502020204030204" pitchFamily="34" charset="0"/>
                        <a:cs typeface="Times New Roman" panose="02020603050405020304" pitchFamily="18" charset="0"/>
                      </a:rPr>
                      <m:t>𝑽</m:t>
                    </m:r>
                  </m:oMath>
                </a14:m>
                <a:r>
                  <a:rPr lang="en-US" sz="2800" b="1" i="1"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rPr>
                  <a:t> </a:t>
                </a:r>
              </a:p>
              <a:p>
                <a14:m>
                  <m:oMath xmlns:m="http://schemas.openxmlformats.org/officeDocument/2006/math">
                    <m:r>
                      <a:rPr lang="en-US" b="1" i="1">
                        <a:solidFill>
                          <a:srgbClr val="0D5749"/>
                        </a:solidFill>
                        <a:latin typeface="Cambria Math" panose="02040503050406030204" pitchFamily="18" charset="0"/>
                        <a:ea typeface="Calibri" panose="020F0502020204030204" pitchFamily="34" charset="0"/>
                        <a:cs typeface="Times New Roman" panose="02020603050405020304" pitchFamily="18" charset="0"/>
                      </a:rPr>
                      <m:t>𝝆</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is</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the</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density</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of</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the</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fluid</m:t>
                    </m:r>
                    <m:r>
                      <m:rPr>
                        <m:nor/>
                      </m:rPr>
                      <a:rPr lang="en-US" b="0" i="0" dirty="0" smtClean="0">
                        <a:latin typeface="Times New Roman" panose="02020603050405020304" pitchFamily="18" charset="0"/>
                        <a:ea typeface="Times New Roman" panose="02020603050405020304" pitchFamily="18" charset="0"/>
                        <a:cs typeface="Times New Roman" panose="02020603050405020304" pitchFamily="18" charset="0"/>
                      </a:rPr>
                      <m:t>.</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oMath>
                </a14:m>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14:m>
                  <m:oMath xmlns:m="http://schemas.openxmlformats.org/officeDocument/2006/math">
                    <m:r>
                      <a:rPr lang="en-US" b="1" i="1">
                        <a:solidFill>
                          <a:srgbClr val="0D5749"/>
                        </a:solidFill>
                        <a:latin typeface="Cambria Math" panose="02040503050406030204" pitchFamily="18" charset="0"/>
                        <a:ea typeface="Calibri" panose="020F0502020204030204" pitchFamily="34" charset="0"/>
                        <a:cs typeface="Times New Roman" panose="02020603050405020304" pitchFamily="18" charset="0"/>
                      </a:rPr>
                      <m:t>𝑨</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is</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the</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area</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of</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the</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tube</m:t>
                    </m:r>
                    <m:r>
                      <m:rPr>
                        <m:nor/>
                      </m:rPr>
                      <a:rPr lang="en-US" b="0" i="0" dirty="0" smtClean="0">
                        <a:latin typeface="Times New Roman" panose="02020603050405020304" pitchFamily="18" charset="0"/>
                        <a:ea typeface="Times New Roman" panose="02020603050405020304" pitchFamily="18" charset="0"/>
                        <a:cs typeface="Times New Roman" panose="02020603050405020304" pitchFamily="18" charset="0"/>
                      </a:rPr>
                      <m:t>.</m:t>
                    </m:r>
                  </m:oMath>
                </a14:m>
                <a:endParaRPr lang="en-US" dirty="0">
                  <a:latin typeface="Times New Roman" panose="02020603050405020304" pitchFamily="18" charset="0"/>
                  <a:ea typeface="Times New Roman" panose="02020603050405020304" pitchFamily="18" charset="0"/>
                  <a:cs typeface="Times New Roman" panose="02020603050405020304" pitchFamily="18" charset="0"/>
                </a:endParaRPr>
              </a:p>
              <a:p>
                <a14:m>
                  <m:oMath xmlns:m="http://schemas.openxmlformats.org/officeDocument/2006/math">
                    <m:r>
                      <a:rPr lang="en-US" b="1" i="1">
                        <a:solidFill>
                          <a:srgbClr val="0D5749"/>
                        </a:solidFill>
                        <a:latin typeface="Cambria Math" panose="02040503050406030204" pitchFamily="18" charset="0"/>
                        <a:ea typeface="Calibri" panose="020F0502020204030204" pitchFamily="34" charset="0"/>
                        <a:cs typeface="Times New Roman" panose="02020603050405020304" pitchFamily="18" charset="0"/>
                      </a:rPr>
                      <m:t>𝑽</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is</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the</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velocity</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in</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which</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the</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fluid</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moves</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dirty="0">
                        <a:latin typeface="Times New Roman" panose="02020603050405020304" pitchFamily="18" charset="0"/>
                        <a:ea typeface="Times New Roman" panose="02020603050405020304" pitchFamily="18" charset="0"/>
                        <a:cs typeface="Times New Roman" panose="02020603050405020304" pitchFamily="18" charset="0"/>
                      </a:rPr>
                      <m:t>with</m:t>
                    </m:r>
                    <m:r>
                      <m:rPr>
                        <m:nor/>
                      </m:rPr>
                      <a:rPr lang="en-US" b="0" i="0" dirty="0" smtClean="0">
                        <a:latin typeface="Times New Roman" panose="02020603050405020304" pitchFamily="18" charset="0"/>
                        <a:ea typeface="Times New Roman" panose="02020603050405020304" pitchFamily="18" charset="0"/>
                        <a:cs typeface="Times New Roman" panose="02020603050405020304" pitchFamily="18" charset="0"/>
                      </a:rPr>
                      <m:t>.</m:t>
                    </m:r>
                  </m:oMath>
                </a14:m>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r>
                        <a:rPr lang="en-US" b="1" i="1" smtClean="0">
                          <a:solidFill>
                            <a:srgbClr val="0D5749"/>
                          </a:solidFill>
                          <a:latin typeface="Cambria Math" panose="02040503050406030204" pitchFamily="18" charset="0"/>
                          <a:ea typeface="Calibri" panose="020F0502020204030204" pitchFamily="34" charset="0"/>
                          <a:cs typeface="Times New Roman" panose="02020603050405020304" pitchFamily="18" charset="0"/>
                        </a:rPr>
                        <m:t>=</m:t>
                      </m:r>
                      <m:r>
                        <m:rPr>
                          <m:nor/>
                        </m:rPr>
                        <a:rPr lang="en-US" b="1" dirty="0">
                          <a:solidFill>
                            <a:srgbClr val="0D5749"/>
                          </a:solidFill>
                          <a:latin typeface="Times New Roman" panose="02020603050405020304" pitchFamily="18" charset="0"/>
                          <a:ea typeface="Times New Roman" panose="02020603050405020304" pitchFamily="18" charset="0"/>
                          <a:cs typeface="Times New Roman" panose="02020603050405020304" pitchFamily="18" charset="0"/>
                        </a:rPr>
                        <m:t>0.03 </m:t>
                      </m:r>
                      <m:r>
                        <m:rPr>
                          <m:nor/>
                        </m:rPr>
                        <a:rPr lang="en-US" b="1" dirty="0">
                          <a:solidFill>
                            <a:srgbClr val="0D5749"/>
                          </a:solidFill>
                          <a:latin typeface="Times New Roman" panose="02020603050405020304" pitchFamily="18" charset="0"/>
                          <a:ea typeface="Times New Roman" panose="02020603050405020304" pitchFamily="18" charset="0"/>
                          <a:cs typeface="Times New Roman" panose="02020603050405020304" pitchFamily="18" charset="0"/>
                        </a:rPr>
                        <m:t>kg</m:t>
                      </m:r>
                      <m:r>
                        <m:rPr>
                          <m:nor/>
                        </m:rPr>
                        <a:rPr lang="en-US" b="1" dirty="0">
                          <a:solidFill>
                            <a:srgbClr val="0D5749"/>
                          </a:solidFill>
                          <a:latin typeface="Times New Roman" panose="02020603050405020304" pitchFamily="18" charset="0"/>
                          <a:ea typeface="Times New Roman" panose="02020603050405020304" pitchFamily="18" charset="0"/>
                          <a:cs typeface="Times New Roman" panose="02020603050405020304" pitchFamily="18" charset="0"/>
                        </a:rPr>
                        <m:t>/</m:t>
                      </m:r>
                      <m:r>
                        <m:rPr>
                          <m:nor/>
                        </m:rPr>
                        <a:rPr lang="en-US" b="1" dirty="0">
                          <a:solidFill>
                            <a:srgbClr val="0D5749"/>
                          </a:solidFill>
                          <a:latin typeface="Times New Roman" panose="02020603050405020304" pitchFamily="18" charset="0"/>
                          <a:ea typeface="Times New Roman" panose="02020603050405020304" pitchFamily="18" charset="0"/>
                          <a:cs typeface="Times New Roman" panose="02020603050405020304" pitchFamily="18" charset="0"/>
                        </a:rPr>
                        <m:t>s</m:t>
                      </m:r>
                    </m:oMath>
                  </m:oMathPara>
                </a14:m>
                <a:endParaRPr lang="en-US" sz="2800" b="1" i="1"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594AF46C-CE1A-4920-AAE1-8DF05F52D8DF}"/>
                  </a:ext>
                </a:extLst>
              </p:cNvPr>
              <p:cNvSpPr>
                <a:spLocks noGrp="1" noRot="1" noChangeAspect="1" noMove="1" noResize="1" noEditPoints="1" noAdjustHandles="1" noChangeArrowheads="1" noChangeShapeType="1" noTextEdit="1"/>
              </p:cNvSpPr>
              <p:nvPr>
                <p:ph idx="1"/>
              </p:nvPr>
            </p:nvSpPr>
            <p:spPr>
              <a:blipFill>
                <a:blip r:embed="rId2"/>
                <a:stretch>
                  <a:fillRect l="-1217" t="-1821"/>
                </a:stretch>
              </a:blipFill>
            </p:spPr>
            <p:txBody>
              <a:bodyPr/>
              <a:lstStyle/>
              <a:p>
                <a:r>
                  <a:rPr lang="en-US">
                    <a:noFill/>
                  </a:rPr>
                  <a:t> </a:t>
                </a:r>
              </a:p>
            </p:txBody>
          </p:sp>
        </mc:Fallback>
      </mc:AlternateContent>
    </p:spTree>
    <p:extLst>
      <p:ext uri="{BB962C8B-B14F-4D97-AF65-F5344CB8AC3E}">
        <p14:creationId xmlns:p14="http://schemas.microsoft.com/office/powerpoint/2010/main" val="470360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62E4-9029-42D4-91EB-D56A5FB2E141}"/>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Calculations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94AF46C-CE1A-4920-AAE1-8DF05F52D8DF}"/>
                  </a:ext>
                </a:extLst>
              </p:cNvPr>
              <p:cNvSpPr>
                <a:spLocks noGrp="1"/>
              </p:cNvSpPr>
              <p:nvPr>
                <p:ph idx="1"/>
              </p:nvPr>
            </p:nvSpPr>
            <p:spPr/>
            <p:txBody>
              <a:bodyPr/>
              <a:lstStyle/>
              <a:p>
                <a:pPr marL="0" indent="0">
                  <a:buNone/>
                </a:pPr>
                <a:r>
                  <a:rPr lang="en-US" dirty="0">
                    <a:latin typeface="Times New Roman" panose="02020603050405020304" pitchFamily="18" charset="0"/>
                    <a:ea typeface="Times New Roman" panose="02020603050405020304" pitchFamily="18" charset="0"/>
                    <a:cs typeface="Arial" panose="020B0604020202020204" pitchFamily="34" charset="0"/>
                  </a:rPr>
                  <a:t>Heat energy (</a:t>
                </a:r>
                <a:r>
                  <a:rPr lang="en-US" i="1" dirty="0">
                    <a:latin typeface="Times New Roman" panose="02020603050405020304" pitchFamily="18" charset="0"/>
                    <a:ea typeface="Times New Roman" panose="02020603050405020304" pitchFamily="18" charset="0"/>
                    <a:cs typeface="Arial" panose="020B0604020202020204" pitchFamily="34" charset="0"/>
                  </a:rPr>
                  <a:t>Q</a:t>
                </a:r>
                <a:r>
                  <a:rPr lang="en-US" dirty="0">
                    <a:latin typeface="Times New Roman" panose="02020603050405020304" pitchFamily="18" charset="0"/>
                    <a:ea typeface="Times New Roman" panose="02020603050405020304" pitchFamily="18" charset="0"/>
                    <a:cs typeface="Arial" panose="020B0604020202020204" pitchFamily="34" charset="0"/>
                  </a:rPr>
                  <a:t>)</a:t>
                </a:r>
                <a:endParaRPr lang="en-US" sz="2800" b="1"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r>
                        <m:rPr>
                          <m:nor/>
                        </m:rPr>
                        <a:rPr lang="en-US" b="1" dirty="0" smtClean="0">
                          <a:solidFill>
                            <a:srgbClr val="0D5749"/>
                          </a:solidFill>
                          <a:latin typeface="Times New Roman" panose="02020603050405020304" pitchFamily="18" charset="0"/>
                          <a:ea typeface="Times New Roman" panose="02020603050405020304" pitchFamily="18" charset="0"/>
                          <a:cs typeface="Times New Roman" panose="02020603050405020304" pitchFamily="18" charset="0"/>
                        </a:rPr>
                        <m:t>=</m:t>
                      </m:r>
                      <m:r>
                        <m:rPr>
                          <m:nor/>
                        </m:rPr>
                        <a:rPr lang="en-US" b="1" i="1" dirty="0" smtClean="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 </m:t>
                      </m:r>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m</m:t>
                      </m:r>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 .</m:t>
                      </m:r>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Cp</m:t>
                      </m:r>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 </m:t>
                      </m:r>
                      <m:r>
                        <m:rPr>
                          <m:nor/>
                        </m:rPr>
                        <a:rPr lang="el-GR"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Δ</m:t>
                      </m:r>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T</m:t>
                      </m:r>
                    </m:oMath>
                  </m:oMathPara>
                </a14:m>
                <a:endParaRPr lang="en-US" sz="2800" b="1" i="1"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endParaRPr>
              </a:p>
              <a:p>
                <a14:m>
                  <m:oMath xmlns:m="http://schemas.openxmlformats.org/officeDocument/2006/math">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m</m:t>
                    </m:r>
                  </m:oMath>
                </a14:m>
                <a:r>
                  <a:rPr lang="en-US" dirty="0">
                    <a:latin typeface="Times New Roman" panose="02020603050405020304" pitchFamily="18" charset="0"/>
                    <a:ea typeface="Times New Roman" panose="02020603050405020304" pitchFamily="18" charset="0"/>
                    <a:cs typeface="Arial" panose="020B0604020202020204" pitchFamily="34" charset="0"/>
                  </a:rPr>
                  <a:t> is the mass of the liquid.</a:t>
                </a:r>
                <a:endPar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endParaRPr>
              </a:p>
              <a:p>
                <a14:m>
                  <m:oMath xmlns:m="http://schemas.openxmlformats.org/officeDocument/2006/math">
                    <m:r>
                      <a:rPr lang="en-US" b="1" i="1">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𝑪𝒑</m:t>
                    </m:r>
                  </m:oMath>
                </a14:m>
                <a:r>
                  <a:rPr lang="en-US" dirty="0">
                    <a:latin typeface="Times New Roman" panose="02020603050405020304" pitchFamily="18" charset="0"/>
                    <a:ea typeface="Times New Roman" panose="02020603050405020304" pitchFamily="18" charset="0"/>
                    <a:cs typeface="Arial" panose="020B0604020202020204" pitchFamily="34" charset="0"/>
                  </a:rPr>
                  <a:t> is the specific heat capacity.</a:t>
                </a:r>
              </a:p>
              <a:p>
                <a14:m>
                  <m:oMath xmlns:m="http://schemas.openxmlformats.org/officeDocument/2006/math">
                    <m:r>
                      <a:rPr lang="en-US" b="1" i="1">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𝜟</m:t>
                    </m:r>
                    <m:r>
                      <a:rPr lang="en-US" b="1" i="1">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𝑻</m:t>
                    </m:r>
                  </m:oMath>
                </a14:m>
                <a:r>
                  <a:rPr lang="en-US" dirty="0">
                    <a:latin typeface="Times New Roman" panose="02020603050405020304" pitchFamily="18" charset="0"/>
                    <a:ea typeface="Times New Roman" panose="02020603050405020304" pitchFamily="18" charset="0"/>
                    <a:cs typeface="Arial" panose="020B0604020202020204" pitchFamily="34" charset="0"/>
                  </a:rPr>
                  <a:t> is the difference in the temperature between the output temperature and the input temperature.</a:t>
                </a:r>
              </a:p>
              <a:p>
                <a:pPr marL="0" indent="0">
                  <a:buNone/>
                </a:pPr>
                <a14:m>
                  <m:oMathPara xmlns:m="http://schemas.openxmlformats.org/officeDocument/2006/math">
                    <m:oMathParaPr>
                      <m:jc m:val="center"/>
                    </m:oMathParaPr>
                    <m:oMath xmlns:m="http://schemas.openxmlformats.org/officeDocument/2006/math">
                      <m:r>
                        <m:rPr>
                          <m:nor/>
                        </m:rPr>
                        <a:rPr lang="en-US" b="1" dirty="0" smtClean="0">
                          <a:solidFill>
                            <a:srgbClr val="0D5749"/>
                          </a:solidFill>
                          <a:latin typeface="Times New Roman" panose="02020603050405020304" pitchFamily="18" charset="0"/>
                          <a:ea typeface="Times New Roman" panose="02020603050405020304" pitchFamily="18" charset="0"/>
                          <a:cs typeface="Times New Roman" panose="02020603050405020304" pitchFamily="18" charset="0"/>
                        </a:rPr>
                        <m:t>=</m:t>
                      </m:r>
                      <m:r>
                        <m:rPr>
                          <m:nor/>
                        </m:rPr>
                        <a:rPr lang="en-US" b="0" i="0" dirty="0" smtClean="0">
                          <a:solidFill>
                            <a:srgbClr val="0D5749"/>
                          </a:solidFill>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b="1" smtClean="0">
                          <a:solidFill>
                            <a:srgbClr val="0D5749"/>
                          </a:solidFill>
                          <a:latin typeface="Times New Roman" panose="02020603050405020304" pitchFamily="18" charset="0"/>
                          <a:cs typeface="Times New Roman" panose="02020603050405020304" pitchFamily="18" charset="0"/>
                        </a:rPr>
                        <m:t>28980 </m:t>
                      </m:r>
                      <m:r>
                        <m:rPr>
                          <m:nor/>
                        </m:rPr>
                        <a:rPr lang="en-US" b="1" smtClean="0">
                          <a:solidFill>
                            <a:srgbClr val="0D5749"/>
                          </a:solidFill>
                          <a:latin typeface="Times New Roman" panose="02020603050405020304" pitchFamily="18" charset="0"/>
                          <a:cs typeface="Times New Roman" panose="02020603050405020304" pitchFamily="18" charset="0"/>
                        </a:rPr>
                        <m:t>joules</m:t>
                      </m:r>
                    </m:oMath>
                  </m:oMathPara>
                </a14:m>
                <a:endParaRPr lang="en-US" b="1"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594AF46C-CE1A-4920-AAE1-8DF05F52D8DF}"/>
                  </a:ext>
                </a:extLst>
              </p:cNvPr>
              <p:cNvSpPr>
                <a:spLocks noGrp="1" noRot="1" noChangeAspect="1" noMove="1" noResize="1" noEditPoints="1" noAdjustHandles="1" noChangeArrowheads="1" noChangeShapeType="1" noTextEdit="1"/>
              </p:cNvSpPr>
              <p:nvPr>
                <p:ph idx="1"/>
              </p:nvPr>
            </p:nvSpPr>
            <p:spPr>
              <a:blipFill>
                <a:blip r:embed="rId2"/>
                <a:stretch>
                  <a:fillRect l="-1217" t="-2381" r="-1797"/>
                </a:stretch>
              </a:blipFill>
            </p:spPr>
            <p:txBody>
              <a:bodyPr/>
              <a:lstStyle/>
              <a:p>
                <a:r>
                  <a:rPr lang="en-US">
                    <a:noFill/>
                  </a:rPr>
                  <a:t> </a:t>
                </a:r>
              </a:p>
            </p:txBody>
          </p:sp>
        </mc:Fallback>
      </mc:AlternateContent>
    </p:spTree>
    <p:extLst>
      <p:ext uri="{BB962C8B-B14F-4D97-AF65-F5344CB8AC3E}">
        <p14:creationId xmlns:p14="http://schemas.microsoft.com/office/powerpoint/2010/main" val="4440949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62E4-9029-42D4-91EB-D56A5FB2E141}"/>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Calculations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94AF46C-CE1A-4920-AAE1-8DF05F52D8DF}"/>
                  </a:ext>
                </a:extLst>
              </p:cNvPr>
              <p:cNvSpPr>
                <a:spLocks noGrp="1"/>
              </p:cNvSpPr>
              <p:nvPr>
                <p:ph idx="1"/>
              </p:nvPr>
            </p:nvSpPr>
            <p:spPr/>
            <p:txBody>
              <a:bodyPr/>
              <a:lstStyle/>
              <a:p>
                <a:pPr marL="0" indent="0">
                  <a:buNone/>
                </a:pPr>
                <a:r>
                  <a:rPr lang="en-US" dirty="0">
                    <a:latin typeface="Times New Roman" panose="02020603050405020304" pitchFamily="18" charset="0"/>
                    <a:ea typeface="Times New Roman" panose="02020603050405020304" pitchFamily="18" charset="0"/>
                    <a:cs typeface="Arial" panose="020B0604020202020204" pitchFamily="34" charset="0"/>
                  </a:rPr>
                  <a:t>Heat energy (</a:t>
                </a:r>
                <a:r>
                  <a:rPr lang="en-US" i="1" dirty="0">
                    <a:latin typeface="Times New Roman" panose="02020603050405020304" pitchFamily="18" charset="0"/>
                    <a:ea typeface="Times New Roman" panose="02020603050405020304" pitchFamily="18" charset="0"/>
                    <a:cs typeface="Arial" panose="020B0604020202020204" pitchFamily="34" charset="0"/>
                  </a:rPr>
                  <a:t>Q</a:t>
                </a:r>
                <a:r>
                  <a:rPr lang="en-US" dirty="0">
                    <a:latin typeface="Times New Roman" panose="02020603050405020304" pitchFamily="18" charset="0"/>
                    <a:ea typeface="Times New Roman" panose="02020603050405020304" pitchFamily="18" charset="0"/>
                    <a:cs typeface="Arial" panose="020B0604020202020204" pitchFamily="34" charset="0"/>
                  </a:rPr>
                  <a:t>)</a:t>
                </a:r>
                <a:endParaRPr lang="en-US" sz="2800" b="1" i="1"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lgn="ctr">
                  <a:buNone/>
                </a:pPr>
                <a14:m>
                  <m:oMathPara xmlns:m="http://schemas.openxmlformats.org/officeDocument/2006/math">
                    <m:oMathParaPr>
                      <m:jc m:val="centerGroup"/>
                    </m:oMathParaPr>
                    <m:oMath xmlns:m="http://schemas.openxmlformats.org/officeDocument/2006/math">
                      <m:r>
                        <m:rPr>
                          <m:nor/>
                        </m:rPr>
                        <a:rPr lang="en-US" b="1" dirty="0" smtClean="0">
                          <a:solidFill>
                            <a:srgbClr val="0D5749"/>
                          </a:solidFill>
                          <a:latin typeface="Times New Roman" panose="02020603050405020304" pitchFamily="18" charset="0"/>
                          <a:ea typeface="Times New Roman" panose="02020603050405020304" pitchFamily="18" charset="0"/>
                          <a:cs typeface="Times New Roman" panose="02020603050405020304" pitchFamily="18" charset="0"/>
                        </a:rPr>
                        <m:t>=</m:t>
                      </m:r>
                      <m:r>
                        <m:rPr>
                          <m:nor/>
                        </m:rPr>
                        <a:rPr lang="en-US" b="1" i="1" dirty="0" smtClean="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 </m:t>
                      </m:r>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m</m:t>
                      </m:r>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 .</m:t>
                      </m:r>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Cp</m:t>
                      </m:r>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 </m:t>
                      </m:r>
                      <m:r>
                        <m:rPr>
                          <m:nor/>
                        </m:rPr>
                        <a:rPr lang="el-GR"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Δ</m:t>
                      </m:r>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T</m:t>
                      </m:r>
                    </m:oMath>
                  </m:oMathPara>
                </a14:m>
                <a:endParaRPr lang="en-US" sz="2800" b="1" i="1" dirty="0">
                  <a:solidFill>
                    <a:srgbClr val="0D5749"/>
                  </a:solidFill>
                  <a:effectLst/>
                  <a:latin typeface="Times New Roman" panose="02020603050405020304" pitchFamily="18" charset="0"/>
                  <a:ea typeface="Times New Roman" panose="02020603050405020304" pitchFamily="18" charset="0"/>
                  <a:cs typeface="Times New Roman" panose="02020603050405020304" pitchFamily="18" charset="0"/>
                </a:endParaRPr>
              </a:p>
              <a:p>
                <a14:m>
                  <m:oMath xmlns:m="http://schemas.openxmlformats.org/officeDocument/2006/math">
                    <m:r>
                      <m:rPr>
                        <m:nor/>
                      </m:rPr>
                      <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m</m:t>
                    </m:r>
                  </m:oMath>
                </a14:m>
                <a:r>
                  <a:rPr lang="en-US" dirty="0">
                    <a:latin typeface="Times New Roman" panose="02020603050405020304" pitchFamily="18" charset="0"/>
                    <a:ea typeface="Times New Roman" panose="02020603050405020304" pitchFamily="18" charset="0"/>
                    <a:cs typeface="Arial" panose="020B0604020202020204" pitchFamily="34" charset="0"/>
                  </a:rPr>
                  <a:t> is the mass of the liquid.</a:t>
                </a:r>
                <a:endParaRPr lang="en-US" b="1" i="1" dirty="0">
                  <a:solidFill>
                    <a:srgbClr val="0D5749"/>
                  </a:solidFill>
                  <a:latin typeface="Cambria Math" panose="02040503050406030204" pitchFamily="18" charset="0"/>
                  <a:ea typeface="Times New Roman" panose="02020603050405020304" pitchFamily="18" charset="0"/>
                  <a:cs typeface="Times New Roman" panose="02020603050405020304" pitchFamily="18" charset="0"/>
                </a:endParaRPr>
              </a:p>
              <a:p>
                <a14:m>
                  <m:oMath xmlns:m="http://schemas.openxmlformats.org/officeDocument/2006/math">
                    <m:r>
                      <a:rPr lang="en-US" b="1" i="1">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𝑪𝒑</m:t>
                    </m:r>
                  </m:oMath>
                </a14:m>
                <a:r>
                  <a:rPr lang="en-US" dirty="0">
                    <a:latin typeface="Times New Roman" panose="02020603050405020304" pitchFamily="18" charset="0"/>
                    <a:ea typeface="Times New Roman" panose="02020603050405020304" pitchFamily="18" charset="0"/>
                    <a:cs typeface="Arial" panose="020B0604020202020204" pitchFamily="34" charset="0"/>
                  </a:rPr>
                  <a:t> is the specific heat capacity.</a:t>
                </a:r>
              </a:p>
              <a:p>
                <a14:m>
                  <m:oMath xmlns:m="http://schemas.openxmlformats.org/officeDocument/2006/math">
                    <m:r>
                      <a:rPr lang="en-US" b="1" i="1">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𝜟</m:t>
                    </m:r>
                    <m:r>
                      <a:rPr lang="en-US" b="1" i="1">
                        <a:solidFill>
                          <a:srgbClr val="0D5749"/>
                        </a:solidFill>
                        <a:latin typeface="Cambria Math" panose="02040503050406030204" pitchFamily="18" charset="0"/>
                        <a:ea typeface="Times New Roman" panose="02020603050405020304" pitchFamily="18" charset="0"/>
                        <a:cs typeface="Times New Roman" panose="02020603050405020304" pitchFamily="18" charset="0"/>
                      </a:rPr>
                      <m:t>𝑻</m:t>
                    </m:r>
                  </m:oMath>
                </a14:m>
                <a:r>
                  <a:rPr lang="en-US" dirty="0">
                    <a:latin typeface="Times New Roman" panose="02020603050405020304" pitchFamily="18" charset="0"/>
                    <a:ea typeface="Times New Roman" panose="02020603050405020304" pitchFamily="18" charset="0"/>
                    <a:cs typeface="Arial" panose="020B0604020202020204" pitchFamily="34" charset="0"/>
                  </a:rPr>
                  <a:t> is the difference in the temperature between the output temperature and the input temperature.</a:t>
                </a:r>
              </a:p>
              <a:p>
                <a:pPr marL="0" indent="0">
                  <a:buNone/>
                </a:pPr>
                <a14:m>
                  <m:oMathPara xmlns:m="http://schemas.openxmlformats.org/officeDocument/2006/math">
                    <m:oMathParaPr>
                      <m:jc m:val="center"/>
                    </m:oMathParaPr>
                    <m:oMath xmlns:m="http://schemas.openxmlformats.org/officeDocument/2006/math">
                      <m:r>
                        <m:rPr>
                          <m:nor/>
                        </m:rPr>
                        <a:rPr lang="en-US" b="1" dirty="0" smtClean="0">
                          <a:solidFill>
                            <a:srgbClr val="0D5749"/>
                          </a:solidFill>
                          <a:latin typeface="Times New Roman" panose="02020603050405020304" pitchFamily="18" charset="0"/>
                          <a:ea typeface="Times New Roman" panose="02020603050405020304" pitchFamily="18" charset="0"/>
                          <a:cs typeface="Times New Roman" panose="02020603050405020304" pitchFamily="18" charset="0"/>
                        </a:rPr>
                        <m:t>=</m:t>
                      </m:r>
                      <m:r>
                        <m:rPr>
                          <m:nor/>
                        </m:rPr>
                        <a:rPr lang="en-US" b="0" i="0" dirty="0" smtClean="0">
                          <a:solidFill>
                            <a:srgbClr val="0D5749"/>
                          </a:solidFill>
                          <a:latin typeface="Times New Roman" panose="02020603050405020304" pitchFamily="18" charset="0"/>
                          <a:ea typeface="Times New Roman" panose="02020603050405020304" pitchFamily="18" charset="0"/>
                          <a:cs typeface="Times New Roman" panose="02020603050405020304" pitchFamily="18" charset="0"/>
                        </a:rPr>
                        <m:t> </m:t>
                      </m:r>
                      <m:r>
                        <m:rPr>
                          <m:nor/>
                        </m:rPr>
                        <a:rPr lang="en-US" b="1" smtClean="0">
                          <a:solidFill>
                            <a:srgbClr val="0D5749"/>
                          </a:solidFill>
                          <a:latin typeface="Times New Roman" panose="02020603050405020304" pitchFamily="18" charset="0"/>
                          <a:cs typeface="Times New Roman" panose="02020603050405020304" pitchFamily="18" charset="0"/>
                        </a:rPr>
                        <m:t>28980 </m:t>
                      </m:r>
                      <m:r>
                        <m:rPr>
                          <m:nor/>
                        </m:rPr>
                        <a:rPr lang="en-US" b="1" smtClean="0">
                          <a:solidFill>
                            <a:srgbClr val="0D5749"/>
                          </a:solidFill>
                          <a:latin typeface="Times New Roman" panose="02020603050405020304" pitchFamily="18" charset="0"/>
                          <a:cs typeface="Times New Roman" panose="02020603050405020304" pitchFamily="18" charset="0"/>
                        </a:rPr>
                        <m:t>joules</m:t>
                      </m:r>
                    </m:oMath>
                  </m:oMathPara>
                </a14:m>
                <a:endParaRPr lang="en-US" b="1"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594AF46C-CE1A-4920-AAE1-8DF05F52D8DF}"/>
                  </a:ext>
                </a:extLst>
              </p:cNvPr>
              <p:cNvSpPr>
                <a:spLocks noGrp="1" noRot="1" noChangeAspect="1" noMove="1" noResize="1" noEditPoints="1" noAdjustHandles="1" noChangeArrowheads="1" noChangeShapeType="1" noTextEdit="1"/>
              </p:cNvSpPr>
              <p:nvPr>
                <p:ph idx="1"/>
              </p:nvPr>
            </p:nvSpPr>
            <p:spPr>
              <a:blipFill>
                <a:blip r:embed="rId2"/>
                <a:stretch>
                  <a:fillRect l="-1217" t="-2381" r="-1797"/>
                </a:stretch>
              </a:blipFill>
            </p:spPr>
            <p:txBody>
              <a:bodyPr/>
              <a:lstStyle/>
              <a:p>
                <a:r>
                  <a:rPr lang="en-US">
                    <a:noFill/>
                  </a:rPr>
                  <a:t> </a:t>
                </a:r>
              </a:p>
            </p:txBody>
          </p:sp>
        </mc:Fallback>
      </mc:AlternateContent>
    </p:spTree>
    <p:extLst>
      <p:ext uri="{BB962C8B-B14F-4D97-AF65-F5344CB8AC3E}">
        <p14:creationId xmlns:p14="http://schemas.microsoft.com/office/powerpoint/2010/main" val="10406015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B62E4-9029-42D4-91EB-D56A5FB2E141}"/>
              </a:ext>
            </a:extLst>
          </p:cNvPr>
          <p:cNvSpPr>
            <a:spLocks noGrp="1"/>
          </p:cNvSpPr>
          <p:nvPr>
            <p:ph type="title"/>
          </p:nvPr>
        </p:nvSpPr>
        <p:spPr/>
        <p:txBody>
          <a:bodyPr/>
          <a:lstStyle/>
          <a:p>
            <a:pPr algn="ctr"/>
            <a:r>
              <a:rPr lang="en-US" dirty="0">
                <a:latin typeface="Times New Roman" panose="02020603050405020304" pitchFamily="18" charset="0"/>
                <a:cs typeface="Times New Roman" panose="02020603050405020304" pitchFamily="18" charset="0"/>
              </a:rPr>
              <a:t>Calculations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594AF46C-CE1A-4920-AAE1-8DF05F52D8DF}"/>
                  </a:ext>
                </a:extLst>
              </p:cNvPr>
              <p:cNvSpPr>
                <a:spLocks noGrp="1"/>
              </p:cNvSpPr>
              <p:nvPr>
                <p:ph idx="1"/>
              </p:nvPr>
            </p:nvSpPr>
            <p:spPr>
              <a:xfrm>
                <a:off x="838200" y="1825625"/>
                <a:ext cx="10515600" cy="2023704"/>
              </a:xfrm>
            </p:spPr>
            <p:txBody>
              <a:bodyPr/>
              <a:lstStyle/>
              <a:p>
                <a:r>
                  <a:rPr lang="en-US" dirty="0"/>
                  <a:t>Location of the focus by using the law:</a:t>
                </a:r>
              </a:p>
              <a:p>
                <a:pPr marL="0" indent="0" algn="ctr">
                  <a:buNone/>
                </a:pPr>
                <a:r>
                  <a:rPr lang="en-US" dirty="0"/>
                  <a:t> </a:t>
                </a:r>
                <a14:m>
                  <m:oMath xmlns:m="http://schemas.openxmlformats.org/officeDocument/2006/math">
                    <m:sSup>
                      <m:sSupPr>
                        <m:ctrlPr>
                          <a:rPr lang="en-US" b="1" i="1" smtClean="0">
                            <a:solidFill>
                              <a:srgbClr val="0D5749"/>
                            </a:solidFill>
                          </a:rPr>
                        </m:ctrlPr>
                      </m:sSupPr>
                      <m:e>
                        <m:r>
                          <a:rPr lang="en-US" b="1" i="1">
                            <a:solidFill>
                              <a:srgbClr val="0D5749"/>
                            </a:solidFill>
                          </a:rPr>
                          <m:t>𝒙</m:t>
                        </m:r>
                      </m:e>
                      <m:sup>
                        <m:r>
                          <a:rPr lang="en-US" b="1" i="1">
                            <a:solidFill>
                              <a:srgbClr val="0D5749"/>
                            </a:solidFill>
                          </a:rPr>
                          <m:t>𝟐</m:t>
                        </m:r>
                      </m:sup>
                    </m:sSup>
                    <m:r>
                      <a:rPr lang="en-US" b="1" i="1">
                        <a:solidFill>
                          <a:srgbClr val="0D5749"/>
                        </a:solidFill>
                      </a:rPr>
                      <m:t>=</m:t>
                    </m:r>
                    <m:r>
                      <a:rPr lang="en-US" b="1" i="1">
                        <a:solidFill>
                          <a:srgbClr val="0D5749"/>
                        </a:solidFill>
                      </a:rPr>
                      <m:t>𝟒</m:t>
                    </m:r>
                    <m:r>
                      <a:rPr lang="en-US" b="1" i="1">
                        <a:solidFill>
                          <a:srgbClr val="0D5749"/>
                        </a:solidFill>
                      </a:rPr>
                      <m:t>𝒑𝒚</m:t>
                    </m:r>
                  </m:oMath>
                </a14:m>
                <a:r>
                  <a:rPr lang="en-US" b="1" dirty="0">
                    <a:solidFill>
                      <a:srgbClr val="0D5749"/>
                    </a:solidFill>
                  </a:rPr>
                  <a:t> </a:t>
                </a:r>
                <a:endParaRPr lang="en-US" b="1" dirty="0"/>
              </a:p>
              <a:p>
                <a:pPr marL="0" indent="0">
                  <a:buNone/>
                </a:pPr>
                <a:r>
                  <a:rPr lang="en-US" dirty="0"/>
                  <a:t>x-axis is 0.40 meters and the y-axis is 0.145 meters, so that the focal length will be 0.065 meters</a:t>
                </a:r>
                <a:endParaRPr lang="en-US" b="1"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mc:Choice>
        <mc:Fallback>
          <p:sp>
            <p:nvSpPr>
              <p:cNvPr id="3" name="Content Placeholder 2">
                <a:extLst>
                  <a:ext uri="{FF2B5EF4-FFF2-40B4-BE49-F238E27FC236}">
                    <a16:creationId xmlns:a16="http://schemas.microsoft.com/office/drawing/2014/main" id="{594AF46C-CE1A-4920-AAE1-8DF05F52D8DF}"/>
                  </a:ext>
                </a:extLst>
              </p:cNvPr>
              <p:cNvSpPr>
                <a:spLocks noGrp="1" noRot="1" noChangeAspect="1" noMove="1" noResize="1" noEditPoints="1" noAdjustHandles="1" noChangeArrowheads="1" noChangeShapeType="1" noTextEdit="1"/>
              </p:cNvSpPr>
              <p:nvPr>
                <p:ph idx="1"/>
              </p:nvPr>
            </p:nvSpPr>
            <p:spPr>
              <a:xfrm>
                <a:off x="838200" y="1825625"/>
                <a:ext cx="10515600" cy="2023704"/>
              </a:xfrm>
              <a:blipFill>
                <a:blip r:embed="rId2"/>
                <a:stretch>
                  <a:fillRect l="-1217" t="-4819" b="-2108"/>
                </a:stretch>
              </a:blipFill>
            </p:spPr>
            <p:txBody>
              <a:bodyPr/>
              <a:lstStyle/>
              <a:p>
                <a:r>
                  <a:rPr lang="en-US">
                    <a:noFill/>
                  </a:rPr>
                  <a:t> </a:t>
                </a:r>
              </a:p>
            </p:txBody>
          </p:sp>
        </mc:Fallback>
      </mc:AlternateContent>
      <p:pic>
        <p:nvPicPr>
          <p:cNvPr id="4" name="Content Placeholder 9">
            <a:extLst>
              <a:ext uri="{FF2B5EF4-FFF2-40B4-BE49-F238E27FC236}">
                <a16:creationId xmlns:a16="http://schemas.microsoft.com/office/drawing/2014/main" id="{C29E83CC-7495-4D21-8D79-121B0C30B39E}"/>
              </a:ext>
            </a:extLst>
          </p:cNvPr>
          <p:cNvPicPr>
            <a:picLocks noChangeAspect="1"/>
          </p:cNvPicPr>
          <p:nvPr/>
        </p:nvPicPr>
        <p:blipFill>
          <a:blip r:embed="rId3"/>
          <a:stretch>
            <a:fillRect/>
          </a:stretch>
        </p:blipFill>
        <p:spPr>
          <a:xfrm>
            <a:off x="3619490" y="4001294"/>
            <a:ext cx="5719935" cy="2629955"/>
          </a:xfrm>
          <a:prstGeom prst="rect">
            <a:avLst/>
          </a:prstGeom>
        </p:spPr>
      </p:pic>
    </p:spTree>
    <p:extLst>
      <p:ext uri="{BB962C8B-B14F-4D97-AF65-F5344CB8AC3E}">
        <p14:creationId xmlns:p14="http://schemas.microsoft.com/office/powerpoint/2010/main" val="10050063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292CA-FF87-45E8-AA04-555AE1687F3D}"/>
              </a:ext>
            </a:extLst>
          </p:cNvPr>
          <p:cNvSpPr>
            <a:spLocks noGrp="1"/>
          </p:cNvSpPr>
          <p:nvPr>
            <p:ph type="title"/>
          </p:nvPr>
        </p:nvSpPr>
        <p:spPr/>
        <p:txBody>
          <a:bodyPr/>
          <a:lstStyle/>
          <a:p>
            <a:pPr algn="ctr"/>
            <a:r>
              <a:rPr lang="en-US" dirty="0"/>
              <a:t>Literature Cited</a:t>
            </a:r>
          </a:p>
        </p:txBody>
      </p:sp>
      <p:sp>
        <p:nvSpPr>
          <p:cNvPr id="3" name="Content Placeholder 2">
            <a:extLst>
              <a:ext uri="{FF2B5EF4-FFF2-40B4-BE49-F238E27FC236}">
                <a16:creationId xmlns:a16="http://schemas.microsoft.com/office/drawing/2014/main" id="{A09A526A-63D8-4F68-9BC0-F5C1A1C73F94}"/>
              </a:ext>
            </a:extLst>
          </p:cNvPr>
          <p:cNvSpPr>
            <a:spLocks noGrp="1"/>
          </p:cNvSpPr>
          <p:nvPr>
            <p:ph idx="1"/>
          </p:nvPr>
        </p:nvSpPr>
        <p:spPr/>
        <p:txBody>
          <a:bodyPr>
            <a:normAutofit lnSpcReduction="10000"/>
          </a:bodyPr>
          <a:lstStyle/>
          <a:p>
            <a:r>
              <a:rPr lang="en-US" sz="1800" b="0" i="0" dirty="0">
                <a:solidFill>
                  <a:srgbClr val="000000"/>
                </a:solidFill>
                <a:effectLst/>
                <a:latin typeface="TimesNewRomanPSMT"/>
              </a:rPr>
              <a:t>Concentration with a parabolic reflector. 2.4 Concentration with a Parabolic Reflector |</a:t>
            </a:r>
            <a:br>
              <a:rPr lang="en-US" sz="1800" b="0" i="0" dirty="0">
                <a:solidFill>
                  <a:srgbClr val="000000"/>
                </a:solidFill>
                <a:effectLst/>
                <a:latin typeface="TimesNewRomanPSMT"/>
              </a:rPr>
            </a:br>
            <a:r>
              <a:rPr lang="en-US" sz="1800" b="0" i="0" dirty="0">
                <a:solidFill>
                  <a:srgbClr val="000000"/>
                </a:solidFill>
                <a:effectLst/>
                <a:latin typeface="TimesNewRomanPSMT"/>
              </a:rPr>
              <a:t>EME 812: Utility Solar Power and Concentration. (n.d.). Retrieved November 29, 2021.</a:t>
            </a:r>
            <a:br>
              <a:rPr lang="en-US" sz="1800" b="0" i="0" dirty="0">
                <a:solidFill>
                  <a:srgbClr val="000000"/>
                </a:solidFill>
                <a:effectLst/>
                <a:latin typeface="TimesNewRomanPSMT"/>
              </a:rPr>
            </a:br>
            <a:r>
              <a:rPr lang="en-US" sz="1800" b="0" i="0" dirty="0">
                <a:solidFill>
                  <a:srgbClr val="0563C1"/>
                </a:solidFill>
                <a:effectLst/>
                <a:latin typeface="TimesNewRomanPSMT"/>
              </a:rPr>
              <a:t>https://www.e-education.psu.edu/eme812/node/557</a:t>
            </a:r>
            <a:br>
              <a:rPr lang="en-US" sz="1800" b="0" i="0" dirty="0">
                <a:solidFill>
                  <a:srgbClr val="0563C1"/>
                </a:solidFill>
                <a:effectLst/>
                <a:latin typeface="TimesNewRomanPSMT"/>
              </a:rPr>
            </a:br>
            <a:r>
              <a:rPr lang="en-US" sz="1800" b="0" i="0" dirty="0">
                <a:solidFill>
                  <a:srgbClr val="0D5749"/>
                </a:solidFill>
                <a:effectLst/>
                <a:latin typeface="ArialMT"/>
              </a:rPr>
              <a:t>• </a:t>
            </a:r>
            <a:r>
              <a:rPr lang="en-US" sz="1800" b="0" i="0" dirty="0">
                <a:solidFill>
                  <a:srgbClr val="000000"/>
                </a:solidFill>
                <a:effectLst/>
                <a:latin typeface="TimesNewRomanPSMT"/>
              </a:rPr>
              <a:t>Gama, A., </a:t>
            </a:r>
            <a:r>
              <a:rPr lang="en-US" sz="1800" b="0" i="0" dirty="0" err="1">
                <a:solidFill>
                  <a:srgbClr val="000000"/>
                </a:solidFill>
                <a:effectLst/>
                <a:latin typeface="TimesNewRomanPSMT"/>
              </a:rPr>
              <a:t>Larbes</a:t>
            </a:r>
            <a:r>
              <a:rPr lang="en-US" sz="1800" b="0" i="0" dirty="0">
                <a:solidFill>
                  <a:srgbClr val="000000"/>
                </a:solidFill>
                <a:effectLst/>
                <a:latin typeface="TimesNewRomanPSMT"/>
              </a:rPr>
              <a:t>, C., Malek, A., </a:t>
            </a:r>
            <a:r>
              <a:rPr lang="en-US" sz="1800" b="0" i="0" dirty="0" err="1">
                <a:solidFill>
                  <a:srgbClr val="000000"/>
                </a:solidFill>
                <a:effectLst/>
                <a:latin typeface="TimesNewRomanPSMT"/>
              </a:rPr>
              <a:t>Yettou</a:t>
            </a:r>
            <a:r>
              <a:rPr lang="en-US" sz="1800" b="0" i="0" dirty="0">
                <a:solidFill>
                  <a:srgbClr val="000000"/>
                </a:solidFill>
                <a:effectLst/>
                <a:latin typeface="TimesNewRomanPSMT"/>
              </a:rPr>
              <a:t>, F., &amp; </a:t>
            </a:r>
            <a:r>
              <a:rPr lang="en-US" sz="1800" b="0" i="0" dirty="0" err="1">
                <a:solidFill>
                  <a:srgbClr val="000000"/>
                </a:solidFill>
                <a:effectLst/>
                <a:latin typeface="TimesNewRomanPSMT"/>
              </a:rPr>
              <a:t>Adouane</a:t>
            </a:r>
            <a:r>
              <a:rPr lang="en-US" sz="1800" b="0" i="0" dirty="0">
                <a:solidFill>
                  <a:srgbClr val="000000"/>
                </a:solidFill>
                <a:effectLst/>
                <a:latin typeface="TimesNewRomanPSMT"/>
              </a:rPr>
              <a:t>, B. (2013). Design and</a:t>
            </a:r>
            <a:br>
              <a:rPr lang="en-US" sz="1800" b="0" i="0" dirty="0">
                <a:solidFill>
                  <a:srgbClr val="000000"/>
                </a:solidFill>
                <a:effectLst/>
                <a:latin typeface="TimesNewRomanPSMT"/>
              </a:rPr>
            </a:br>
            <a:r>
              <a:rPr lang="en-US" sz="1800" b="0" i="0" dirty="0">
                <a:solidFill>
                  <a:srgbClr val="000000"/>
                </a:solidFill>
                <a:effectLst/>
                <a:latin typeface="TimesNewRomanPSMT"/>
              </a:rPr>
              <a:t>realization of a novel sun tracking system with absorber displacement for parabolic</a:t>
            </a:r>
            <a:br>
              <a:rPr lang="en-US" sz="1800" b="0" i="0" dirty="0">
                <a:solidFill>
                  <a:srgbClr val="000000"/>
                </a:solidFill>
                <a:effectLst/>
                <a:latin typeface="TimesNewRomanPSMT"/>
              </a:rPr>
            </a:br>
            <a:r>
              <a:rPr lang="en-US" sz="1800" b="0" i="0" dirty="0">
                <a:solidFill>
                  <a:srgbClr val="000000"/>
                </a:solidFill>
                <a:effectLst/>
                <a:latin typeface="TimesNewRomanPSMT"/>
              </a:rPr>
              <a:t>trough collectors. </a:t>
            </a:r>
            <a:r>
              <a:rPr lang="en-US" sz="1800" b="0" i="1" dirty="0">
                <a:solidFill>
                  <a:srgbClr val="000000"/>
                </a:solidFill>
                <a:effectLst/>
                <a:latin typeface="TimesNewRomanPS-ItalicMT"/>
              </a:rPr>
              <a:t>Journal of Renewable and sustainable energy</a:t>
            </a:r>
            <a:r>
              <a:rPr lang="en-US" sz="1800" b="0" i="0" dirty="0">
                <a:solidFill>
                  <a:srgbClr val="000000"/>
                </a:solidFill>
                <a:effectLst/>
                <a:latin typeface="TimesNewRomanPSMT"/>
              </a:rPr>
              <a:t>, </a:t>
            </a:r>
            <a:r>
              <a:rPr lang="en-US" sz="1800" b="0" i="1" dirty="0">
                <a:solidFill>
                  <a:srgbClr val="000000"/>
                </a:solidFill>
                <a:effectLst/>
                <a:latin typeface="TimesNewRomanPS-ItalicMT"/>
              </a:rPr>
              <a:t>5</a:t>
            </a:r>
            <a:r>
              <a:rPr lang="en-US" sz="1800" b="0" i="0" dirty="0">
                <a:solidFill>
                  <a:srgbClr val="000000"/>
                </a:solidFill>
                <a:effectLst/>
                <a:latin typeface="TimesNewRomanPSMT"/>
              </a:rPr>
              <a:t>(3), 033108.</a:t>
            </a:r>
            <a:br>
              <a:rPr lang="en-US" sz="1800" b="0" i="0" dirty="0">
                <a:solidFill>
                  <a:srgbClr val="000000"/>
                </a:solidFill>
                <a:effectLst/>
                <a:latin typeface="TimesNewRomanPSMT"/>
              </a:rPr>
            </a:br>
            <a:r>
              <a:rPr lang="en-US" sz="1800" b="0" i="0" dirty="0">
                <a:solidFill>
                  <a:srgbClr val="0563C1"/>
                </a:solidFill>
                <a:effectLst/>
                <a:latin typeface="TimesNewRomanPSMT"/>
              </a:rPr>
              <a:t>https://doi.org/10.1063/1.4807476</a:t>
            </a:r>
            <a:br>
              <a:rPr lang="en-US" sz="1800" b="0" i="0" dirty="0">
                <a:solidFill>
                  <a:srgbClr val="0563C1"/>
                </a:solidFill>
                <a:effectLst/>
                <a:latin typeface="TimesNewRomanPSMT"/>
              </a:rPr>
            </a:br>
            <a:r>
              <a:rPr lang="en-US" sz="1800" b="0" i="0" dirty="0">
                <a:solidFill>
                  <a:srgbClr val="0D5749"/>
                </a:solidFill>
                <a:effectLst/>
                <a:latin typeface="ArialMT"/>
              </a:rPr>
              <a:t>• </a:t>
            </a:r>
            <a:r>
              <a:rPr lang="en-US" sz="1800" b="0" i="0" dirty="0">
                <a:solidFill>
                  <a:srgbClr val="000000"/>
                </a:solidFill>
                <a:effectLst/>
                <a:latin typeface="TimesNewRomanPSMT"/>
              </a:rPr>
              <a:t>GREENPOWERSCIENCE, (2010, October 22). DIY Parabolic Trough Mirror made in</a:t>
            </a:r>
            <a:br>
              <a:rPr lang="en-US" sz="1800" b="0" i="0" dirty="0">
                <a:solidFill>
                  <a:srgbClr val="000000"/>
                </a:solidFill>
                <a:effectLst/>
                <a:latin typeface="TimesNewRomanPSMT"/>
              </a:rPr>
            </a:br>
            <a:r>
              <a:rPr lang="en-US" sz="1800" b="0" i="0" dirty="0">
                <a:solidFill>
                  <a:srgbClr val="000000"/>
                </a:solidFill>
                <a:effectLst/>
                <a:latin typeface="TimesNewRomanPSMT"/>
              </a:rPr>
              <a:t>20 minutes Stainless Steel Mirror free energy from the sun. [Video File].</a:t>
            </a:r>
            <a:br>
              <a:rPr lang="en-US" sz="1800" b="0" i="0" dirty="0">
                <a:solidFill>
                  <a:srgbClr val="000000"/>
                </a:solidFill>
                <a:effectLst/>
                <a:latin typeface="TimesNewRomanPSMT"/>
              </a:rPr>
            </a:br>
            <a:r>
              <a:rPr lang="en-US" sz="1800" b="0" i="0" dirty="0">
                <a:solidFill>
                  <a:srgbClr val="0563C1"/>
                </a:solidFill>
                <a:effectLst/>
                <a:latin typeface="TimesNewRomanPSMT"/>
              </a:rPr>
              <a:t>https://www.youtube.com/watch?v=St-0HWKAY4k</a:t>
            </a:r>
            <a:br>
              <a:rPr lang="en-US" sz="1800" b="0" i="0" dirty="0">
                <a:solidFill>
                  <a:srgbClr val="0563C1"/>
                </a:solidFill>
                <a:effectLst/>
                <a:latin typeface="TimesNewRomanPSMT"/>
              </a:rPr>
            </a:br>
            <a:r>
              <a:rPr lang="en-US" sz="1800" b="0" i="0" dirty="0">
                <a:solidFill>
                  <a:srgbClr val="0D5749"/>
                </a:solidFill>
                <a:effectLst/>
                <a:latin typeface="ArialMT"/>
              </a:rPr>
              <a:t>• </a:t>
            </a:r>
            <a:r>
              <a:rPr lang="en-US" sz="1800" b="0" i="0" dirty="0">
                <a:solidFill>
                  <a:srgbClr val="000000"/>
                </a:solidFill>
                <a:effectLst/>
                <a:latin typeface="TimesNewRomanPSMT"/>
              </a:rPr>
              <a:t>Halliday, D., Resnick, R., &amp; Walker, J. (2013). </a:t>
            </a:r>
            <a:r>
              <a:rPr lang="en-US" sz="1800" b="0" i="1" dirty="0">
                <a:solidFill>
                  <a:srgbClr val="000000"/>
                </a:solidFill>
                <a:effectLst/>
                <a:latin typeface="TimesNewRomanPS-ItalicMT"/>
              </a:rPr>
              <a:t>Fundamentals of physics</a:t>
            </a:r>
            <a:r>
              <a:rPr lang="en-US" sz="1800" b="0" i="0" dirty="0">
                <a:solidFill>
                  <a:srgbClr val="000000"/>
                </a:solidFill>
                <a:effectLst/>
                <a:latin typeface="TimesNewRomanPSMT"/>
              </a:rPr>
              <a:t>. John Wiley &amp;</a:t>
            </a:r>
            <a:br>
              <a:rPr lang="en-US" sz="1800" b="0" i="0" dirty="0">
                <a:solidFill>
                  <a:srgbClr val="000000"/>
                </a:solidFill>
                <a:effectLst/>
                <a:latin typeface="TimesNewRomanPSMT"/>
              </a:rPr>
            </a:br>
            <a:r>
              <a:rPr lang="en-US" sz="1800" b="0" i="0" dirty="0">
                <a:solidFill>
                  <a:srgbClr val="000000"/>
                </a:solidFill>
                <a:effectLst/>
                <a:latin typeface="TimesNewRomanPSMT"/>
              </a:rPr>
              <a:t>Sons.</a:t>
            </a:r>
            <a:br>
              <a:rPr lang="en-US" sz="1800" b="0" i="0" dirty="0">
                <a:solidFill>
                  <a:srgbClr val="000000"/>
                </a:solidFill>
                <a:effectLst/>
                <a:latin typeface="TimesNewRomanPSMT"/>
              </a:rPr>
            </a:br>
            <a:r>
              <a:rPr lang="en-US" sz="1800" b="0" i="0" dirty="0">
                <a:solidFill>
                  <a:srgbClr val="0D5749"/>
                </a:solidFill>
                <a:effectLst/>
                <a:latin typeface="ArialMT"/>
              </a:rPr>
              <a:t>• </a:t>
            </a:r>
            <a:r>
              <a:rPr lang="en-US" sz="1800" b="0" i="0" dirty="0">
                <a:solidFill>
                  <a:srgbClr val="000000"/>
                </a:solidFill>
                <a:effectLst/>
                <a:latin typeface="TimesNewRomanPSMT"/>
              </a:rPr>
              <a:t>Hamidi, S. T., Fattah, F. A., &amp; </a:t>
            </a:r>
            <a:r>
              <a:rPr lang="en-US" sz="1800" b="0" i="0" dirty="0" err="1">
                <a:solidFill>
                  <a:srgbClr val="000000"/>
                </a:solidFill>
                <a:effectLst/>
                <a:latin typeface="TimesNewRomanPSMT"/>
              </a:rPr>
              <a:t>Ghanam</a:t>
            </a:r>
            <a:r>
              <a:rPr lang="en-US" sz="1800" b="0" i="0" dirty="0">
                <a:solidFill>
                  <a:srgbClr val="000000"/>
                </a:solidFill>
                <a:effectLst/>
                <a:latin typeface="TimesNewRomanPSMT"/>
              </a:rPr>
              <a:t>, M. S. (2018). Performance Improvement of the</a:t>
            </a:r>
            <a:br>
              <a:rPr lang="en-US" sz="1800" b="0" i="0" dirty="0">
                <a:solidFill>
                  <a:srgbClr val="000000"/>
                </a:solidFill>
                <a:effectLst/>
                <a:latin typeface="TimesNewRomanPSMT"/>
              </a:rPr>
            </a:br>
            <a:r>
              <a:rPr lang="en-US" sz="1800" b="0" i="0" dirty="0">
                <a:solidFill>
                  <a:srgbClr val="000000"/>
                </a:solidFill>
                <a:effectLst/>
                <a:latin typeface="TimesNewRomanPSMT"/>
              </a:rPr>
              <a:t>Parabolic Trough Solar Collector Using Different Types of Fluids with Numerical</a:t>
            </a:r>
            <a:br>
              <a:rPr lang="en-US" sz="1800" b="0" i="0" dirty="0">
                <a:solidFill>
                  <a:srgbClr val="000000"/>
                </a:solidFill>
                <a:effectLst/>
                <a:latin typeface="TimesNewRomanPSMT"/>
              </a:rPr>
            </a:br>
            <a:r>
              <a:rPr lang="en-US" sz="1800" b="0" i="0" dirty="0">
                <a:solidFill>
                  <a:srgbClr val="000000"/>
                </a:solidFill>
                <a:effectLst/>
                <a:latin typeface="TimesNewRomanPSMT"/>
              </a:rPr>
              <a:t>Simulation. </a:t>
            </a:r>
            <a:r>
              <a:rPr lang="en-US" sz="1800" b="0" i="1" dirty="0">
                <a:solidFill>
                  <a:srgbClr val="000000"/>
                </a:solidFill>
                <a:effectLst/>
                <a:latin typeface="TimesNewRomanPS-ItalicMT"/>
              </a:rPr>
              <a:t>Journal of University of Babylon for Engineering Sciences</a:t>
            </a:r>
            <a:r>
              <a:rPr lang="en-US" sz="1800" b="0" i="0" dirty="0">
                <a:solidFill>
                  <a:srgbClr val="000000"/>
                </a:solidFill>
                <a:effectLst/>
                <a:latin typeface="TimesNewRomanPSMT"/>
              </a:rPr>
              <a:t>, </a:t>
            </a:r>
            <a:r>
              <a:rPr lang="en-US" sz="1800" b="0" i="1" dirty="0">
                <a:solidFill>
                  <a:srgbClr val="000000"/>
                </a:solidFill>
                <a:effectLst/>
                <a:latin typeface="TimesNewRomanPS-ItalicMT"/>
              </a:rPr>
              <a:t>26</a:t>
            </a:r>
            <a:r>
              <a:rPr lang="en-US" sz="1800" b="0" i="0" dirty="0">
                <a:solidFill>
                  <a:srgbClr val="000000"/>
                </a:solidFill>
                <a:effectLst/>
                <a:latin typeface="TimesNewRomanPSMT"/>
              </a:rPr>
              <a:t>(6), 332-347.</a:t>
            </a:r>
            <a:br>
              <a:rPr lang="en-US" sz="1800" b="0" i="0" dirty="0">
                <a:solidFill>
                  <a:srgbClr val="000000"/>
                </a:solidFill>
                <a:effectLst/>
                <a:latin typeface="TimesNewRomanPSMT"/>
              </a:rPr>
            </a:br>
            <a:r>
              <a:rPr lang="en-US" sz="1800" b="0" i="0" dirty="0">
                <a:solidFill>
                  <a:srgbClr val="0563C1"/>
                </a:solidFill>
                <a:effectLst/>
                <a:latin typeface="TimesNewRomanPSMT"/>
              </a:rPr>
              <a:t>https://doi.org/10.29196/jubes.v26i6.1437</a:t>
            </a:r>
            <a:r>
              <a:rPr lang="en-US" dirty="0"/>
              <a:t> </a:t>
            </a:r>
            <a:br>
              <a:rPr lang="en-US" dirty="0"/>
            </a:br>
            <a:endParaRPr lang="en-US" dirty="0"/>
          </a:p>
        </p:txBody>
      </p:sp>
    </p:spTree>
    <p:extLst>
      <p:ext uri="{BB962C8B-B14F-4D97-AF65-F5344CB8AC3E}">
        <p14:creationId xmlns:p14="http://schemas.microsoft.com/office/powerpoint/2010/main" val="1463972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A6897-8A3E-4FF1-89E2-A5F3FFA640C3}"/>
              </a:ext>
            </a:extLst>
          </p:cNvPr>
          <p:cNvSpPr>
            <a:spLocks noGrp="1"/>
          </p:cNvSpPr>
          <p:nvPr>
            <p:ph type="title"/>
          </p:nvPr>
        </p:nvSpPr>
        <p:spPr/>
        <p:txBody>
          <a:bodyPr/>
          <a:lstStyle/>
          <a:p>
            <a:pPr algn="ctr"/>
            <a:r>
              <a:rPr lang="en-US" dirty="0"/>
              <a:t>Conclusion</a:t>
            </a:r>
          </a:p>
        </p:txBody>
      </p:sp>
      <p:sp>
        <p:nvSpPr>
          <p:cNvPr id="3" name="Content Placeholder 2">
            <a:extLst>
              <a:ext uri="{FF2B5EF4-FFF2-40B4-BE49-F238E27FC236}">
                <a16:creationId xmlns:a16="http://schemas.microsoft.com/office/drawing/2014/main" id="{7FFFFD4E-2516-42DC-BFC7-EDB75A3202C2}"/>
              </a:ext>
            </a:extLst>
          </p:cNvPr>
          <p:cNvSpPr>
            <a:spLocks noGrp="1"/>
          </p:cNvSpPr>
          <p:nvPr>
            <p:ph idx="1"/>
          </p:nvPr>
        </p:nvSpPr>
        <p:spPr>
          <a:xfrm>
            <a:off x="1066800" y="2283486"/>
            <a:ext cx="10058400" cy="3931920"/>
          </a:xfrm>
        </p:spPr>
        <p:txBody>
          <a:bodyPr>
            <a:normAutofit fontScale="85000" lnSpcReduction="10000"/>
          </a:bodyPr>
          <a:lstStyle/>
          <a:p>
            <a:r>
              <a:rPr lang="en-US" dirty="0">
                <a:latin typeface="Times New Roman" panose="02020603050405020304" pitchFamily="18" charset="0"/>
                <a:cs typeface="Times New Roman" panose="02020603050405020304" pitchFamily="18" charset="0"/>
              </a:rPr>
              <a:t>After we got our results, we concluded that we were able to increase the temperature of the water by collecting the heat energy from the sun by 10°c in only seven minutes with efficiency 52%. Also, we were able to reach the continuity for our project as we were able to build a tracing system on moving with the sun without the need for any light sensor, which was used in the previous solar panel projects. The light sensor can be less efficient because it can be distracted by any other light source. However, in our tracing system, it was different because it depends on adding data to an Arduino system that is needed to move the stepper motor with the angle that is needed to keep tracking the sun. Also, we used a pump. We connected it with the Arduino to move the water in the system when needed. Finally, the heat energy collected in a fluid could be used in many different ways as generating electricity or in any industry that needs heat in its processes as a source of heat.</a:t>
            </a:r>
          </a:p>
        </p:txBody>
      </p:sp>
    </p:spTree>
    <p:extLst>
      <p:ext uri="{BB962C8B-B14F-4D97-AF65-F5344CB8AC3E}">
        <p14:creationId xmlns:p14="http://schemas.microsoft.com/office/powerpoint/2010/main" val="6484111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BA16E-1C5A-4E22-A134-CD88262E334E}"/>
              </a:ext>
            </a:extLst>
          </p:cNvPr>
          <p:cNvSpPr>
            <a:spLocks noGrp="1"/>
          </p:cNvSpPr>
          <p:nvPr>
            <p:ph type="title"/>
          </p:nvPr>
        </p:nvSpPr>
        <p:spPr>
          <a:xfrm>
            <a:off x="1066800" y="281836"/>
            <a:ext cx="10058400" cy="1371600"/>
          </a:xfrm>
        </p:spPr>
        <p:txBody>
          <a:bodyPr/>
          <a:lstStyle/>
          <a:p>
            <a:pPr algn="ctr"/>
            <a:r>
              <a:rPr lang="en-US" dirty="0"/>
              <a:t>Recommendation </a:t>
            </a:r>
          </a:p>
        </p:txBody>
      </p:sp>
      <p:sp>
        <p:nvSpPr>
          <p:cNvPr id="3" name="Content Placeholder 2">
            <a:extLst>
              <a:ext uri="{FF2B5EF4-FFF2-40B4-BE49-F238E27FC236}">
                <a16:creationId xmlns:a16="http://schemas.microsoft.com/office/drawing/2014/main" id="{025C1026-7DDE-4F0D-A1D1-18CB4BFF8006}"/>
              </a:ext>
            </a:extLst>
          </p:cNvPr>
          <p:cNvSpPr>
            <a:spLocks noGrp="1"/>
          </p:cNvSpPr>
          <p:nvPr>
            <p:ph idx="1"/>
          </p:nvPr>
        </p:nvSpPr>
        <p:spPr>
          <a:xfrm>
            <a:off x="1066800" y="1365336"/>
            <a:ext cx="10181573" cy="5210828"/>
          </a:xfrm>
        </p:spPr>
        <p:txBody>
          <a:bodyPr>
            <a:normAutofit fontScale="62500" lnSpcReduction="20000"/>
          </a:bodyPr>
          <a:lstStyle/>
          <a:p>
            <a:pPr marL="0" indent="0">
              <a:buNone/>
            </a:pPr>
            <a:r>
              <a:rPr lang="en-US" dirty="0">
                <a:latin typeface="Times New Roman" panose="02020603050405020304" pitchFamily="18" charset="0"/>
                <a:cs typeface="Times New Roman" panose="02020603050405020304" pitchFamily="18" charset="0"/>
              </a:rPr>
              <a:t>Despite all the limitations we faced, our prototype succeeded in reaching our goal of improving the design of the parabolic trough to make it more efficient and make it more continuous by using modern technology like communication technology. We encountered some limitations that, unfortunately, we could not overcome problems, so we recommend that future researchers:</a:t>
            </a:r>
          </a:p>
          <a:p>
            <a:pPr marL="0" indent="0">
              <a:buNone/>
            </a:pPr>
            <a:r>
              <a:rPr lang="en-US" dirty="0">
                <a:latin typeface="Times New Roman" panose="02020603050405020304" pitchFamily="18" charset="0"/>
                <a:cs typeface="Times New Roman" panose="02020603050405020304" pitchFamily="18" charset="0"/>
              </a:rPr>
              <a:t>• Researching on using molten salt in the large-scale parabolic trough’s power cells to work instead of water because it needs at least 500 degrees Celsius to be melted and can store the heat energy inside of it for up to 7 hours</a:t>
            </a:r>
          </a:p>
          <a:p>
            <a:pPr marL="0" indent="0">
              <a:buNone/>
            </a:pPr>
            <a:r>
              <a:rPr lang="en-US" dirty="0">
                <a:latin typeface="Times New Roman" panose="02020603050405020304" pitchFamily="18" charset="0"/>
                <a:cs typeface="Times New Roman" panose="02020603050405020304" pitchFamily="18" charset="0"/>
              </a:rPr>
              <a:t>• On a large scale, future researchers could connect to a climate center to provide the parabolic trough with the needed data and angles to make the tracing system work more accurate.</a:t>
            </a:r>
          </a:p>
          <a:p>
            <a:pPr marL="0" indent="0">
              <a:buNone/>
            </a:pPr>
            <a:r>
              <a:rPr lang="en-US" dirty="0">
                <a:latin typeface="Times New Roman" panose="02020603050405020304" pitchFamily="18" charset="0"/>
                <a:cs typeface="Times New Roman" panose="02020603050405020304" pitchFamily="18" charset="0"/>
              </a:rPr>
              <a:t>• Provide the project with thermal insulation materials to maintain the water or fluid temperature in the system and prevent any energy loss that can occur in the system. materials as mineral wool, cellulose and fiberglass are practical examples of thermal insulation materials that we can use in the system</a:t>
            </a:r>
          </a:p>
          <a:p>
            <a:pPr marL="0" indent="0">
              <a:buNone/>
            </a:pPr>
            <a:r>
              <a:rPr lang="en-US" dirty="0">
                <a:latin typeface="Times New Roman" panose="02020603050405020304" pitchFamily="18" charset="0"/>
                <a:cs typeface="Times New Roman" panose="02020603050405020304" pitchFamily="18" charset="0"/>
              </a:rPr>
              <a:t>• The best replacement for the water as fluid is molten salt, nanofluids, or oil, as they have more heat capacity than the water and do not lose heat faster.</a:t>
            </a:r>
          </a:p>
          <a:p>
            <a:pPr marL="0" indent="0">
              <a:buNone/>
            </a:pPr>
            <a:r>
              <a:rPr lang="en-US" dirty="0">
                <a:latin typeface="Times New Roman" panose="02020603050405020304" pitchFamily="18" charset="0"/>
                <a:cs typeface="Times New Roman" panose="02020603050405020304" pitchFamily="18" charset="0"/>
              </a:rPr>
              <a:t>• providing thermal insulation containers to transport the heated fluid to any organization that will need this fluid is essential the large-scale</a:t>
            </a:r>
          </a:p>
          <a:p>
            <a:pPr marL="0" indent="0">
              <a:buNone/>
            </a:pPr>
            <a:r>
              <a:rPr lang="en-US" dirty="0">
                <a:latin typeface="Times New Roman" panose="02020603050405020304" pitchFamily="18" charset="0"/>
                <a:cs typeface="Times New Roman" panose="02020603050405020304" pitchFamily="18" charset="0"/>
              </a:rPr>
              <a:t>• As a large-scale project, safety is a property that should be considered; thus, researchers can use more than one water temperature sensor to read the difference between them and detect the fluid's temperature with higher accuracy. This procedure will increase the project's safety by closing the system and the water flow if the fluid temperature becomes too high to handle by the pipes. So, they can explode and cause damages to the system</a:t>
            </a:r>
          </a:p>
        </p:txBody>
      </p:sp>
    </p:spTree>
    <p:extLst>
      <p:ext uri="{BB962C8B-B14F-4D97-AF65-F5344CB8AC3E}">
        <p14:creationId xmlns:p14="http://schemas.microsoft.com/office/powerpoint/2010/main" val="11546480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DC3F2-C2F7-4685-9230-58FCA3F2207C}"/>
              </a:ext>
            </a:extLst>
          </p:cNvPr>
          <p:cNvSpPr>
            <a:spLocks noGrp="1"/>
          </p:cNvSpPr>
          <p:nvPr>
            <p:ph type="title"/>
          </p:nvPr>
        </p:nvSpPr>
        <p:spPr>
          <a:xfrm>
            <a:off x="838200" y="2766218"/>
            <a:ext cx="10515600" cy="1325563"/>
          </a:xfrm>
        </p:spPr>
        <p:txBody>
          <a:bodyPr/>
          <a:lstStyle/>
          <a:p>
            <a:pPr algn="ctr"/>
            <a:r>
              <a:rPr lang="en-US" dirty="0"/>
              <a:t>Thanks for your time.</a:t>
            </a:r>
          </a:p>
        </p:txBody>
      </p:sp>
    </p:spTree>
    <p:extLst>
      <p:ext uri="{BB962C8B-B14F-4D97-AF65-F5344CB8AC3E}">
        <p14:creationId xmlns:p14="http://schemas.microsoft.com/office/powerpoint/2010/main" val="296941595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docProps/app.xml><?xml version="1.0" encoding="utf-8"?>
<Properties xmlns="http://schemas.openxmlformats.org/officeDocument/2006/extended-properties" xmlns:vt="http://schemas.openxmlformats.org/officeDocument/2006/docPropsVTypes">
  <Template>TM03457510[[fn=Savon]]</Template>
  <TotalTime>496</TotalTime>
  <Words>1266</Words>
  <Application>Microsoft Office PowerPoint</Application>
  <PresentationFormat>Widescreen</PresentationFormat>
  <Paragraphs>56</Paragraphs>
  <Slides>15</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15</vt:i4>
      </vt:variant>
    </vt:vector>
  </HeadingPairs>
  <TitlesOfParts>
    <vt:vector size="26" baseType="lpstr">
      <vt:lpstr>Arial</vt:lpstr>
      <vt:lpstr>ArialMT</vt:lpstr>
      <vt:lpstr>Calibri</vt:lpstr>
      <vt:lpstr>Calibri Light</vt:lpstr>
      <vt:lpstr>Cambria Math</vt:lpstr>
      <vt:lpstr>CambriaMath</vt:lpstr>
      <vt:lpstr>Times New Roman</vt:lpstr>
      <vt:lpstr>TimesNewRomanPS-BoldMT</vt:lpstr>
      <vt:lpstr>TimesNewRomanPS-ItalicMT</vt:lpstr>
      <vt:lpstr>TimesNewRomanPSMT</vt:lpstr>
      <vt:lpstr>Office Theme</vt:lpstr>
      <vt:lpstr>Helianthus Collector</vt:lpstr>
      <vt:lpstr>Materials </vt:lpstr>
      <vt:lpstr>Test plan</vt:lpstr>
      <vt:lpstr>Results </vt:lpstr>
      <vt:lpstr>Graphs </vt:lpstr>
      <vt:lpstr>PowerPoint Presentation</vt:lpstr>
      <vt:lpstr>Calculations</vt:lpstr>
      <vt:lpstr>Calculations</vt:lpstr>
      <vt:lpstr>Calculations</vt:lpstr>
      <vt:lpstr>Calculations</vt:lpstr>
      <vt:lpstr>Calculations</vt:lpstr>
      <vt:lpstr>Literature Cited</vt:lpstr>
      <vt:lpstr>Conclusion</vt:lpstr>
      <vt:lpstr>Recommendation </vt:lpstr>
      <vt:lpstr>Thanks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Dye Disassembler</dc:title>
  <dc:creator>Mark wael Daniel messak</dc:creator>
  <cp:lastModifiedBy>Mohamed Haitham</cp:lastModifiedBy>
  <cp:revision>56</cp:revision>
  <dcterms:created xsi:type="dcterms:W3CDTF">2021-03-29T17:13:23Z</dcterms:created>
  <dcterms:modified xsi:type="dcterms:W3CDTF">2022-01-28T17:13:32Z</dcterms:modified>
</cp:coreProperties>
</file>