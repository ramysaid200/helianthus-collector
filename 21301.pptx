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39600188" cy="288004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5749"/>
    <a:srgbClr val="722326"/>
    <a:srgbClr val="093D33"/>
    <a:srgbClr val="16917A"/>
    <a:srgbClr val="B2B3B6"/>
    <a:srgbClr val="26786A"/>
    <a:srgbClr val="2F9684"/>
    <a:srgbClr val="072F27"/>
    <a:srgbClr val="9292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249" autoAdjust="0"/>
  </p:normalViewPr>
  <p:slideViewPr>
    <p:cSldViewPr snapToGrid="0">
      <p:cViewPr varScale="1">
        <p:scale>
          <a:sx n="17" d="100"/>
          <a:sy n="17" d="100"/>
        </p:scale>
        <p:origin x="130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hmed\Downloads\intensty.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176957880264967"/>
          <c:y val="6.986111111111111E-2"/>
          <c:w val="0.78994685039370083"/>
          <c:h val="0.51681284631087776"/>
        </c:manualLayout>
      </c:layout>
      <c:scatterChart>
        <c:scatterStyle val="smoothMarker"/>
        <c:varyColors val="0"/>
        <c:ser>
          <c:idx val="0"/>
          <c:order val="0"/>
          <c:tx>
            <c:v>Equator</c:v>
          </c:tx>
          <c:spPr>
            <a:ln w="19050" cap="rnd">
              <a:solidFill>
                <a:schemeClr val="accent1"/>
              </a:solidFill>
              <a:round/>
            </a:ln>
            <a:effectLst/>
          </c:spPr>
          <c:marker>
            <c:symbol val="none"/>
          </c:marker>
          <c:xVal>
            <c:numRef>
              <c:f>Sheet1!$A$1:$A$5</c:f>
              <c:numCache>
                <c:formatCode>h:mm</c:formatCode>
                <c:ptCount val="5"/>
                <c:pt idx="0">
                  <c:v>0.25</c:v>
                </c:pt>
                <c:pt idx="1">
                  <c:v>0.375</c:v>
                </c:pt>
                <c:pt idx="2">
                  <c:v>0.5</c:v>
                </c:pt>
                <c:pt idx="3">
                  <c:v>0.625</c:v>
                </c:pt>
                <c:pt idx="4">
                  <c:v>0.75</c:v>
                </c:pt>
              </c:numCache>
            </c:numRef>
          </c:xVal>
          <c:yVal>
            <c:numRef>
              <c:f>Sheet1!$B$1:$B$5</c:f>
              <c:numCache>
                <c:formatCode>General</c:formatCode>
                <c:ptCount val="5"/>
                <c:pt idx="0">
                  <c:v>200</c:v>
                </c:pt>
                <c:pt idx="1">
                  <c:v>600</c:v>
                </c:pt>
                <c:pt idx="2">
                  <c:v>1000</c:v>
                </c:pt>
                <c:pt idx="3">
                  <c:v>600</c:v>
                </c:pt>
                <c:pt idx="4">
                  <c:v>200</c:v>
                </c:pt>
              </c:numCache>
            </c:numRef>
          </c:yVal>
          <c:smooth val="1"/>
          <c:extLst>
            <c:ext xmlns:c16="http://schemas.microsoft.com/office/drawing/2014/chart" uri="{C3380CC4-5D6E-409C-BE32-E72D297353CC}">
              <c16:uniqueId val="{00000000-3AB6-4B15-B56C-25A866D60E9D}"/>
            </c:ext>
          </c:extLst>
        </c:ser>
        <c:ser>
          <c:idx val="1"/>
          <c:order val="1"/>
          <c:tx>
            <c:v>23.5N/ 23.5 S</c:v>
          </c:tx>
          <c:spPr>
            <a:ln w="19050" cap="rnd">
              <a:solidFill>
                <a:schemeClr val="accent2"/>
              </a:solidFill>
              <a:round/>
            </a:ln>
            <a:effectLst/>
          </c:spPr>
          <c:marker>
            <c:symbol val="none"/>
          </c:marker>
          <c:xVal>
            <c:numRef>
              <c:f>Sheet1!$A$1:$A$5</c:f>
              <c:numCache>
                <c:formatCode>h:mm</c:formatCode>
                <c:ptCount val="5"/>
                <c:pt idx="0">
                  <c:v>0.25</c:v>
                </c:pt>
                <c:pt idx="1">
                  <c:v>0.375</c:v>
                </c:pt>
                <c:pt idx="2">
                  <c:v>0.5</c:v>
                </c:pt>
                <c:pt idx="3">
                  <c:v>0.625</c:v>
                </c:pt>
                <c:pt idx="4">
                  <c:v>0.75</c:v>
                </c:pt>
              </c:numCache>
            </c:numRef>
          </c:xVal>
          <c:yVal>
            <c:numRef>
              <c:f>Sheet1!$C$1:$C$5</c:f>
              <c:numCache>
                <c:formatCode>General</c:formatCode>
                <c:ptCount val="5"/>
                <c:pt idx="0">
                  <c:v>100</c:v>
                </c:pt>
                <c:pt idx="1">
                  <c:v>450</c:v>
                </c:pt>
                <c:pt idx="2">
                  <c:v>750</c:v>
                </c:pt>
                <c:pt idx="3">
                  <c:v>450</c:v>
                </c:pt>
                <c:pt idx="4">
                  <c:v>100</c:v>
                </c:pt>
              </c:numCache>
            </c:numRef>
          </c:yVal>
          <c:smooth val="1"/>
          <c:extLst>
            <c:ext xmlns:c16="http://schemas.microsoft.com/office/drawing/2014/chart" uri="{C3380CC4-5D6E-409C-BE32-E72D297353CC}">
              <c16:uniqueId val="{00000001-3AB6-4B15-B56C-25A866D60E9D}"/>
            </c:ext>
          </c:extLst>
        </c:ser>
        <c:ser>
          <c:idx val="2"/>
          <c:order val="2"/>
          <c:tx>
            <c:v>45N/ 45S</c:v>
          </c:tx>
          <c:spPr>
            <a:ln w="19050" cap="rnd">
              <a:solidFill>
                <a:schemeClr val="accent3"/>
              </a:solidFill>
              <a:round/>
            </a:ln>
            <a:effectLst/>
          </c:spPr>
          <c:marker>
            <c:symbol val="none"/>
          </c:marker>
          <c:xVal>
            <c:numRef>
              <c:f>Sheet1!$A$1:$A$5</c:f>
              <c:numCache>
                <c:formatCode>h:mm</c:formatCode>
                <c:ptCount val="5"/>
                <c:pt idx="0">
                  <c:v>0.25</c:v>
                </c:pt>
                <c:pt idx="1">
                  <c:v>0.375</c:v>
                </c:pt>
                <c:pt idx="2">
                  <c:v>0.5</c:v>
                </c:pt>
                <c:pt idx="3">
                  <c:v>0.625</c:v>
                </c:pt>
                <c:pt idx="4">
                  <c:v>0.75</c:v>
                </c:pt>
              </c:numCache>
            </c:numRef>
          </c:xVal>
          <c:yVal>
            <c:numRef>
              <c:f>Sheet1!$D$1:$D$5</c:f>
              <c:numCache>
                <c:formatCode>General</c:formatCode>
                <c:ptCount val="5"/>
                <c:pt idx="0">
                  <c:v>50</c:v>
                </c:pt>
                <c:pt idx="1">
                  <c:v>350</c:v>
                </c:pt>
                <c:pt idx="2">
                  <c:v>650</c:v>
                </c:pt>
                <c:pt idx="3">
                  <c:v>350</c:v>
                </c:pt>
                <c:pt idx="4">
                  <c:v>50</c:v>
                </c:pt>
              </c:numCache>
            </c:numRef>
          </c:yVal>
          <c:smooth val="1"/>
          <c:extLst>
            <c:ext xmlns:c16="http://schemas.microsoft.com/office/drawing/2014/chart" uri="{C3380CC4-5D6E-409C-BE32-E72D297353CC}">
              <c16:uniqueId val="{00000002-3AB6-4B15-B56C-25A866D60E9D}"/>
            </c:ext>
          </c:extLst>
        </c:ser>
        <c:ser>
          <c:idx val="3"/>
          <c:order val="3"/>
          <c:tx>
            <c:v>90N/ 90S</c:v>
          </c:tx>
          <c:spPr>
            <a:ln w="19050" cap="rnd">
              <a:solidFill>
                <a:schemeClr val="accent4"/>
              </a:solidFill>
              <a:round/>
            </a:ln>
            <a:effectLst/>
          </c:spPr>
          <c:marker>
            <c:symbol val="none"/>
          </c:marker>
          <c:xVal>
            <c:numRef>
              <c:f>Sheet1!$A$1:$A$5</c:f>
              <c:numCache>
                <c:formatCode>h:mm</c:formatCode>
                <c:ptCount val="5"/>
                <c:pt idx="0">
                  <c:v>0.25</c:v>
                </c:pt>
                <c:pt idx="1">
                  <c:v>0.375</c:v>
                </c:pt>
                <c:pt idx="2">
                  <c:v>0.5</c:v>
                </c:pt>
                <c:pt idx="3">
                  <c:v>0.625</c:v>
                </c:pt>
                <c:pt idx="4">
                  <c:v>0.75</c:v>
                </c:pt>
              </c:numCache>
            </c:numRef>
          </c:xVal>
          <c:yVal>
            <c:numRef>
              <c:f>Sheet1!$E$1:$E$5</c:f>
              <c:numCache>
                <c:formatCode>General</c:formatCode>
                <c:ptCount val="5"/>
                <c:pt idx="0">
                  <c:v>25</c:v>
                </c:pt>
                <c:pt idx="1">
                  <c:v>275</c:v>
                </c:pt>
                <c:pt idx="2">
                  <c:v>525</c:v>
                </c:pt>
                <c:pt idx="3">
                  <c:v>275</c:v>
                </c:pt>
                <c:pt idx="4">
                  <c:v>25</c:v>
                </c:pt>
              </c:numCache>
            </c:numRef>
          </c:yVal>
          <c:smooth val="1"/>
          <c:extLst>
            <c:ext xmlns:c16="http://schemas.microsoft.com/office/drawing/2014/chart" uri="{C3380CC4-5D6E-409C-BE32-E72D297353CC}">
              <c16:uniqueId val="{00000003-3AB6-4B15-B56C-25A866D60E9D}"/>
            </c:ext>
          </c:extLst>
        </c:ser>
        <c:dLbls>
          <c:showLegendKey val="0"/>
          <c:showVal val="0"/>
          <c:showCatName val="0"/>
          <c:showSerName val="0"/>
          <c:showPercent val="0"/>
          <c:showBubbleSize val="0"/>
        </c:dLbls>
        <c:axId val="460124744"/>
        <c:axId val="460129336"/>
      </c:scatterChart>
      <c:valAx>
        <c:axId val="46012474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day</a:t>
                </a:r>
                <a:r>
                  <a:rPr lang="en-US" baseline="0"/>
                  <a:t> time</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h:mm"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0129336"/>
        <c:crosses val="autoZero"/>
        <c:crossBetween val="midCat"/>
      </c:valAx>
      <c:valAx>
        <c:axId val="4601293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aseline="0"/>
                  <a:t>Solar Radiation ( W/m^2)</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0124744"/>
        <c:crosses val="autoZero"/>
        <c:crossBetween val="midCat"/>
      </c:valAx>
      <c:spPr>
        <a:noFill/>
        <a:ln>
          <a:noFill/>
        </a:ln>
        <a:effectLst/>
      </c:spPr>
    </c:plotArea>
    <c:legend>
      <c:legendPos val="b"/>
      <c:layout>
        <c:manualLayout>
          <c:xMode val="edge"/>
          <c:yMode val="edge"/>
          <c:x val="0"/>
          <c:y val="0.67650408282298047"/>
          <c:w val="0.19543737032870895"/>
          <c:h val="0.3049773986585010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970014" y="4713405"/>
            <a:ext cx="33660160" cy="10026815"/>
          </a:xfrm>
        </p:spPr>
        <p:txBody>
          <a:bodyPr anchor="b"/>
          <a:lstStyle>
            <a:lvl1pPr algn="ctr">
              <a:defRPr sz="25197"/>
            </a:lvl1pPr>
          </a:lstStyle>
          <a:p>
            <a:r>
              <a:rPr lang="en-US"/>
              <a:t>Click to edit Master title style</a:t>
            </a:r>
            <a:endParaRPr lang="en-US" dirty="0"/>
          </a:p>
        </p:txBody>
      </p:sp>
      <p:sp>
        <p:nvSpPr>
          <p:cNvPr id="3" name="Subtitle 2"/>
          <p:cNvSpPr>
            <a:spLocks noGrp="1"/>
          </p:cNvSpPr>
          <p:nvPr>
            <p:ph type="subTitle" idx="1"/>
          </p:nvPr>
        </p:nvSpPr>
        <p:spPr>
          <a:xfrm>
            <a:off x="4950024" y="15126892"/>
            <a:ext cx="29700141" cy="6953434"/>
          </a:xfrm>
        </p:spPr>
        <p:txBody>
          <a:bodyPr/>
          <a:lstStyle>
            <a:lvl1pPr marL="0" indent="0" algn="ctr">
              <a:buNone/>
              <a:defRPr sz="10079"/>
            </a:lvl1pPr>
            <a:lvl2pPr marL="1920011" indent="0" algn="ctr">
              <a:buNone/>
              <a:defRPr sz="8399"/>
            </a:lvl2pPr>
            <a:lvl3pPr marL="3840023" indent="0" algn="ctr">
              <a:buNone/>
              <a:defRPr sz="7559"/>
            </a:lvl3pPr>
            <a:lvl4pPr marL="5760034" indent="0" algn="ctr">
              <a:buNone/>
              <a:defRPr sz="6719"/>
            </a:lvl4pPr>
            <a:lvl5pPr marL="7680046" indent="0" algn="ctr">
              <a:buNone/>
              <a:defRPr sz="6719"/>
            </a:lvl5pPr>
            <a:lvl6pPr marL="9600057" indent="0" algn="ctr">
              <a:buNone/>
              <a:defRPr sz="6719"/>
            </a:lvl6pPr>
            <a:lvl7pPr marL="11520068" indent="0" algn="ctr">
              <a:buNone/>
              <a:defRPr sz="6719"/>
            </a:lvl7pPr>
            <a:lvl8pPr marL="13440080" indent="0" algn="ctr">
              <a:buNone/>
              <a:defRPr sz="6719"/>
            </a:lvl8pPr>
            <a:lvl9pPr marL="15360091" indent="0" algn="ctr">
              <a:buNone/>
              <a:defRPr sz="671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E1D538-A0E3-40B0-BED4-920BE1F36AC1}" type="datetimeFigureOut">
              <a:rPr lang="en-US" smtClean="0"/>
              <a:t>12/22/2021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33DCB-BFE1-477B-A0D3-3B567DE1E9A9}" type="slidenum">
              <a:rPr lang="en-US" smtClean="0"/>
              <a:t>‹#›</a:t>
            </a:fld>
            <a:endParaRPr lang="en-US"/>
          </a:p>
        </p:txBody>
      </p:sp>
    </p:spTree>
    <p:extLst>
      <p:ext uri="{BB962C8B-B14F-4D97-AF65-F5344CB8AC3E}">
        <p14:creationId xmlns:p14="http://schemas.microsoft.com/office/powerpoint/2010/main" val="309475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E1D538-A0E3-40B0-BED4-920BE1F36AC1}" type="datetimeFigureOut">
              <a:rPr lang="en-US" smtClean="0"/>
              <a:t>12/22/2021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33DCB-BFE1-477B-A0D3-3B567DE1E9A9}" type="slidenum">
              <a:rPr lang="en-US" smtClean="0"/>
              <a:t>‹#›</a:t>
            </a:fld>
            <a:endParaRPr lang="en-US"/>
          </a:p>
        </p:txBody>
      </p:sp>
    </p:spTree>
    <p:extLst>
      <p:ext uri="{BB962C8B-B14F-4D97-AF65-F5344CB8AC3E}">
        <p14:creationId xmlns:p14="http://schemas.microsoft.com/office/powerpoint/2010/main" val="3291896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701890" y="7180114"/>
            <a:ext cx="34155162" cy="11980175"/>
          </a:xfrm>
        </p:spPr>
        <p:txBody>
          <a:bodyPr anchor="b"/>
          <a:lstStyle>
            <a:lvl1pPr>
              <a:defRPr sz="25197"/>
            </a:lvl1pPr>
          </a:lstStyle>
          <a:p>
            <a:r>
              <a:rPr lang="en-US"/>
              <a:t>Click to edit Master title style</a:t>
            </a:r>
            <a:endParaRPr lang="en-US" dirty="0"/>
          </a:p>
        </p:txBody>
      </p:sp>
      <p:sp>
        <p:nvSpPr>
          <p:cNvPr id="3" name="Text Placeholder 2"/>
          <p:cNvSpPr>
            <a:spLocks noGrp="1"/>
          </p:cNvSpPr>
          <p:nvPr>
            <p:ph type="body" idx="1"/>
          </p:nvPr>
        </p:nvSpPr>
        <p:spPr>
          <a:xfrm>
            <a:off x="2701890" y="19273626"/>
            <a:ext cx="34155162" cy="6300091"/>
          </a:xfrm>
        </p:spPr>
        <p:txBody>
          <a:bodyPr/>
          <a:lstStyle>
            <a:lvl1pPr marL="0" indent="0">
              <a:buNone/>
              <a:defRPr sz="10079">
                <a:solidFill>
                  <a:schemeClr val="tx1"/>
                </a:solidFill>
              </a:defRPr>
            </a:lvl1pPr>
            <a:lvl2pPr marL="1920011" indent="0">
              <a:buNone/>
              <a:defRPr sz="8399">
                <a:solidFill>
                  <a:schemeClr val="tx1">
                    <a:tint val="75000"/>
                  </a:schemeClr>
                </a:solidFill>
              </a:defRPr>
            </a:lvl2pPr>
            <a:lvl3pPr marL="3840023" indent="0">
              <a:buNone/>
              <a:defRPr sz="7559">
                <a:solidFill>
                  <a:schemeClr val="tx1">
                    <a:tint val="75000"/>
                  </a:schemeClr>
                </a:solidFill>
              </a:defRPr>
            </a:lvl3pPr>
            <a:lvl4pPr marL="5760034" indent="0">
              <a:buNone/>
              <a:defRPr sz="6719">
                <a:solidFill>
                  <a:schemeClr val="tx1">
                    <a:tint val="75000"/>
                  </a:schemeClr>
                </a:solidFill>
              </a:defRPr>
            </a:lvl4pPr>
            <a:lvl5pPr marL="7680046" indent="0">
              <a:buNone/>
              <a:defRPr sz="6719">
                <a:solidFill>
                  <a:schemeClr val="tx1">
                    <a:tint val="75000"/>
                  </a:schemeClr>
                </a:solidFill>
              </a:defRPr>
            </a:lvl5pPr>
            <a:lvl6pPr marL="9600057" indent="0">
              <a:buNone/>
              <a:defRPr sz="6719">
                <a:solidFill>
                  <a:schemeClr val="tx1">
                    <a:tint val="75000"/>
                  </a:schemeClr>
                </a:solidFill>
              </a:defRPr>
            </a:lvl6pPr>
            <a:lvl7pPr marL="11520068" indent="0">
              <a:buNone/>
              <a:defRPr sz="6719">
                <a:solidFill>
                  <a:schemeClr val="tx1">
                    <a:tint val="75000"/>
                  </a:schemeClr>
                </a:solidFill>
              </a:defRPr>
            </a:lvl7pPr>
            <a:lvl8pPr marL="13440080" indent="0">
              <a:buNone/>
              <a:defRPr sz="6719">
                <a:solidFill>
                  <a:schemeClr val="tx1">
                    <a:tint val="75000"/>
                  </a:schemeClr>
                </a:solidFill>
              </a:defRPr>
            </a:lvl8pPr>
            <a:lvl9pPr marL="15360091" indent="0">
              <a:buNone/>
              <a:defRPr sz="671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E1D538-A0E3-40B0-BED4-920BE1F36AC1}" type="datetimeFigureOut">
              <a:rPr lang="en-US" smtClean="0"/>
              <a:t>12/22/2021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33DCB-BFE1-477B-A0D3-3B567DE1E9A9}" type="slidenum">
              <a:rPr lang="en-US" smtClean="0"/>
              <a:t>‹#›</a:t>
            </a:fld>
            <a:endParaRPr lang="en-US"/>
          </a:p>
        </p:txBody>
      </p:sp>
    </p:spTree>
    <p:extLst>
      <p:ext uri="{BB962C8B-B14F-4D97-AF65-F5344CB8AC3E}">
        <p14:creationId xmlns:p14="http://schemas.microsoft.com/office/powerpoint/2010/main" val="3743259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722513" y="7666780"/>
            <a:ext cx="16830080" cy="182736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0047595" y="7666780"/>
            <a:ext cx="16830080" cy="182736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E1D538-A0E3-40B0-BED4-920BE1F36AC1}" type="datetimeFigureOut">
              <a:rPr lang="en-US" smtClean="0"/>
              <a:t>12/22/2021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733DCB-BFE1-477B-A0D3-3B567DE1E9A9}" type="slidenum">
              <a:rPr lang="en-US" smtClean="0"/>
              <a:t>‹#›</a:t>
            </a:fld>
            <a:endParaRPr lang="en-US"/>
          </a:p>
        </p:txBody>
      </p:sp>
    </p:spTree>
    <p:extLst>
      <p:ext uri="{BB962C8B-B14F-4D97-AF65-F5344CB8AC3E}">
        <p14:creationId xmlns:p14="http://schemas.microsoft.com/office/powerpoint/2010/main" val="383882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727671" y="1533362"/>
            <a:ext cx="34155162" cy="5566751"/>
          </a:xfrm>
        </p:spPr>
        <p:txBody>
          <a:bodyPr/>
          <a:lstStyle/>
          <a:p>
            <a:r>
              <a:rPr lang="en-US"/>
              <a:t>Click to edit Master title style</a:t>
            </a:r>
            <a:endParaRPr lang="en-US" dirty="0"/>
          </a:p>
        </p:txBody>
      </p:sp>
      <p:sp>
        <p:nvSpPr>
          <p:cNvPr id="3" name="Text Placeholder 2"/>
          <p:cNvSpPr>
            <a:spLocks noGrp="1"/>
          </p:cNvSpPr>
          <p:nvPr>
            <p:ph type="body" idx="1"/>
          </p:nvPr>
        </p:nvSpPr>
        <p:spPr>
          <a:xfrm>
            <a:off x="2727675" y="7060106"/>
            <a:ext cx="16752733" cy="3460049"/>
          </a:xfrm>
        </p:spPr>
        <p:txBody>
          <a:bodyPr anchor="b"/>
          <a:lstStyle>
            <a:lvl1pPr marL="0" indent="0">
              <a:buNone/>
              <a:defRPr sz="10079" b="1"/>
            </a:lvl1pPr>
            <a:lvl2pPr marL="1920011" indent="0">
              <a:buNone/>
              <a:defRPr sz="8399" b="1"/>
            </a:lvl2pPr>
            <a:lvl3pPr marL="3840023" indent="0">
              <a:buNone/>
              <a:defRPr sz="7559" b="1"/>
            </a:lvl3pPr>
            <a:lvl4pPr marL="5760034" indent="0">
              <a:buNone/>
              <a:defRPr sz="6719" b="1"/>
            </a:lvl4pPr>
            <a:lvl5pPr marL="7680046" indent="0">
              <a:buNone/>
              <a:defRPr sz="6719" b="1"/>
            </a:lvl5pPr>
            <a:lvl6pPr marL="9600057" indent="0">
              <a:buNone/>
              <a:defRPr sz="6719" b="1"/>
            </a:lvl6pPr>
            <a:lvl7pPr marL="11520068" indent="0">
              <a:buNone/>
              <a:defRPr sz="6719" b="1"/>
            </a:lvl7pPr>
            <a:lvl8pPr marL="13440080" indent="0">
              <a:buNone/>
              <a:defRPr sz="6719" b="1"/>
            </a:lvl8pPr>
            <a:lvl9pPr marL="15360091" indent="0">
              <a:buNone/>
              <a:defRPr sz="6719" b="1"/>
            </a:lvl9pPr>
          </a:lstStyle>
          <a:p>
            <a:pPr lvl="0"/>
            <a:r>
              <a:rPr lang="en-US"/>
              <a:t>Click to edit Master text styles</a:t>
            </a:r>
          </a:p>
        </p:txBody>
      </p:sp>
      <p:sp>
        <p:nvSpPr>
          <p:cNvPr id="4" name="Content Placeholder 3"/>
          <p:cNvSpPr>
            <a:spLocks noGrp="1"/>
          </p:cNvSpPr>
          <p:nvPr>
            <p:ph sz="half" idx="2"/>
          </p:nvPr>
        </p:nvSpPr>
        <p:spPr>
          <a:xfrm>
            <a:off x="2727675" y="10520155"/>
            <a:ext cx="16752733" cy="154735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0047597" y="7060106"/>
            <a:ext cx="16835238" cy="3460049"/>
          </a:xfrm>
        </p:spPr>
        <p:txBody>
          <a:bodyPr anchor="b"/>
          <a:lstStyle>
            <a:lvl1pPr marL="0" indent="0">
              <a:buNone/>
              <a:defRPr sz="10079" b="1"/>
            </a:lvl1pPr>
            <a:lvl2pPr marL="1920011" indent="0">
              <a:buNone/>
              <a:defRPr sz="8399" b="1"/>
            </a:lvl2pPr>
            <a:lvl3pPr marL="3840023" indent="0">
              <a:buNone/>
              <a:defRPr sz="7559" b="1"/>
            </a:lvl3pPr>
            <a:lvl4pPr marL="5760034" indent="0">
              <a:buNone/>
              <a:defRPr sz="6719" b="1"/>
            </a:lvl4pPr>
            <a:lvl5pPr marL="7680046" indent="0">
              <a:buNone/>
              <a:defRPr sz="6719" b="1"/>
            </a:lvl5pPr>
            <a:lvl6pPr marL="9600057" indent="0">
              <a:buNone/>
              <a:defRPr sz="6719" b="1"/>
            </a:lvl6pPr>
            <a:lvl7pPr marL="11520068" indent="0">
              <a:buNone/>
              <a:defRPr sz="6719" b="1"/>
            </a:lvl7pPr>
            <a:lvl8pPr marL="13440080" indent="0">
              <a:buNone/>
              <a:defRPr sz="6719" b="1"/>
            </a:lvl8pPr>
            <a:lvl9pPr marL="15360091" indent="0">
              <a:buNone/>
              <a:defRPr sz="6719" b="1"/>
            </a:lvl9pPr>
          </a:lstStyle>
          <a:p>
            <a:pPr lvl="0"/>
            <a:r>
              <a:rPr lang="en-US"/>
              <a:t>Click to edit Master text styles</a:t>
            </a:r>
          </a:p>
        </p:txBody>
      </p:sp>
      <p:sp>
        <p:nvSpPr>
          <p:cNvPr id="6" name="Content Placeholder 5"/>
          <p:cNvSpPr>
            <a:spLocks noGrp="1"/>
          </p:cNvSpPr>
          <p:nvPr>
            <p:ph sz="quarter" idx="4"/>
          </p:nvPr>
        </p:nvSpPr>
        <p:spPr>
          <a:xfrm>
            <a:off x="20047597" y="10520155"/>
            <a:ext cx="16835238" cy="154735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E1D538-A0E3-40B0-BED4-920BE1F36AC1}" type="datetimeFigureOut">
              <a:rPr lang="en-US" smtClean="0"/>
              <a:t>12/22/2021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733DCB-BFE1-477B-A0D3-3B567DE1E9A9}" type="slidenum">
              <a:rPr lang="en-US" smtClean="0"/>
              <a:t>‹#›</a:t>
            </a:fld>
            <a:endParaRPr lang="en-US"/>
          </a:p>
        </p:txBody>
      </p:sp>
    </p:spTree>
    <p:extLst>
      <p:ext uri="{BB962C8B-B14F-4D97-AF65-F5344CB8AC3E}">
        <p14:creationId xmlns:p14="http://schemas.microsoft.com/office/powerpoint/2010/main" val="2615233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E1D538-A0E3-40B0-BED4-920BE1F36AC1}" type="datetimeFigureOut">
              <a:rPr lang="en-US" smtClean="0"/>
              <a:t>12/22/2021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733DCB-BFE1-477B-A0D3-3B567DE1E9A9}" type="slidenum">
              <a:rPr lang="en-US" smtClean="0"/>
              <a:t>‹#›</a:t>
            </a:fld>
            <a:endParaRPr lang="en-US"/>
          </a:p>
        </p:txBody>
      </p:sp>
    </p:spTree>
    <p:extLst>
      <p:ext uri="{BB962C8B-B14F-4D97-AF65-F5344CB8AC3E}">
        <p14:creationId xmlns:p14="http://schemas.microsoft.com/office/powerpoint/2010/main" val="3596585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1D538-A0E3-40B0-BED4-920BE1F36AC1}" type="datetimeFigureOut">
              <a:rPr lang="en-US" smtClean="0"/>
              <a:t>12/22/2021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733DCB-BFE1-477B-A0D3-3B567DE1E9A9}" type="slidenum">
              <a:rPr lang="en-US" smtClean="0"/>
              <a:t>‹#›</a:t>
            </a:fld>
            <a:endParaRPr lang="en-US"/>
          </a:p>
        </p:txBody>
      </p:sp>
    </p:spTree>
    <p:extLst>
      <p:ext uri="{BB962C8B-B14F-4D97-AF65-F5344CB8AC3E}">
        <p14:creationId xmlns:p14="http://schemas.microsoft.com/office/powerpoint/2010/main" val="66552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27671" y="1920028"/>
            <a:ext cx="12772091" cy="6720099"/>
          </a:xfrm>
        </p:spPr>
        <p:txBody>
          <a:bodyPr anchor="b"/>
          <a:lstStyle>
            <a:lvl1pPr>
              <a:defRPr sz="13438"/>
            </a:lvl1pPr>
          </a:lstStyle>
          <a:p>
            <a:r>
              <a:rPr lang="en-US"/>
              <a:t>Click to edit Master title style</a:t>
            </a:r>
            <a:endParaRPr lang="en-US" dirty="0"/>
          </a:p>
        </p:txBody>
      </p:sp>
      <p:sp>
        <p:nvSpPr>
          <p:cNvPr id="3" name="Content Placeholder 2"/>
          <p:cNvSpPr>
            <a:spLocks noGrp="1"/>
          </p:cNvSpPr>
          <p:nvPr>
            <p:ph idx="1"/>
          </p:nvPr>
        </p:nvSpPr>
        <p:spPr>
          <a:xfrm>
            <a:off x="16835238" y="4146734"/>
            <a:ext cx="20047595" cy="20466969"/>
          </a:xfrm>
        </p:spPr>
        <p:txBody>
          <a:bodyPr/>
          <a:lstStyle>
            <a:lvl1pPr>
              <a:defRPr sz="13438"/>
            </a:lvl1pPr>
            <a:lvl2pPr>
              <a:defRPr sz="11759"/>
            </a:lvl2pPr>
            <a:lvl3pPr>
              <a:defRPr sz="10079"/>
            </a:lvl3pPr>
            <a:lvl4pPr>
              <a:defRPr sz="8399"/>
            </a:lvl4pPr>
            <a:lvl5pPr>
              <a:defRPr sz="8399"/>
            </a:lvl5pPr>
            <a:lvl6pPr>
              <a:defRPr sz="8399"/>
            </a:lvl6pPr>
            <a:lvl7pPr>
              <a:defRPr sz="8399"/>
            </a:lvl7pPr>
            <a:lvl8pPr>
              <a:defRPr sz="8399"/>
            </a:lvl8pPr>
            <a:lvl9pPr>
              <a:defRPr sz="83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727671" y="8640127"/>
            <a:ext cx="12772091" cy="16006905"/>
          </a:xfrm>
        </p:spPr>
        <p:txBody>
          <a:bodyPr/>
          <a:lstStyle>
            <a:lvl1pPr marL="0" indent="0">
              <a:buNone/>
              <a:defRPr sz="6719"/>
            </a:lvl1pPr>
            <a:lvl2pPr marL="1920011" indent="0">
              <a:buNone/>
              <a:defRPr sz="5879"/>
            </a:lvl2pPr>
            <a:lvl3pPr marL="3840023" indent="0">
              <a:buNone/>
              <a:defRPr sz="5039"/>
            </a:lvl3pPr>
            <a:lvl4pPr marL="5760034" indent="0">
              <a:buNone/>
              <a:defRPr sz="4200"/>
            </a:lvl4pPr>
            <a:lvl5pPr marL="7680046" indent="0">
              <a:buNone/>
              <a:defRPr sz="4200"/>
            </a:lvl5pPr>
            <a:lvl6pPr marL="9600057" indent="0">
              <a:buNone/>
              <a:defRPr sz="4200"/>
            </a:lvl6pPr>
            <a:lvl7pPr marL="11520068" indent="0">
              <a:buNone/>
              <a:defRPr sz="4200"/>
            </a:lvl7pPr>
            <a:lvl8pPr marL="13440080" indent="0">
              <a:buNone/>
              <a:defRPr sz="4200"/>
            </a:lvl8pPr>
            <a:lvl9pPr marL="15360091"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56E1D538-A0E3-40B0-BED4-920BE1F36AC1}" type="datetimeFigureOut">
              <a:rPr lang="en-US" smtClean="0"/>
              <a:t>12/22/2021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733DCB-BFE1-477B-A0D3-3B567DE1E9A9}" type="slidenum">
              <a:rPr lang="en-US" smtClean="0"/>
              <a:t>‹#›</a:t>
            </a:fld>
            <a:endParaRPr lang="en-US"/>
          </a:p>
        </p:txBody>
      </p:sp>
    </p:spTree>
    <p:extLst>
      <p:ext uri="{BB962C8B-B14F-4D97-AF65-F5344CB8AC3E}">
        <p14:creationId xmlns:p14="http://schemas.microsoft.com/office/powerpoint/2010/main" val="1761459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27671" y="1920028"/>
            <a:ext cx="12772091" cy="6720099"/>
          </a:xfrm>
        </p:spPr>
        <p:txBody>
          <a:bodyPr anchor="b"/>
          <a:lstStyle>
            <a:lvl1pPr>
              <a:defRPr sz="13438"/>
            </a:lvl1pPr>
          </a:lstStyle>
          <a:p>
            <a:r>
              <a:rPr lang="en-US"/>
              <a:t>Click to edit Master title style</a:t>
            </a:r>
            <a:endParaRPr lang="en-US" dirty="0"/>
          </a:p>
        </p:txBody>
      </p:sp>
      <p:sp>
        <p:nvSpPr>
          <p:cNvPr id="3" name="Picture Placeholder 2"/>
          <p:cNvSpPr>
            <a:spLocks noGrp="1" noChangeAspect="1"/>
          </p:cNvSpPr>
          <p:nvPr>
            <p:ph type="pic" idx="1"/>
          </p:nvPr>
        </p:nvSpPr>
        <p:spPr>
          <a:xfrm>
            <a:off x="16835238" y="4146734"/>
            <a:ext cx="20047595" cy="20466969"/>
          </a:xfrm>
        </p:spPr>
        <p:txBody>
          <a:bodyPr anchor="t"/>
          <a:lstStyle>
            <a:lvl1pPr marL="0" indent="0">
              <a:buNone/>
              <a:defRPr sz="13438"/>
            </a:lvl1pPr>
            <a:lvl2pPr marL="1920011" indent="0">
              <a:buNone/>
              <a:defRPr sz="11759"/>
            </a:lvl2pPr>
            <a:lvl3pPr marL="3840023" indent="0">
              <a:buNone/>
              <a:defRPr sz="10079"/>
            </a:lvl3pPr>
            <a:lvl4pPr marL="5760034" indent="0">
              <a:buNone/>
              <a:defRPr sz="8399"/>
            </a:lvl4pPr>
            <a:lvl5pPr marL="7680046" indent="0">
              <a:buNone/>
              <a:defRPr sz="8399"/>
            </a:lvl5pPr>
            <a:lvl6pPr marL="9600057" indent="0">
              <a:buNone/>
              <a:defRPr sz="8399"/>
            </a:lvl6pPr>
            <a:lvl7pPr marL="11520068" indent="0">
              <a:buNone/>
              <a:defRPr sz="8399"/>
            </a:lvl7pPr>
            <a:lvl8pPr marL="13440080" indent="0">
              <a:buNone/>
              <a:defRPr sz="8399"/>
            </a:lvl8pPr>
            <a:lvl9pPr marL="15360091" indent="0">
              <a:buNone/>
              <a:defRPr sz="8399"/>
            </a:lvl9pPr>
          </a:lstStyle>
          <a:p>
            <a:r>
              <a:rPr lang="en-US"/>
              <a:t>Click icon to add picture</a:t>
            </a:r>
            <a:endParaRPr lang="en-US" dirty="0"/>
          </a:p>
        </p:txBody>
      </p:sp>
      <p:sp>
        <p:nvSpPr>
          <p:cNvPr id="4" name="Text Placeholder 3"/>
          <p:cNvSpPr>
            <a:spLocks noGrp="1"/>
          </p:cNvSpPr>
          <p:nvPr>
            <p:ph type="body" sz="half" idx="2"/>
          </p:nvPr>
        </p:nvSpPr>
        <p:spPr>
          <a:xfrm>
            <a:off x="2727671" y="8640127"/>
            <a:ext cx="12772091" cy="16006905"/>
          </a:xfrm>
        </p:spPr>
        <p:txBody>
          <a:bodyPr/>
          <a:lstStyle>
            <a:lvl1pPr marL="0" indent="0">
              <a:buNone/>
              <a:defRPr sz="6719"/>
            </a:lvl1pPr>
            <a:lvl2pPr marL="1920011" indent="0">
              <a:buNone/>
              <a:defRPr sz="5879"/>
            </a:lvl2pPr>
            <a:lvl3pPr marL="3840023" indent="0">
              <a:buNone/>
              <a:defRPr sz="5039"/>
            </a:lvl3pPr>
            <a:lvl4pPr marL="5760034" indent="0">
              <a:buNone/>
              <a:defRPr sz="4200"/>
            </a:lvl4pPr>
            <a:lvl5pPr marL="7680046" indent="0">
              <a:buNone/>
              <a:defRPr sz="4200"/>
            </a:lvl5pPr>
            <a:lvl6pPr marL="9600057" indent="0">
              <a:buNone/>
              <a:defRPr sz="4200"/>
            </a:lvl6pPr>
            <a:lvl7pPr marL="11520068" indent="0">
              <a:buNone/>
              <a:defRPr sz="4200"/>
            </a:lvl7pPr>
            <a:lvl8pPr marL="13440080" indent="0">
              <a:buNone/>
              <a:defRPr sz="4200"/>
            </a:lvl8pPr>
            <a:lvl9pPr marL="15360091"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56E1D538-A0E3-40B0-BED4-920BE1F36AC1}" type="datetimeFigureOut">
              <a:rPr lang="en-US" smtClean="0"/>
              <a:t>12/22/2021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733DCB-BFE1-477B-A0D3-3B567DE1E9A9}" type="slidenum">
              <a:rPr lang="en-US" smtClean="0"/>
              <a:t>‹#›</a:t>
            </a:fld>
            <a:endParaRPr lang="en-US"/>
          </a:p>
        </p:txBody>
      </p:sp>
    </p:spTree>
    <p:extLst>
      <p:ext uri="{BB962C8B-B14F-4D97-AF65-F5344CB8AC3E}">
        <p14:creationId xmlns:p14="http://schemas.microsoft.com/office/powerpoint/2010/main" val="736262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E1D538-A0E3-40B0-BED4-920BE1F36AC1}" type="datetimeFigureOut">
              <a:rPr lang="en-US" smtClean="0"/>
              <a:t>12/22/2021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33DCB-BFE1-477B-A0D3-3B567DE1E9A9}" type="slidenum">
              <a:rPr lang="en-US" smtClean="0"/>
              <a:t>‹#›</a:t>
            </a:fld>
            <a:endParaRPr lang="en-US"/>
          </a:p>
        </p:txBody>
      </p:sp>
    </p:spTree>
    <p:extLst>
      <p:ext uri="{BB962C8B-B14F-4D97-AF65-F5344CB8AC3E}">
        <p14:creationId xmlns:p14="http://schemas.microsoft.com/office/powerpoint/2010/main" val="2361767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338886" y="1533356"/>
            <a:ext cx="8538791" cy="24407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722515" y="1533356"/>
            <a:ext cx="25121369" cy="24407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E1D538-A0E3-40B0-BED4-920BE1F36AC1}" type="datetimeFigureOut">
              <a:rPr lang="en-US" smtClean="0"/>
              <a:t>12/22/2021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33DCB-BFE1-477B-A0D3-3B567DE1E9A9}" type="slidenum">
              <a:rPr lang="en-US" smtClean="0"/>
              <a:t>‹#›</a:t>
            </a:fld>
            <a:endParaRPr lang="en-US"/>
          </a:p>
        </p:txBody>
      </p:sp>
    </p:spTree>
    <p:extLst>
      <p:ext uri="{BB962C8B-B14F-4D97-AF65-F5344CB8AC3E}">
        <p14:creationId xmlns:p14="http://schemas.microsoft.com/office/powerpoint/2010/main" val="3425601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22513" y="1533362"/>
            <a:ext cx="34155162" cy="556675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722513" y="7666780"/>
            <a:ext cx="34155162" cy="1827360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22513" y="26693734"/>
            <a:ext cx="8910042" cy="1533356"/>
          </a:xfrm>
          <a:prstGeom prst="rect">
            <a:avLst/>
          </a:prstGeom>
        </p:spPr>
        <p:txBody>
          <a:bodyPr vert="horz" lIns="91440" tIns="45720" rIns="91440" bIns="45720" rtlCol="0" anchor="ctr"/>
          <a:lstStyle>
            <a:lvl1pPr algn="l">
              <a:defRPr sz="5039">
                <a:solidFill>
                  <a:schemeClr val="tx1">
                    <a:tint val="75000"/>
                  </a:schemeClr>
                </a:solidFill>
              </a:defRPr>
            </a:lvl1pPr>
          </a:lstStyle>
          <a:p>
            <a:fld id="{56E1D538-A0E3-40B0-BED4-920BE1F36AC1}" type="datetimeFigureOut">
              <a:rPr lang="en-US" smtClean="0"/>
              <a:t>12/22/2021</a:t>
            </a:fld>
            <a:endParaRPr lang="en-US"/>
          </a:p>
        </p:txBody>
      </p:sp>
      <p:sp>
        <p:nvSpPr>
          <p:cNvPr id="5" name="Footer Placeholder 4"/>
          <p:cNvSpPr>
            <a:spLocks noGrp="1"/>
          </p:cNvSpPr>
          <p:nvPr>
            <p:ph type="ftr" sz="quarter" idx="3"/>
          </p:nvPr>
        </p:nvSpPr>
        <p:spPr>
          <a:xfrm>
            <a:off x="13117563" y="26693734"/>
            <a:ext cx="13365063" cy="1533356"/>
          </a:xfrm>
          <a:prstGeom prst="rect">
            <a:avLst/>
          </a:prstGeom>
        </p:spPr>
        <p:txBody>
          <a:bodyPr vert="horz" lIns="91440" tIns="45720" rIns="91440" bIns="45720" rtlCol="0" anchor="ctr"/>
          <a:lstStyle>
            <a:lvl1pPr algn="ctr">
              <a:defRPr sz="5039">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967633" y="26693734"/>
            <a:ext cx="8910042" cy="1533356"/>
          </a:xfrm>
          <a:prstGeom prst="rect">
            <a:avLst/>
          </a:prstGeom>
        </p:spPr>
        <p:txBody>
          <a:bodyPr vert="horz" lIns="91440" tIns="45720" rIns="91440" bIns="45720" rtlCol="0" anchor="ctr"/>
          <a:lstStyle>
            <a:lvl1pPr algn="r">
              <a:defRPr sz="5039">
                <a:solidFill>
                  <a:schemeClr val="tx1">
                    <a:tint val="75000"/>
                  </a:schemeClr>
                </a:solidFill>
              </a:defRPr>
            </a:lvl1pPr>
          </a:lstStyle>
          <a:p>
            <a:fld id="{71733DCB-BFE1-477B-A0D3-3B567DE1E9A9}" type="slidenum">
              <a:rPr lang="en-US" smtClean="0"/>
              <a:t>‹#›</a:t>
            </a:fld>
            <a:endParaRPr lang="en-US"/>
          </a:p>
        </p:txBody>
      </p:sp>
    </p:spTree>
    <p:extLst>
      <p:ext uri="{BB962C8B-B14F-4D97-AF65-F5344CB8AC3E}">
        <p14:creationId xmlns:p14="http://schemas.microsoft.com/office/powerpoint/2010/main" val="20628641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3840023" rtl="0" eaLnBrk="1" latinLnBrk="0" hangingPunct="1">
        <a:lnSpc>
          <a:spcPct val="90000"/>
        </a:lnSpc>
        <a:spcBef>
          <a:spcPct val="0"/>
        </a:spcBef>
        <a:buNone/>
        <a:defRPr sz="18478" kern="1200">
          <a:solidFill>
            <a:schemeClr val="tx1"/>
          </a:solidFill>
          <a:latin typeface="+mj-lt"/>
          <a:ea typeface="+mj-ea"/>
          <a:cs typeface="+mj-cs"/>
        </a:defRPr>
      </a:lvl1pPr>
    </p:titleStyle>
    <p:bodyStyle>
      <a:lvl1pPr marL="960006" indent="-960006" algn="l" defTabSz="3840023" rtl="0" eaLnBrk="1" latinLnBrk="0" hangingPunct="1">
        <a:lnSpc>
          <a:spcPct val="90000"/>
        </a:lnSpc>
        <a:spcBef>
          <a:spcPts val="4200"/>
        </a:spcBef>
        <a:buFont typeface="Arial" panose="020B0604020202020204" pitchFamily="34" charset="0"/>
        <a:buChar char="•"/>
        <a:defRPr sz="11759" kern="1200">
          <a:solidFill>
            <a:schemeClr val="tx1"/>
          </a:solidFill>
          <a:latin typeface="+mn-lt"/>
          <a:ea typeface="+mn-ea"/>
          <a:cs typeface="+mn-cs"/>
        </a:defRPr>
      </a:lvl1pPr>
      <a:lvl2pPr marL="2880017" indent="-960006" algn="l" defTabSz="3840023" rtl="0" eaLnBrk="1" latinLnBrk="0" hangingPunct="1">
        <a:lnSpc>
          <a:spcPct val="90000"/>
        </a:lnSpc>
        <a:spcBef>
          <a:spcPts val="2100"/>
        </a:spcBef>
        <a:buFont typeface="Arial" panose="020B0604020202020204" pitchFamily="34" charset="0"/>
        <a:buChar char="•"/>
        <a:defRPr sz="10079" kern="1200">
          <a:solidFill>
            <a:schemeClr val="tx1"/>
          </a:solidFill>
          <a:latin typeface="+mn-lt"/>
          <a:ea typeface="+mn-ea"/>
          <a:cs typeface="+mn-cs"/>
        </a:defRPr>
      </a:lvl2pPr>
      <a:lvl3pPr marL="4800029" indent="-960006" algn="l" defTabSz="3840023" rtl="0" eaLnBrk="1" latinLnBrk="0" hangingPunct="1">
        <a:lnSpc>
          <a:spcPct val="90000"/>
        </a:lnSpc>
        <a:spcBef>
          <a:spcPts val="2100"/>
        </a:spcBef>
        <a:buFont typeface="Arial" panose="020B0604020202020204" pitchFamily="34" charset="0"/>
        <a:buChar char="•"/>
        <a:defRPr sz="8399" kern="1200">
          <a:solidFill>
            <a:schemeClr val="tx1"/>
          </a:solidFill>
          <a:latin typeface="+mn-lt"/>
          <a:ea typeface="+mn-ea"/>
          <a:cs typeface="+mn-cs"/>
        </a:defRPr>
      </a:lvl3pPr>
      <a:lvl4pPr marL="6720040"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4pPr>
      <a:lvl5pPr marL="8640051"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5pPr>
      <a:lvl6pPr marL="10560063"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6pPr>
      <a:lvl7pPr marL="12480074"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7pPr>
      <a:lvl8pPr marL="14400086"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8pPr>
      <a:lvl9pPr marL="16320097"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9pPr>
    </p:bodyStyle>
    <p:otherStyle>
      <a:defPPr>
        <a:defRPr lang="en-US"/>
      </a:defPPr>
      <a:lvl1pPr marL="0" algn="l" defTabSz="3840023" rtl="0" eaLnBrk="1" latinLnBrk="0" hangingPunct="1">
        <a:defRPr sz="7559" kern="1200">
          <a:solidFill>
            <a:schemeClr val="tx1"/>
          </a:solidFill>
          <a:latin typeface="+mn-lt"/>
          <a:ea typeface="+mn-ea"/>
          <a:cs typeface="+mn-cs"/>
        </a:defRPr>
      </a:lvl1pPr>
      <a:lvl2pPr marL="1920011" algn="l" defTabSz="3840023" rtl="0" eaLnBrk="1" latinLnBrk="0" hangingPunct="1">
        <a:defRPr sz="7559" kern="1200">
          <a:solidFill>
            <a:schemeClr val="tx1"/>
          </a:solidFill>
          <a:latin typeface="+mn-lt"/>
          <a:ea typeface="+mn-ea"/>
          <a:cs typeface="+mn-cs"/>
        </a:defRPr>
      </a:lvl2pPr>
      <a:lvl3pPr marL="3840023" algn="l" defTabSz="3840023" rtl="0" eaLnBrk="1" latinLnBrk="0" hangingPunct="1">
        <a:defRPr sz="7559" kern="1200">
          <a:solidFill>
            <a:schemeClr val="tx1"/>
          </a:solidFill>
          <a:latin typeface="+mn-lt"/>
          <a:ea typeface="+mn-ea"/>
          <a:cs typeface="+mn-cs"/>
        </a:defRPr>
      </a:lvl3pPr>
      <a:lvl4pPr marL="5760034" algn="l" defTabSz="3840023" rtl="0" eaLnBrk="1" latinLnBrk="0" hangingPunct="1">
        <a:defRPr sz="7559" kern="1200">
          <a:solidFill>
            <a:schemeClr val="tx1"/>
          </a:solidFill>
          <a:latin typeface="+mn-lt"/>
          <a:ea typeface="+mn-ea"/>
          <a:cs typeface="+mn-cs"/>
        </a:defRPr>
      </a:lvl4pPr>
      <a:lvl5pPr marL="7680046" algn="l" defTabSz="3840023" rtl="0" eaLnBrk="1" latinLnBrk="0" hangingPunct="1">
        <a:defRPr sz="7559" kern="1200">
          <a:solidFill>
            <a:schemeClr val="tx1"/>
          </a:solidFill>
          <a:latin typeface="+mn-lt"/>
          <a:ea typeface="+mn-ea"/>
          <a:cs typeface="+mn-cs"/>
        </a:defRPr>
      </a:lvl5pPr>
      <a:lvl6pPr marL="9600057" algn="l" defTabSz="3840023" rtl="0" eaLnBrk="1" latinLnBrk="0" hangingPunct="1">
        <a:defRPr sz="7559" kern="1200">
          <a:solidFill>
            <a:schemeClr val="tx1"/>
          </a:solidFill>
          <a:latin typeface="+mn-lt"/>
          <a:ea typeface="+mn-ea"/>
          <a:cs typeface="+mn-cs"/>
        </a:defRPr>
      </a:lvl6pPr>
      <a:lvl7pPr marL="11520068" algn="l" defTabSz="3840023" rtl="0" eaLnBrk="1" latinLnBrk="0" hangingPunct="1">
        <a:defRPr sz="7559" kern="1200">
          <a:solidFill>
            <a:schemeClr val="tx1"/>
          </a:solidFill>
          <a:latin typeface="+mn-lt"/>
          <a:ea typeface="+mn-ea"/>
          <a:cs typeface="+mn-cs"/>
        </a:defRPr>
      </a:lvl7pPr>
      <a:lvl8pPr marL="13440080" algn="l" defTabSz="3840023" rtl="0" eaLnBrk="1" latinLnBrk="0" hangingPunct="1">
        <a:defRPr sz="7559" kern="1200">
          <a:solidFill>
            <a:schemeClr val="tx1"/>
          </a:solidFill>
          <a:latin typeface="+mn-lt"/>
          <a:ea typeface="+mn-ea"/>
          <a:cs typeface="+mn-cs"/>
        </a:defRPr>
      </a:lvl8pPr>
      <a:lvl9pPr marL="15360091" algn="l" defTabSz="3840023" rtl="0" eaLnBrk="1" latinLnBrk="0" hangingPunct="1">
        <a:defRPr sz="755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25.png"/><Relationship Id="rId21" Type="http://schemas.openxmlformats.org/officeDocument/2006/relationships/image" Target="../media/image20.svg"/><Relationship Id="rId34" Type="http://schemas.openxmlformats.org/officeDocument/2006/relationships/image" Target="../media/image33.png"/><Relationship Id="rId42" Type="http://schemas.openxmlformats.org/officeDocument/2006/relationships/image" Target="../media/image41.png"/><Relationship Id="rId47" Type="http://schemas.openxmlformats.org/officeDocument/2006/relationships/image" Target="../media/image42.png"/><Relationship Id="rId50" Type="http://schemas.openxmlformats.org/officeDocument/2006/relationships/image" Target="../media/image45.png"/><Relationship Id="rId55" Type="http://schemas.openxmlformats.org/officeDocument/2006/relationships/hyperlink" Target="mailto:moahmed.2119062@stemkalubya.moe.edu.eg" TargetMode="External"/><Relationship Id="rId63" Type="http://schemas.openxmlformats.org/officeDocument/2006/relationships/image" Target="../media/image52.jfif"/><Relationship Id="rId7" Type="http://schemas.openxmlformats.org/officeDocument/2006/relationships/image" Target="../media/image6.jfif"/><Relationship Id="rId2" Type="http://schemas.openxmlformats.org/officeDocument/2006/relationships/image" Target="../media/image1.jpg"/><Relationship Id="rId16" Type="http://schemas.openxmlformats.org/officeDocument/2006/relationships/image" Target="../media/image15.png"/><Relationship Id="rId29" Type="http://schemas.openxmlformats.org/officeDocument/2006/relationships/image" Target="../media/image28.svg"/><Relationship Id="rId11" Type="http://schemas.openxmlformats.org/officeDocument/2006/relationships/image" Target="../media/image10.svg"/><Relationship Id="rId24" Type="http://schemas.openxmlformats.org/officeDocument/2006/relationships/image" Target="../media/image23.png"/><Relationship Id="rId32" Type="http://schemas.openxmlformats.org/officeDocument/2006/relationships/image" Target="../media/image31.png"/><Relationship Id="rId37" Type="http://schemas.openxmlformats.org/officeDocument/2006/relationships/image" Target="../media/image36.svg"/><Relationship Id="rId40" Type="http://schemas.openxmlformats.org/officeDocument/2006/relationships/image" Target="../media/image39.png"/><Relationship Id="rId45" Type="http://schemas.openxmlformats.org/officeDocument/2006/relationships/hyperlink" Target="https://www.youtube.com/watch?v=St-0HWKAY4k" TargetMode="External"/><Relationship Id="rId53" Type="http://schemas.openxmlformats.org/officeDocument/2006/relationships/image" Target="../media/image48.png"/><Relationship Id="rId58" Type="http://schemas.openxmlformats.org/officeDocument/2006/relationships/image" Target="../media/image50.png"/><Relationship Id="rId5" Type="http://schemas.openxmlformats.org/officeDocument/2006/relationships/image" Target="../media/image4.png"/><Relationship Id="rId61" Type="http://schemas.openxmlformats.org/officeDocument/2006/relationships/image" Target="../media/image52.png"/><Relationship Id="rId19" Type="http://schemas.openxmlformats.org/officeDocument/2006/relationships/image" Target="../media/image1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 Id="rId30" Type="http://schemas.openxmlformats.org/officeDocument/2006/relationships/image" Target="../media/image29.png"/><Relationship Id="rId35" Type="http://schemas.openxmlformats.org/officeDocument/2006/relationships/image" Target="../media/image34.svg"/><Relationship Id="rId43" Type="http://schemas.openxmlformats.org/officeDocument/2006/relationships/hyperlink" Target="https://www.e-education.psu.edu/eme812/node/557" TargetMode="External"/><Relationship Id="rId48" Type="http://schemas.openxmlformats.org/officeDocument/2006/relationships/image" Target="../media/image43.png"/><Relationship Id="rId56" Type="http://schemas.openxmlformats.org/officeDocument/2006/relationships/hyperlink" Target="mailto:ramy.2119024@stemkalubya.moe.edu.eg" TargetMode="External"/><Relationship Id="rId64" Type="http://schemas.openxmlformats.org/officeDocument/2006/relationships/image" Target="../media/image55.png"/><Relationship Id="rId8" Type="http://schemas.openxmlformats.org/officeDocument/2006/relationships/image" Target="../media/image7.jfif"/><Relationship Id="rId51" Type="http://schemas.openxmlformats.org/officeDocument/2006/relationships/image" Target="../media/image46.png"/><Relationship Id="rId3" Type="http://schemas.openxmlformats.org/officeDocument/2006/relationships/image" Target="../media/image2.pn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33" Type="http://schemas.openxmlformats.org/officeDocument/2006/relationships/image" Target="../media/image32.svg"/><Relationship Id="rId38" Type="http://schemas.openxmlformats.org/officeDocument/2006/relationships/image" Target="../media/image37.png"/><Relationship Id="rId46" Type="http://schemas.openxmlformats.org/officeDocument/2006/relationships/hyperlink" Target="https://doi.org/10.29196/jubes.v26i6.1437" TargetMode="External"/><Relationship Id="rId59" Type="http://schemas.openxmlformats.org/officeDocument/2006/relationships/image" Target="../media/image51.png"/><Relationship Id="rId20" Type="http://schemas.openxmlformats.org/officeDocument/2006/relationships/image" Target="../media/image19.png"/><Relationship Id="rId41" Type="http://schemas.openxmlformats.org/officeDocument/2006/relationships/image" Target="../media/image40.png"/><Relationship Id="rId54" Type="http://schemas.openxmlformats.org/officeDocument/2006/relationships/hyperlink" Target="mailto:yousef.2119071@stemkalubya.moe.edu.eg" TargetMode="External"/><Relationship Id="rId62" Type="http://schemas.openxmlformats.org/officeDocument/2006/relationships/image" Target="../media/image51.jfif"/><Relationship Id="rId1" Type="http://schemas.openxmlformats.org/officeDocument/2006/relationships/slideLayout" Target="../slideLayouts/slideLayout1.xml"/><Relationship Id="rId6" Type="http://schemas.openxmlformats.org/officeDocument/2006/relationships/image" Target="../media/image5.jfif"/><Relationship Id="rId15" Type="http://schemas.openxmlformats.org/officeDocument/2006/relationships/image" Target="../media/image14.svg"/><Relationship Id="rId23" Type="http://schemas.openxmlformats.org/officeDocument/2006/relationships/image" Target="../media/image22.svg"/><Relationship Id="rId28" Type="http://schemas.openxmlformats.org/officeDocument/2006/relationships/image" Target="../media/image27.png"/><Relationship Id="rId36" Type="http://schemas.openxmlformats.org/officeDocument/2006/relationships/image" Target="../media/image35.png"/><Relationship Id="rId49" Type="http://schemas.openxmlformats.org/officeDocument/2006/relationships/image" Target="../media/image44.svg"/><Relationship Id="rId57" Type="http://schemas.openxmlformats.org/officeDocument/2006/relationships/image" Target="../media/image49.png"/><Relationship Id="rId10" Type="http://schemas.openxmlformats.org/officeDocument/2006/relationships/image" Target="../media/image9.png"/><Relationship Id="rId31" Type="http://schemas.openxmlformats.org/officeDocument/2006/relationships/image" Target="../media/image30.svg"/><Relationship Id="rId44" Type="http://schemas.openxmlformats.org/officeDocument/2006/relationships/hyperlink" Target="https://doi.org/10.1063/1.4807476" TargetMode="External"/><Relationship Id="rId52" Type="http://schemas.openxmlformats.org/officeDocument/2006/relationships/image" Target="../media/image47.png"/><Relationship Id="rId60" Type="http://schemas.openxmlformats.org/officeDocument/2006/relationships/chart" Target="../charts/chart1.xml"/><Relationship Id="rId65" Type="http://schemas.openxmlformats.org/officeDocument/2006/relationships/image" Target="../media/image53.png"/><Relationship Id="rId4" Type="http://schemas.openxmlformats.org/officeDocument/2006/relationships/image" Target="../media/image3.svg"/><Relationship Id="rId9" Type="http://schemas.openxmlformats.org/officeDocument/2006/relationships/image" Target="../media/image8.jfif"/><Relationship Id="rId13" Type="http://schemas.openxmlformats.org/officeDocument/2006/relationships/image" Target="../media/image12.svg"/><Relationship Id="rId18" Type="http://schemas.openxmlformats.org/officeDocument/2006/relationships/image" Target="../media/image17.png"/><Relationship Id="rId39" Type="http://schemas.openxmlformats.org/officeDocument/2006/relationships/image" Target="../media/image3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D3209F9-C2E3-49A4-80B1-2B00985DF8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13" y="-6087"/>
            <a:ext cx="39600188" cy="28795520"/>
          </a:xfrm>
          <a:prstGeom prst="rect">
            <a:avLst/>
          </a:prstGeom>
        </p:spPr>
      </p:pic>
      <p:sp>
        <p:nvSpPr>
          <p:cNvPr id="7" name="Rectangle: Rounded Corners 6">
            <a:extLst>
              <a:ext uri="{FF2B5EF4-FFF2-40B4-BE49-F238E27FC236}">
                <a16:creationId xmlns:a16="http://schemas.microsoft.com/office/drawing/2014/main" id="{1D505891-9EA3-49FA-BF01-3D15B28249C6}"/>
              </a:ext>
            </a:extLst>
          </p:cNvPr>
          <p:cNvSpPr/>
          <p:nvPr/>
        </p:nvSpPr>
        <p:spPr>
          <a:xfrm>
            <a:off x="9938735" y="4720718"/>
            <a:ext cx="9764204" cy="17629774"/>
          </a:xfrm>
          <a:prstGeom prst="roundRect">
            <a:avLst>
              <a:gd name="adj" fmla="val 4055"/>
            </a:avLst>
          </a:prstGeom>
          <a:solidFill>
            <a:schemeClr val="bg1">
              <a:lumMod val="50000"/>
              <a:alpha val="30000"/>
            </a:schemeClr>
          </a:solidFill>
          <a:ln w="76200">
            <a:solidFill>
              <a:srgbClr val="722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10" name="Rectangle: Rounded Corners 9">
            <a:extLst>
              <a:ext uri="{FF2B5EF4-FFF2-40B4-BE49-F238E27FC236}">
                <a16:creationId xmlns:a16="http://schemas.microsoft.com/office/drawing/2014/main" id="{206549BE-C18B-4291-BA3E-4BAF385AD09B}"/>
              </a:ext>
            </a:extLst>
          </p:cNvPr>
          <p:cNvSpPr/>
          <p:nvPr/>
        </p:nvSpPr>
        <p:spPr>
          <a:xfrm>
            <a:off x="191180" y="10849708"/>
            <a:ext cx="9575187" cy="9465414"/>
          </a:xfrm>
          <a:prstGeom prst="roundRect">
            <a:avLst>
              <a:gd name="adj" fmla="val 3285"/>
            </a:avLst>
          </a:prstGeom>
          <a:solidFill>
            <a:schemeClr val="bg1">
              <a:lumMod val="50000"/>
              <a:alpha val="30000"/>
            </a:schemeClr>
          </a:solidFill>
          <a:ln w="76200">
            <a:solidFill>
              <a:srgbClr val="722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Graphic 26">
            <a:extLst>
              <a:ext uri="{FF2B5EF4-FFF2-40B4-BE49-F238E27FC236}">
                <a16:creationId xmlns:a16="http://schemas.microsoft.com/office/drawing/2014/main" id="{2A140E4E-D25C-4E60-A9B5-44837F27F0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8514" y="10575023"/>
            <a:ext cx="6737248" cy="1010744"/>
          </a:xfrm>
          <a:prstGeom prst="rect">
            <a:avLst/>
          </a:prstGeom>
        </p:spPr>
      </p:pic>
      <p:sp>
        <p:nvSpPr>
          <p:cNvPr id="17" name="TextBox 16">
            <a:extLst>
              <a:ext uri="{FF2B5EF4-FFF2-40B4-BE49-F238E27FC236}">
                <a16:creationId xmlns:a16="http://schemas.microsoft.com/office/drawing/2014/main" id="{D6C90016-8DFA-43ED-9BE9-94732D2E05ED}"/>
              </a:ext>
            </a:extLst>
          </p:cNvPr>
          <p:cNvSpPr txBox="1"/>
          <p:nvPr/>
        </p:nvSpPr>
        <p:spPr>
          <a:xfrm>
            <a:off x="1527259" y="10384338"/>
            <a:ext cx="5369598" cy="1200329"/>
          </a:xfrm>
          <a:prstGeom prst="rect">
            <a:avLst/>
          </a:prstGeom>
          <a:noFill/>
        </p:spPr>
        <p:txBody>
          <a:bodyPr wrap="square" rtlCol="0">
            <a:spAutoFit/>
          </a:bodyPr>
          <a:lstStyle/>
          <a:p>
            <a:r>
              <a:rPr lang="en-US" sz="5400" dirty="0">
                <a:solidFill>
                  <a:srgbClr val="722326"/>
                </a:solidFill>
                <a:latin typeface="Book Antiqua" panose="02040602050305030304" pitchFamily="18" charset="0"/>
              </a:rPr>
              <a:t>Introduction</a:t>
            </a:r>
            <a:r>
              <a:rPr lang="en-US" sz="7200" dirty="0">
                <a:solidFill>
                  <a:srgbClr val="722326"/>
                </a:solidFill>
              </a:rPr>
              <a:t> </a:t>
            </a:r>
          </a:p>
        </p:txBody>
      </p:sp>
      <p:sp>
        <p:nvSpPr>
          <p:cNvPr id="2" name="TextBox 1">
            <a:extLst>
              <a:ext uri="{FF2B5EF4-FFF2-40B4-BE49-F238E27FC236}">
                <a16:creationId xmlns:a16="http://schemas.microsoft.com/office/drawing/2014/main" id="{EB1E2D9A-643F-4D75-BA9C-760107BE0041}"/>
              </a:ext>
            </a:extLst>
          </p:cNvPr>
          <p:cNvSpPr txBox="1"/>
          <p:nvPr/>
        </p:nvSpPr>
        <p:spPr>
          <a:xfrm>
            <a:off x="194515" y="11462151"/>
            <a:ext cx="9626908" cy="8894743"/>
          </a:xfrm>
          <a:prstGeom prst="rect">
            <a:avLst/>
          </a:prstGeom>
          <a:noFill/>
        </p:spPr>
        <p:txBody>
          <a:bodyPr wrap="square" rtlCol="0">
            <a:spAutoFit/>
          </a:bodyPr>
          <a:lstStyle/>
          <a:p>
            <a:r>
              <a:rPr lang="en-US" sz="3200"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	</a:t>
            </a:r>
            <a:r>
              <a:rPr lang="en-US" sz="32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N</a:t>
            </a:r>
            <a:r>
              <a:rPr lang="en-US" sz="2000" dirty="0">
                <a:latin typeface="Times New Roman" panose="02020603050405020304" pitchFamily="18" charset="0"/>
                <a:ea typeface="Calibri" panose="020F0502020204030204" pitchFamily="34" charset="0"/>
                <a:cs typeface="Times New Roman" panose="02020603050405020304" pitchFamily="18" charset="0"/>
              </a:rPr>
              <a:t>owadays, Egypt is facing a problem in the alternative energy overall because of many reasons starting with the persistent increase in the population, which increases the demand for every commodity that also needs a stable source of energy, but coal, natural gas, and oil all can run-up. Although fossil fuel is deemed an unrenewable source of energy, it also leads to many dangerous consequences like pollution in the atmosphere by emitting greenhouse gases and public health issues. Fossil fuel is considered not friendly to the environment as it pollutes. There are large abundance regions of unexploited resources in the arid areas with a large amount of sun rays and wind that could be recognized in the production or storage of this type of energy. Remarkably, the deployment of alternative energy is the best solution to the current problem.</a:t>
            </a:r>
          </a:p>
          <a:p>
            <a:r>
              <a:rPr lang="en-US" sz="2000" dirty="0">
                <a:latin typeface="Times New Roman" panose="02020603050405020304" pitchFamily="18" charset="0"/>
                <a:ea typeface="Calibri" panose="020F0502020204030204" pitchFamily="34" charset="0"/>
                <a:cs typeface="Times New Roman" panose="02020603050405020304" pitchFamily="18" charset="0"/>
              </a:rPr>
              <a:t>So, the current capstone challenge targets the communication and clean energy production, storing, or distribution, matching Egypt’s vision by 2030 for an affordable and clean energy source by exploiting the sun, wind, and hydroelectric power. Many prior solutions have been applied in Egypt and other countries in the field of communication and energy like the smart grids and other systems which are responsible for triggering alternative energy facilities, distributing the outcome energy to the customer, storing the over-limit energy, and reducing electricity losses in transmission, distribution with low costs for the client. However, the cost for such stations was high, and the latency period usually takes up much time, continuous need for maintenance, and also facing a high risk of being hacked. After analyzing the strengths and weaknesses of prior solutions, it was concluded that system security, appliance cost, and dependability or efficiency of the solution were the most critical requirements that needed to be addressed.</a:t>
            </a:r>
          </a:p>
          <a:p>
            <a:r>
              <a:rPr lang="en-US" sz="2000" dirty="0">
                <a:latin typeface="Times New Roman" panose="02020603050405020304" pitchFamily="18" charset="0"/>
                <a:ea typeface="Calibri" panose="020F0502020204030204" pitchFamily="34" charset="0"/>
                <a:cs typeface="Times New Roman" panose="02020603050405020304" pitchFamily="18" charset="0"/>
              </a:rPr>
              <a:t>Consequently, according to all of these data and the extensive investigation into various methods, the current solution was chosen in terms of its efficiency, form, and its application, so the parabolic trough will be done in minor heat storage in a closed system that would be applied by adding a reflecting plate that depends on the reflection of the sun rays on a tube containing fluid, so the fluid will be heated and stored in containers then pumped to the tube. The idea would occur by applying communication methods.</a:t>
            </a:r>
          </a:p>
        </p:txBody>
      </p:sp>
      <p:pic>
        <p:nvPicPr>
          <p:cNvPr id="6" name="Picture 5" descr="Icon&#10;&#10;Description automatically generated">
            <a:extLst>
              <a:ext uri="{FF2B5EF4-FFF2-40B4-BE49-F238E27FC236}">
                <a16:creationId xmlns:a16="http://schemas.microsoft.com/office/drawing/2014/main" id="{68BFD08A-1ACE-4A3D-860F-5C822BBAFD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4834" y="10604161"/>
            <a:ext cx="986449" cy="987856"/>
          </a:xfrm>
          <a:prstGeom prst="rect">
            <a:avLst/>
          </a:prstGeom>
        </p:spPr>
      </p:pic>
      <p:sp>
        <p:nvSpPr>
          <p:cNvPr id="66" name="Rectangle: Rounded Corners 65">
            <a:extLst>
              <a:ext uri="{FF2B5EF4-FFF2-40B4-BE49-F238E27FC236}">
                <a16:creationId xmlns:a16="http://schemas.microsoft.com/office/drawing/2014/main" id="{4A252B00-C4D3-4217-8BB8-6A821E7BBB00}"/>
              </a:ext>
            </a:extLst>
          </p:cNvPr>
          <p:cNvSpPr/>
          <p:nvPr/>
        </p:nvSpPr>
        <p:spPr>
          <a:xfrm>
            <a:off x="223278" y="20711708"/>
            <a:ext cx="9558050" cy="7884073"/>
          </a:xfrm>
          <a:prstGeom prst="roundRect">
            <a:avLst>
              <a:gd name="adj" fmla="val 2863"/>
            </a:avLst>
          </a:prstGeom>
          <a:solidFill>
            <a:schemeClr val="bg1">
              <a:lumMod val="50000"/>
              <a:alpha val="30000"/>
            </a:schemeClr>
          </a:solidFill>
          <a:ln w="76200">
            <a:solidFill>
              <a:srgbClr val="722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Rounded Corners 66">
            <a:extLst>
              <a:ext uri="{FF2B5EF4-FFF2-40B4-BE49-F238E27FC236}">
                <a16:creationId xmlns:a16="http://schemas.microsoft.com/office/drawing/2014/main" id="{7A420AA6-17D0-4AA4-90BE-DAA5092CBB8A}"/>
              </a:ext>
            </a:extLst>
          </p:cNvPr>
          <p:cNvSpPr/>
          <p:nvPr/>
        </p:nvSpPr>
        <p:spPr>
          <a:xfrm>
            <a:off x="19860348" y="4676269"/>
            <a:ext cx="9833570" cy="23919512"/>
          </a:xfrm>
          <a:prstGeom prst="roundRect">
            <a:avLst>
              <a:gd name="adj" fmla="val 3833"/>
            </a:avLst>
          </a:prstGeom>
          <a:solidFill>
            <a:schemeClr val="bg1">
              <a:lumMod val="50000"/>
              <a:alpha val="30000"/>
            </a:schemeClr>
          </a:solidFill>
          <a:ln w="76200">
            <a:solidFill>
              <a:srgbClr val="722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8" name="Rectangle: Rounded Corners 67">
            <a:extLst>
              <a:ext uri="{FF2B5EF4-FFF2-40B4-BE49-F238E27FC236}">
                <a16:creationId xmlns:a16="http://schemas.microsoft.com/office/drawing/2014/main" id="{FACDD512-38BE-4048-94DC-AE65DD6B7D04}"/>
              </a:ext>
            </a:extLst>
          </p:cNvPr>
          <p:cNvSpPr/>
          <p:nvPr/>
        </p:nvSpPr>
        <p:spPr>
          <a:xfrm>
            <a:off x="29794125" y="4073551"/>
            <a:ext cx="9699172" cy="4150977"/>
          </a:xfrm>
          <a:prstGeom prst="roundRect">
            <a:avLst>
              <a:gd name="adj" fmla="val 5496"/>
            </a:avLst>
          </a:prstGeom>
          <a:solidFill>
            <a:schemeClr val="bg1">
              <a:lumMod val="50000"/>
              <a:alpha val="30000"/>
            </a:schemeClr>
          </a:solidFill>
          <a:ln w="76200">
            <a:solidFill>
              <a:srgbClr val="722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 name="Graphic 70">
            <a:extLst>
              <a:ext uri="{FF2B5EF4-FFF2-40B4-BE49-F238E27FC236}">
                <a16:creationId xmlns:a16="http://schemas.microsoft.com/office/drawing/2014/main" id="{67ED5172-339E-4FAE-B382-73ABD5CB46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5816" y="20445294"/>
            <a:ext cx="6210327" cy="983381"/>
          </a:xfrm>
          <a:prstGeom prst="rect">
            <a:avLst/>
          </a:prstGeom>
        </p:spPr>
      </p:pic>
      <p:sp>
        <p:nvSpPr>
          <p:cNvPr id="74" name="AutoShape 2">
            <a:extLst>
              <a:ext uri="{FF2B5EF4-FFF2-40B4-BE49-F238E27FC236}">
                <a16:creationId xmlns:a16="http://schemas.microsoft.com/office/drawing/2014/main" id="{6572CE08-6DD0-44B5-A1ED-A91CB87A9B26}"/>
              </a:ext>
            </a:extLst>
          </p:cNvPr>
          <p:cNvSpPr>
            <a:spLocks noChangeAspect="1" noChangeArrowheads="1"/>
          </p:cNvSpPr>
          <p:nvPr/>
        </p:nvSpPr>
        <p:spPr bwMode="auto">
          <a:xfrm>
            <a:off x="19646900" y="142478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7" name="Picture 76" descr="A picture containing wall, indoor, floor, wooden&#10;&#10;Description automatically generated">
            <a:extLst>
              <a:ext uri="{FF2B5EF4-FFF2-40B4-BE49-F238E27FC236}">
                <a16:creationId xmlns:a16="http://schemas.microsoft.com/office/drawing/2014/main" id="{7D0DEEEC-9640-430B-BEC0-523576AF818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25632" y="5243876"/>
            <a:ext cx="2407804" cy="2338208"/>
          </a:xfrm>
          <a:prstGeom prst="rect">
            <a:avLst/>
          </a:prstGeom>
        </p:spPr>
      </p:pic>
      <p:sp>
        <p:nvSpPr>
          <p:cNvPr id="78" name="TextBox 77">
            <a:extLst>
              <a:ext uri="{FF2B5EF4-FFF2-40B4-BE49-F238E27FC236}">
                <a16:creationId xmlns:a16="http://schemas.microsoft.com/office/drawing/2014/main" id="{E26CC040-19FE-4345-B086-59491FD41E16}"/>
              </a:ext>
            </a:extLst>
          </p:cNvPr>
          <p:cNvSpPr txBox="1"/>
          <p:nvPr/>
        </p:nvSpPr>
        <p:spPr>
          <a:xfrm>
            <a:off x="9941687" y="5140325"/>
            <a:ext cx="7336066" cy="2062103"/>
          </a:xfrm>
          <a:prstGeom prst="rect">
            <a:avLst/>
          </a:prstGeom>
          <a:noFill/>
        </p:spPr>
        <p:txBody>
          <a:bodyPr wrap="square" rtlCol="0">
            <a:spAutoFit/>
          </a:bodyPr>
          <a:lstStyle/>
          <a:p>
            <a:r>
              <a:rPr lang="en-US" sz="2400" b="1" dirty="0">
                <a:solidFill>
                  <a:srgbClr val="0D5749"/>
                </a:solidFill>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It started by cutting the wood and forming the bases that the reflector will be fixed on with dimensions of 30 cm for the length and 50 cm and have cut half-circular shape with a diameter of 40 cm.</a:t>
            </a:r>
          </a:p>
          <a:p>
            <a:r>
              <a:rPr lang="en-US" sz="2400" b="1" dirty="0">
                <a:solidFill>
                  <a:srgbClr val="0D5749"/>
                </a:solidFill>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A circular hole was made in the bottom of each base on the half of it and at a length of 10 cm and put the wooden stick in it to work as an axis for the prototype to be rotated on, as shown in </a:t>
            </a:r>
            <a:r>
              <a:rPr lang="en-US" sz="2000" dirty="0">
                <a:solidFill>
                  <a:srgbClr val="0D5749"/>
                </a:solidFill>
                <a:latin typeface="Times New Roman" panose="02020603050405020304" pitchFamily="18" charset="0"/>
                <a:cs typeface="Times New Roman" panose="02020603050405020304" pitchFamily="18" charset="0"/>
              </a:rPr>
              <a:t>figure(1).</a:t>
            </a:r>
          </a:p>
        </p:txBody>
      </p:sp>
      <p:sp>
        <p:nvSpPr>
          <p:cNvPr id="79" name="TextBox 78">
            <a:extLst>
              <a:ext uri="{FF2B5EF4-FFF2-40B4-BE49-F238E27FC236}">
                <a16:creationId xmlns:a16="http://schemas.microsoft.com/office/drawing/2014/main" id="{C7841EE3-72E0-42AA-AFA3-C6C1B1CFF660}"/>
              </a:ext>
            </a:extLst>
          </p:cNvPr>
          <p:cNvSpPr txBox="1"/>
          <p:nvPr/>
        </p:nvSpPr>
        <p:spPr>
          <a:xfrm>
            <a:off x="9899583" y="7019887"/>
            <a:ext cx="7170931" cy="3262432"/>
          </a:xfrm>
          <a:prstGeom prst="rect">
            <a:avLst/>
          </a:prstGeom>
          <a:noFill/>
        </p:spPr>
        <p:txBody>
          <a:bodyPr wrap="square" rtlCol="0">
            <a:spAutoFit/>
          </a:bodyPr>
          <a:lstStyle/>
          <a:p>
            <a:r>
              <a:rPr lang="en-US" sz="2400" b="1" dirty="0">
                <a:solidFill>
                  <a:srgbClr val="0D5749"/>
                </a:solidFill>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The reflector plate was fixed on the bases and calculating the focus of the surface also a test was made to make sure that the place of the focus is correct by using laser by focusing it on the reflecting plate from many directions and making sure that the laser reflection from all the points meeting on the focus point as shown in </a:t>
            </a:r>
            <a:r>
              <a:rPr lang="en-US" sz="2000" dirty="0">
                <a:solidFill>
                  <a:srgbClr val="0D5749"/>
                </a:solidFill>
                <a:latin typeface="Times New Roman" panose="02020603050405020304" pitchFamily="18" charset="0"/>
                <a:cs typeface="Times New Roman" panose="02020603050405020304" pitchFamily="18" charset="0"/>
              </a:rPr>
              <a:t>figure(2). </a:t>
            </a:r>
          </a:p>
          <a:p>
            <a:r>
              <a:rPr lang="en-US" sz="24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4. </a:t>
            </a:r>
            <a:r>
              <a:rPr lang="en-US" sz="2000" dirty="0">
                <a:latin typeface="Times New Roman" panose="02020603050405020304" pitchFamily="18" charset="0"/>
                <a:ea typeface="Calibri" panose="020F0502020204030204" pitchFamily="34" charset="0"/>
                <a:cs typeface="Times New Roman" panose="02020603050405020304" pitchFamily="18" charset="0"/>
              </a:rPr>
              <a:t>Making an outer body for the bases from wood and making two wood parts on the beginning and the end of the reflecting surface and making a hole in them at 6.5 cm height from the surface (which is the focus point) and fixing the copper pipe in it.</a:t>
            </a:r>
          </a:p>
          <a:p>
            <a:endParaRPr lang="en-US" dirty="0"/>
          </a:p>
        </p:txBody>
      </p:sp>
      <p:pic>
        <p:nvPicPr>
          <p:cNvPr id="81" name="Picture 80" descr="A picture containing indoor, red, dark&#10;&#10;Description automatically generated">
            <a:extLst>
              <a:ext uri="{FF2B5EF4-FFF2-40B4-BE49-F238E27FC236}">
                <a16:creationId xmlns:a16="http://schemas.microsoft.com/office/drawing/2014/main" id="{7458D2B0-5A43-40F0-A63C-C0349F6D47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989571" y="7959677"/>
            <a:ext cx="2582480" cy="2159856"/>
          </a:xfrm>
          <a:prstGeom prst="rect">
            <a:avLst/>
          </a:prstGeom>
        </p:spPr>
      </p:pic>
      <p:sp>
        <p:nvSpPr>
          <p:cNvPr id="82" name="TextBox 81">
            <a:extLst>
              <a:ext uri="{FF2B5EF4-FFF2-40B4-BE49-F238E27FC236}">
                <a16:creationId xmlns:a16="http://schemas.microsoft.com/office/drawing/2014/main" id="{B14BDA12-B33A-4969-A082-B4661E17609D}"/>
              </a:ext>
            </a:extLst>
          </p:cNvPr>
          <p:cNvSpPr txBox="1"/>
          <p:nvPr/>
        </p:nvSpPr>
        <p:spPr>
          <a:xfrm>
            <a:off x="9900277" y="9826314"/>
            <a:ext cx="6797121" cy="6986528"/>
          </a:xfrm>
          <a:prstGeom prst="rect">
            <a:avLst/>
          </a:prstGeom>
          <a:noFill/>
        </p:spPr>
        <p:txBody>
          <a:bodyPr wrap="square" rtlCol="0">
            <a:spAutoFit/>
          </a:bodyPr>
          <a:lstStyle/>
          <a:p>
            <a:pPr>
              <a:spcAft>
                <a:spcPts val="800"/>
              </a:spcAft>
            </a:pPr>
            <a:r>
              <a:rPr lang="en-US" sz="24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5. </a:t>
            </a:r>
            <a:r>
              <a:rPr lang="en-US" sz="2000" dirty="0">
                <a:latin typeface="Times New Roman" panose="02020603050405020304" pitchFamily="18" charset="0"/>
                <a:ea typeface="Calibri" panose="020F0502020204030204" pitchFamily="34" charset="0"/>
                <a:cs typeface="Times New Roman" panose="02020603050405020304" pitchFamily="18" charset="0"/>
              </a:rPr>
              <a:t>Attaching the hosepipe to the copper pipe from its two ends and connecting it with the pump</a:t>
            </a:r>
          </a:p>
          <a:p>
            <a:pPr>
              <a:spcAft>
                <a:spcPts val="800"/>
              </a:spcAft>
            </a:pPr>
            <a:r>
              <a:rPr lang="en-US" sz="24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6. </a:t>
            </a:r>
            <a:r>
              <a:rPr lang="en-US" sz="2000" dirty="0">
                <a:latin typeface="Times New Roman" panose="02020603050405020304" pitchFamily="18" charset="0"/>
                <a:ea typeface="Calibri" panose="020F0502020204030204" pitchFamily="34" charset="0"/>
                <a:cs typeface="Times New Roman" panose="02020603050405020304" pitchFamily="18" charset="0"/>
              </a:rPr>
              <a:t>Putting the pump in the plastic bottle (which works as a container) and making a hole in the bottle to connect the other end of the hosepipe to the bottle  </a:t>
            </a:r>
          </a:p>
          <a:p>
            <a:pPr>
              <a:spcAft>
                <a:spcPts val="800"/>
              </a:spcAft>
            </a:pPr>
            <a:r>
              <a:rPr lang="en-US" sz="24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7. </a:t>
            </a:r>
            <a:r>
              <a:rPr lang="en-US" sz="2000" dirty="0">
                <a:latin typeface="Times New Roman" panose="02020603050405020304" pitchFamily="18" charset="0"/>
                <a:ea typeface="Calibri" panose="020F0502020204030204" pitchFamily="34" charset="0"/>
                <a:cs typeface="Times New Roman" panose="02020603050405020304" pitchFamily="18" charset="0"/>
              </a:rPr>
              <a:t>Connecting the pump with a 12-volt adaptor then connecting both to the relay </a:t>
            </a:r>
          </a:p>
          <a:p>
            <a:pPr>
              <a:spcAft>
                <a:spcPts val="800"/>
              </a:spcAft>
            </a:pPr>
            <a:r>
              <a:rPr lang="en-US" sz="24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8. </a:t>
            </a:r>
            <a:r>
              <a:rPr lang="en-US" sz="2000" dirty="0">
                <a:latin typeface="Times New Roman" panose="02020603050405020304" pitchFamily="18" charset="0"/>
                <a:ea typeface="Calibri" panose="020F0502020204030204" pitchFamily="34" charset="0"/>
                <a:cs typeface="Times New Roman" panose="02020603050405020304" pitchFamily="18" charset="0"/>
              </a:rPr>
              <a:t>Connecting the relay to the breadboard, which is connected to Arduino UNO, also connecting the Bluetooth to the board and then opening the Arduino software and starting writing the code for the pump </a:t>
            </a:r>
          </a:p>
          <a:p>
            <a:pPr>
              <a:spcAft>
                <a:spcPts val="800"/>
              </a:spcAft>
            </a:pPr>
            <a:r>
              <a:rPr lang="en-US" sz="24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9. </a:t>
            </a:r>
            <a:r>
              <a:rPr lang="en-US" sz="2000" dirty="0">
                <a:latin typeface="Times New Roman" panose="02020603050405020304" pitchFamily="18" charset="0"/>
                <a:ea typeface="Calibri" panose="020F0502020204030204" pitchFamily="34" charset="0"/>
                <a:cs typeface="Times New Roman" panose="02020603050405020304" pitchFamily="18" charset="0"/>
              </a:rPr>
              <a:t>Building a code for the pump that makes it work if it received "1" and stop if it received "0" from the Bluetooth module as shown in </a:t>
            </a:r>
            <a:r>
              <a:rPr lang="en-US" sz="2000"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figure(3).</a:t>
            </a:r>
          </a:p>
          <a:p>
            <a:pPr>
              <a:spcAft>
                <a:spcPts val="800"/>
              </a:spcAft>
            </a:pPr>
            <a:r>
              <a:rPr lang="en-US" sz="24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10. </a:t>
            </a:r>
            <a:r>
              <a:rPr lang="en-US" sz="2000" dirty="0">
                <a:latin typeface="Times New Roman" panose="02020603050405020304" pitchFamily="18" charset="0"/>
                <a:ea typeface="Calibri" panose="020F0502020204030204" pitchFamily="34" charset="0"/>
                <a:cs typeface="Times New Roman" panose="02020603050405020304" pitchFamily="18" charset="0"/>
              </a:rPr>
              <a:t>The stepper motor would be attached to the axis from one end and the other attaching the bearings.</a:t>
            </a:r>
          </a:p>
          <a:p>
            <a:pPr>
              <a:spcAft>
                <a:spcPts val="800"/>
              </a:spcAft>
            </a:pPr>
            <a:r>
              <a:rPr lang="en-US" sz="24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11. </a:t>
            </a:r>
            <a:r>
              <a:rPr lang="en-US" sz="2000" dirty="0">
                <a:latin typeface="Times New Roman" panose="02020603050405020304" pitchFamily="18" charset="0"/>
                <a:ea typeface="Calibri" panose="020F0502020204030204" pitchFamily="34" charset="0"/>
                <a:cs typeface="Times New Roman" panose="02020603050405020304" pitchFamily="18" charset="0"/>
              </a:rPr>
              <a:t>Connecting the stepper to the driver after that using the cables to connect the driver to the breadboard, which is connected to the Arduino UNO</a:t>
            </a:r>
          </a:p>
        </p:txBody>
      </p:sp>
      <p:sp>
        <p:nvSpPr>
          <p:cNvPr id="83" name="TextBox 82">
            <a:extLst>
              <a:ext uri="{FF2B5EF4-FFF2-40B4-BE49-F238E27FC236}">
                <a16:creationId xmlns:a16="http://schemas.microsoft.com/office/drawing/2014/main" id="{D0B77A53-D417-4B42-BBB6-6813B953D41A}"/>
              </a:ext>
            </a:extLst>
          </p:cNvPr>
          <p:cNvSpPr txBox="1"/>
          <p:nvPr/>
        </p:nvSpPr>
        <p:spPr>
          <a:xfrm>
            <a:off x="9900047" y="16647126"/>
            <a:ext cx="6623056" cy="3775393"/>
          </a:xfrm>
          <a:prstGeom prst="rect">
            <a:avLst/>
          </a:prstGeom>
          <a:noFill/>
        </p:spPr>
        <p:txBody>
          <a:bodyPr wrap="square" rtlCol="0">
            <a:spAutoFit/>
          </a:bodyPr>
          <a:lstStyle/>
          <a:p>
            <a:pPr>
              <a:spcAft>
                <a:spcPts val="800"/>
              </a:spcAft>
            </a:pPr>
            <a:r>
              <a:rPr lang="en-US" sz="24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12. </a:t>
            </a:r>
            <a:r>
              <a:rPr lang="en-US" sz="2000" dirty="0">
                <a:latin typeface="Times New Roman" panose="02020603050405020304" pitchFamily="18" charset="0"/>
                <a:ea typeface="Calibri" panose="020F0502020204030204" pitchFamily="34" charset="0"/>
                <a:cs typeface="Times New Roman" panose="02020603050405020304" pitchFamily="18" charset="0"/>
              </a:rPr>
              <a:t>Building a code for the stepper motor using Arduino software works according to sunrise and sunset, and it works to calculate the angle taken by the sun every hour to move the stepper motor work on this data.</a:t>
            </a:r>
          </a:p>
          <a:p>
            <a:pPr>
              <a:spcAft>
                <a:spcPts val="800"/>
              </a:spcAft>
            </a:pPr>
            <a:r>
              <a:rPr lang="en-US" sz="24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13. </a:t>
            </a:r>
            <a:r>
              <a:rPr lang="en-US" sz="2000" dirty="0">
                <a:latin typeface="Times New Roman" panose="02020603050405020304" pitchFamily="18" charset="0"/>
                <a:ea typeface="Calibri" panose="020F0502020204030204" pitchFamily="34" charset="0"/>
                <a:cs typeface="Times New Roman" panose="02020603050405020304" pitchFamily="18" charset="0"/>
              </a:rPr>
              <a:t>Building a sample mobile app using the MIT App inventor program has two buttons on and off; when clicking on it sends "1" to the Bluetooth module and then click off, it sends "0" to it. Also, it has another part with a picking list where the user can pick the day's date and send it to the Bluetooth module as shown in </a:t>
            </a:r>
            <a:r>
              <a:rPr lang="en-US" sz="2000"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figure(4).</a:t>
            </a:r>
          </a:p>
          <a:p>
            <a:endParaRPr lang="en-US" dirty="0"/>
          </a:p>
        </p:txBody>
      </p:sp>
      <p:pic>
        <p:nvPicPr>
          <p:cNvPr id="85" name="Picture 84" descr="Graphical user interface, text, application&#10;&#10;Description automatically generated with medium confidence">
            <a:extLst>
              <a:ext uri="{FF2B5EF4-FFF2-40B4-BE49-F238E27FC236}">
                <a16:creationId xmlns:a16="http://schemas.microsoft.com/office/drawing/2014/main" id="{CD96B6ED-4E3A-495B-BE4C-07619BD443E6}"/>
              </a:ext>
            </a:extLst>
          </p:cNvPr>
          <p:cNvPicPr>
            <a:picLocks noChangeAspect="1"/>
          </p:cNvPicPr>
          <p:nvPr/>
        </p:nvPicPr>
        <p:blipFill rotWithShape="1">
          <a:blip r:embed="rId8">
            <a:extLst>
              <a:ext uri="{28A0092B-C50C-407E-A947-70E740481C1C}">
                <a14:useLocalDpi xmlns:a14="http://schemas.microsoft.com/office/drawing/2010/main" val="0"/>
              </a:ext>
            </a:extLst>
          </a:blip>
          <a:srcRect r="44681"/>
          <a:stretch/>
        </p:blipFill>
        <p:spPr>
          <a:xfrm>
            <a:off x="16691500" y="10645415"/>
            <a:ext cx="2953210" cy="4405007"/>
          </a:xfrm>
          <a:prstGeom prst="rect">
            <a:avLst/>
          </a:prstGeom>
        </p:spPr>
      </p:pic>
      <p:pic>
        <p:nvPicPr>
          <p:cNvPr id="88" name="Picture 87" descr="Timeline&#10;&#10;Description automatically generated">
            <a:extLst>
              <a:ext uri="{FF2B5EF4-FFF2-40B4-BE49-F238E27FC236}">
                <a16:creationId xmlns:a16="http://schemas.microsoft.com/office/drawing/2014/main" id="{80AF9B74-8058-4BCE-9E6B-2B489FC70D3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507515" y="15638312"/>
            <a:ext cx="3112552" cy="3754008"/>
          </a:xfrm>
          <a:prstGeom prst="rect">
            <a:avLst/>
          </a:prstGeom>
        </p:spPr>
      </p:pic>
      <p:sp>
        <p:nvSpPr>
          <p:cNvPr id="89" name="TextBox 88">
            <a:extLst>
              <a:ext uri="{FF2B5EF4-FFF2-40B4-BE49-F238E27FC236}">
                <a16:creationId xmlns:a16="http://schemas.microsoft.com/office/drawing/2014/main" id="{D49B4987-3BF7-4E8A-85EF-7347920A4A3F}"/>
              </a:ext>
            </a:extLst>
          </p:cNvPr>
          <p:cNvSpPr txBox="1"/>
          <p:nvPr/>
        </p:nvSpPr>
        <p:spPr>
          <a:xfrm>
            <a:off x="10053379" y="20116344"/>
            <a:ext cx="9714945" cy="224676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There are main two test plans that have been done; in the first one, the prototype was fixed, did not contain a tracing system, on the surface in the north direction, the prototype takes a long time until it reached 10 degrees difference from. In the second test plan, the prototype was connected to the stepper motor, that make it able to move to trace the sun’s direction, the prototype was settled by an angle of 30.22 to the south which is Obour city's latitude, this test was held at 12 AM with a temperature of  17</a:t>
            </a:r>
            <a:r>
              <a:rPr lang="en-US" sz="2000" dirty="0">
                <a:effectLst/>
                <a:latin typeface="Times New Roman" panose="02020603050405020304" pitchFamily="18" charset="0"/>
                <a:ea typeface="Times New Roman" panose="02020603050405020304" pitchFamily="18" charset="0"/>
                <a:cs typeface="Arial" panose="020B0604020202020204" pitchFamily="34" charset="0"/>
              </a:rPr>
              <a:t>°c,</a:t>
            </a:r>
            <a:r>
              <a:rPr lang="en-US" sz="2000" dirty="0">
                <a:latin typeface="Times New Roman" panose="02020603050405020304" pitchFamily="18" charset="0"/>
                <a:cs typeface="Times New Roman" panose="02020603050405020304" pitchFamily="18" charset="0"/>
              </a:rPr>
              <a:t> at which reached 10 degrees difference in temperature, which took less time compared to the first trial.</a:t>
            </a:r>
          </a:p>
        </p:txBody>
      </p:sp>
      <p:sp>
        <p:nvSpPr>
          <p:cNvPr id="90" name="TextBox 89">
            <a:extLst>
              <a:ext uri="{FF2B5EF4-FFF2-40B4-BE49-F238E27FC236}">
                <a16:creationId xmlns:a16="http://schemas.microsoft.com/office/drawing/2014/main" id="{BB23FA06-D553-47C6-95F9-D4C8BAC66BF6}"/>
              </a:ext>
            </a:extLst>
          </p:cNvPr>
          <p:cNvSpPr txBox="1"/>
          <p:nvPr/>
        </p:nvSpPr>
        <p:spPr>
          <a:xfrm>
            <a:off x="13637016" y="19789400"/>
            <a:ext cx="2367643" cy="468077"/>
          </a:xfrm>
          <a:prstGeom prst="rect">
            <a:avLst/>
          </a:prstGeom>
          <a:noFill/>
        </p:spPr>
        <p:txBody>
          <a:bodyPr wrap="square" rtlCol="0">
            <a:spAutoFit/>
          </a:bodyPr>
          <a:lstStyle/>
          <a:p>
            <a:pPr marL="0" marR="0" algn="ctr">
              <a:lnSpc>
                <a:spcPct val="107000"/>
              </a:lnSpc>
              <a:spcBef>
                <a:spcPts val="0"/>
              </a:spcBef>
              <a:spcAft>
                <a:spcPts val="0"/>
              </a:spcAft>
            </a:pPr>
            <a:r>
              <a:rPr lang="en-US" sz="2300" b="1" u="sng"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Test plan</a:t>
            </a:r>
            <a:endParaRPr lang="en-US" sz="2300" dirty="0">
              <a:solidFill>
                <a:srgbClr val="0D5749"/>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94" name="Rectangle: Rounded Corners 93">
            <a:extLst>
              <a:ext uri="{FF2B5EF4-FFF2-40B4-BE49-F238E27FC236}">
                <a16:creationId xmlns:a16="http://schemas.microsoft.com/office/drawing/2014/main" id="{E5D946DC-D19C-4ED7-AB10-A304FD481BF9}"/>
              </a:ext>
            </a:extLst>
          </p:cNvPr>
          <p:cNvSpPr/>
          <p:nvPr/>
        </p:nvSpPr>
        <p:spPr>
          <a:xfrm>
            <a:off x="96451" y="4068660"/>
            <a:ext cx="9723359" cy="6411115"/>
          </a:xfrm>
          <a:prstGeom prst="roundRect">
            <a:avLst>
              <a:gd name="adj" fmla="val 4867"/>
            </a:avLst>
          </a:prstGeom>
          <a:solidFill>
            <a:schemeClr val="bg1">
              <a:lumMod val="50000"/>
              <a:alpha val="30000"/>
            </a:schemeClr>
          </a:solidFill>
          <a:ln w="76200">
            <a:solidFill>
              <a:srgbClr val="722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TextBox 96">
            <a:extLst>
              <a:ext uri="{FF2B5EF4-FFF2-40B4-BE49-F238E27FC236}">
                <a16:creationId xmlns:a16="http://schemas.microsoft.com/office/drawing/2014/main" id="{19DDEF3F-1ACC-40F7-AC01-AD0EE6630260}"/>
              </a:ext>
            </a:extLst>
          </p:cNvPr>
          <p:cNvSpPr txBox="1"/>
          <p:nvPr/>
        </p:nvSpPr>
        <p:spPr>
          <a:xfrm>
            <a:off x="175948" y="4480513"/>
            <a:ext cx="9692614" cy="6432530"/>
          </a:xfrm>
          <a:prstGeom prst="rect">
            <a:avLst/>
          </a:prstGeom>
          <a:noFill/>
        </p:spPr>
        <p:txBody>
          <a:bodyPr wrap="square" rtlCol="0">
            <a:spAutoFit/>
          </a:bodyPr>
          <a:lstStyle/>
          <a:p>
            <a:pPr marL="0" marR="0">
              <a:spcBef>
                <a:spcPts val="0"/>
              </a:spcBef>
              <a:spcAft>
                <a:spcPts val="800"/>
              </a:spcAft>
            </a:pPr>
            <a:r>
              <a:rPr lang="en-US" sz="3200" dirty="0">
                <a:solidFill>
                  <a:srgbClr val="0D574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a:solidFill>
                  <a:srgbClr val="0D5749"/>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rom the difficulties confronting and endangering Egypt's future is incomplete reliance on alternative energy resources, as the most fundamental source of generating electricity today is the combustion of fossil fuels, which results in dangerous consequences such as pollution of the atmosphere by emitting greenhouse gases, which affects public health issues; thus, the purpose of the current capstone project is to use alternative energy and connect it technologically.</a:t>
            </a:r>
          </a:p>
          <a:p>
            <a:pPr marL="0" marR="0">
              <a:spcBef>
                <a:spcPts val="0"/>
              </a:spcBef>
              <a:spcAft>
                <a:spcPts val="80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Due to the non-well exploitation of the sunlight, the selected solution is concluded in getting the maximum benefit from the thermal energy coming from the sun, which will produce a tremendous amount of power if exploited perfectly. The parabolic trough will collect the sun's rays. The system is developed as a closed system in storing heat energy. The system will be triggered automatically by a stepper motor connected with Arduino; to trace the sun's position in the daylight to increase efficiency. Consequently, after the water passes from the collector's pipe, the water would store in the container. After settling in the container towards the collector, it will be pumped again manually by the water pump to ensure that the fluid will not cool down. The used fluid was water in the test plan, following safety precautions. It achieved a difference of 10 degrees per seven minutes at a temperature of 17°C, with total heat energy of 28980 joules. </a:t>
            </a:r>
          </a:p>
          <a:p>
            <a:pPr marL="0" marR="0">
              <a:spcBef>
                <a:spcPts val="0"/>
              </a:spcBef>
              <a:spcAft>
                <a:spcPts val="80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By investigating the test plan results, the solution could achieve the chosen design requirements by calculating the mass flow rate to determine the velocity of the fluid correlates with the area of the pipe, and the whole system achieved a total efficiency ranging from 50% to 70% means that would be able to be applied in real life.</a:t>
            </a:r>
          </a:p>
          <a:p>
            <a:endParaRPr lang="en-US" dirty="0"/>
          </a:p>
        </p:txBody>
      </p:sp>
      <p:grpSp>
        <p:nvGrpSpPr>
          <p:cNvPr id="98" name="Group 97">
            <a:extLst>
              <a:ext uri="{FF2B5EF4-FFF2-40B4-BE49-F238E27FC236}">
                <a16:creationId xmlns:a16="http://schemas.microsoft.com/office/drawing/2014/main" id="{8FD25B12-1C19-4DB7-B7EF-C99743F9E5E4}"/>
              </a:ext>
            </a:extLst>
          </p:cNvPr>
          <p:cNvGrpSpPr/>
          <p:nvPr/>
        </p:nvGrpSpPr>
        <p:grpSpPr>
          <a:xfrm>
            <a:off x="121637" y="21583954"/>
            <a:ext cx="9909492" cy="6949207"/>
            <a:chOff x="121637" y="21583954"/>
            <a:chExt cx="9909492" cy="6949207"/>
          </a:xfrm>
        </p:grpSpPr>
        <p:pic>
          <p:nvPicPr>
            <p:cNvPr id="34" name="Graphic 33">
              <a:extLst>
                <a:ext uri="{FF2B5EF4-FFF2-40B4-BE49-F238E27FC236}">
                  <a16:creationId xmlns:a16="http://schemas.microsoft.com/office/drawing/2014/main" id="{CCE85426-A97A-4336-BEF2-39F29E61D97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1637" y="21607640"/>
              <a:ext cx="3094580" cy="1406627"/>
            </a:xfrm>
            <a:prstGeom prst="rect">
              <a:avLst/>
            </a:prstGeom>
          </p:spPr>
        </p:pic>
        <p:pic>
          <p:nvPicPr>
            <p:cNvPr id="36" name="Graphic 35">
              <a:extLst>
                <a:ext uri="{FF2B5EF4-FFF2-40B4-BE49-F238E27FC236}">
                  <a16:creationId xmlns:a16="http://schemas.microsoft.com/office/drawing/2014/main" id="{4D1CA932-4B27-46AB-B577-DD52BCD495F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533227" y="21585688"/>
              <a:ext cx="3173817" cy="1410585"/>
            </a:xfrm>
            <a:prstGeom prst="rect">
              <a:avLst/>
            </a:prstGeom>
          </p:spPr>
        </p:pic>
        <p:pic>
          <p:nvPicPr>
            <p:cNvPr id="38" name="Graphic 37">
              <a:extLst>
                <a:ext uri="{FF2B5EF4-FFF2-40B4-BE49-F238E27FC236}">
                  <a16:creationId xmlns:a16="http://schemas.microsoft.com/office/drawing/2014/main" id="{38D0918B-F0A1-46D7-8C9D-320AE9A8E76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530702" y="21583954"/>
              <a:ext cx="3005440" cy="1440964"/>
            </a:xfrm>
            <a:prstGeom prst="rect">
              <a:avLst/>
            </a:prstGeom>
          </p:spPr>
        </p:pic>
        <p:pic>
          <p:nvPicPr>
            <p:cNvPr id="40" name="Graphic 39">
              <a:extLst>
                <a:ext uri="{FF2B5EF4-FFF2-40B4-BE49-F238E27FC236}">
                  <a16:creationId xmlns:a16="http://schemas.microsoft.com/office/drawing/2014/main" id="{29CD783E-3CCB-4672-9726-688FF815EB3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05233" y="25725145"/>
              <a:ext cx="3338602" cy="1401629"/>
            </a:xfrm>
            <a:prstGeom prst="rect">
              <a:avLst/>
            </a:prstGeom>
          </p:spPr>
        </p:pic>
        <p:pic>
          <p:nvPicPr>
            <p:cNvPr id="42" name="Graphic 41">
              <a:extLst>
                <a:ext uri="{FF2B5EF4-FFF2-40B4-BE49-F238E27FC236}">
                  <a16:creationId xmlns:a16="http://schemas.microsoft.com/office/drawing/2014/main" id="{411E06E3-BBB1-4C6D-942F-EE4F73E562E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731572" y="25734672"/>
              <a:ext cx="3299557" cy="1393361"/>
            </a:xfrm>
            <a:prstGeom prst="rect">
              <a:avLst/>
            </a:prstGeom>
          </p:spPr>
        </p:pic>
        <p:pic>
          <p:nvPicPr>
            <p:cNvPr id="46" name="Graphic 45">
              <a:extLst>
                <a:ext uri="{FF2B5EF4-FFF2-40B4-BE49-F238E27FC236}">
                  <a16:creationId xmlns:a16="http://schemas.microsoft.com/office/drawing/2014/main" id="{2DAF1D81-F78F-4ED5-A89C-AAE487A1FFF7}"/>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783199" y="24410251"/>
              <a:ext cx="3218565" cy="1349099"/>
            </a:xfrm>
            <a:prstGeom prst="rect">
              <a:avLst/>
            </a:prstGeom>
          </p:spPr>
        </p:pic>
        <p:pic>
          <p:nvPicPr>
            <p:cNvPr id="48" name="Graphic 47">
              <a:extLst>
                <a:ext uri="{FF2B5EF4-FFF2-40B4-BE49-F238E27FC236}">
                  <a16:creationId xmlns:a16="http://schemas.microsoft.com/office/drawing/2014/main" id="{0F101F8F-2469-4732-B3AC-0DFEFE05F6BB}"/>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544066" y="24432807"/>
              <a:ext cx="3548989" cy="1405833"/>
            </a:xfrm>
            <a:prstGeom prst="rect">
              <a:avLst/>
            </a:prstGeom>
          </p:spPr>
        </p:pic>
        <p:pic>
          <p:nvPicPr>
            <p:cNvPr id="50" name="Graphic 49">
              <a:extLst>
                <a:ext uri="{FF2B5EF4-FFF2-40B4-BE49-F238E27FC236}">
                  <a16:creationId xmlns:a16="http://schemas.microsoft.com/office/drawing/2014/main" id="{D5CE7273-27CE-46B3-A3B4-003C58545145}"/>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747400" y="27149614"/>
              <a:ext cx="3009829" cy="1381562"/>
            </a:xfrm>
            <a:prstGeom prst="rect">
              <a:avLst/>
            </a:prstGeom>
          </p:spPr>
        </p:pic>
        <p:pic>
          <p:nvPicPr>
            <p:cNvPr id="52" name="Graphic 51">
              <a:extLst>
                <a:ext uri="{FF2B5EF4-FFF2-40B4-BE49-F238E27FC236}">
                  <a16:creationId xmlns:a16="http://schemas.microsoft.com/office/drawing/2014/main" id="{C2E34232-C1F8-4439-AD4D-92479968E8B2}"/>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29398" y="24388761"/>
              <a:ext cx="3032730" cy="1406628"/>
            </a:xfrm>
            <a:prstGeom prst="rect">
              <a:avLst/>
            </a:prstGeom>
          </p:spPr>
        </p:pic>
        <p:pic>
          <p:nvPicPr>
            <p:cNvPr id="54" name="Graphic 53">
              <a:extLst>
                <a:ext uri="{FF2B5EF4-FFF2-40B4-BE49-F238E27FC236}">
                  <a16:creationId xmlns:a16="http://schemas.microsoft.com/office/drawing/2014/main" id="{56672B9E-AA57-4844-AF32-E199FCFB67B9}"/>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596038" y="25536118"/>
              <a:ext cx="2877153" cy="1618399"/>
            </a:xfrm>
            <a:prstGeom prst="rect">
              <a:avLst/>
            </a:prstGeom>
          </p:spPr>
        </p:pic>
        <p:pic>
          <p:nvPicPr>
            <p:cNvPr id="60" name="Graphic 59">
              <a:extLst>
                <a:ext uri="{FF2B5EF4-FFF2-40B4-BE49-F238E27FC236}">
                  <a16:creationId xmlns:a16="http://schemas.microsoft.com/office/drawing/2014/main" id="{6226B9ED-731E-417A-BBB7-5E484D3203E7}"/>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271697" y="27123700"/>
              <a:ext cx="3032730" cy="1406628"/>
            </a:xfrm>
            <a:prstGeom prst="rect">
              <a:avLst/>
            </a:prstGeom>
          </p:spPr>
        </p:pic>
        <p:pic>
          <p:nvPicPr>
            <p:cNvPr id="44" name="Graphic 43">
              <a:extLst>
                <a:ext uri="{FF2B5EF4-FFF2-40B4-BE49-F238E27FC236}">
                  <a16:creationId xmlns:a16="http://schemas.microsoft.com/office/drawing/2014/main" id="{C08146EB-97B2-44FA-8354-4AE359959FD9}"/>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3087819" y="23037809"/>
              <a:ext cx="3807942" cy="1406627"/>
            </a:xfrm>
            <a:prstGeom prst="rect">
              <a:avLst/>
            </a:prstGeom>
          </p:spPr>
        </p:pic>
        <p:pic>
          <p:nvPicPr>
            <p:cNvPr id="56" name="Graphic 55">
              <a:extLst>
                <a:ext uri="{FF2B5EF4-FFF2-40B4-BE49-F238E27FC236}">
                  <a16:creationId xmlns:a16="http://schemas.microsoft.com/office/drawing/2014/main" id="{E662F72B-B5A3-4DA3-8C6D-D062F48EE0BB}"/>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6786030" y="22709161"/>
              <a:ext cx="3142037" cy="2035961"/>
            </a:xfrm>
            <a:prstGeom prst="rect">
              <a:avLst/>
            </a:prstGeom>
          </p:spPr>
        </p:pic>
        <p:pic>
          <p:nvPicPr>
            <p:cNvPr id="62" name="Graphic 61">
              <a:extLst>
                <a:ext uri="{FF2B5EF4-FFF2-40B4-BE49-F238E27FC236}">
                  <a16:creationId xmlns:a16="http://schemas.microsoft.com/office/drawing/2014/main" id="{11713094-C6CC-4E54-882C-60AE65455AF7}"/>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246792" y="22776396"/>
              <a:ext cx="3005440" cy="1673028"/>
            </a:xfrm>
            <a:prstGeom prst="rect">
              <a:avLst/>
            </a:prstGeom>
          </p:spPr>
        </p:pic>
        <p:pic>
          <p:nvPicPr>
            <p:cNvPr id="58" name="Graphic 57">
              <a:extLst>
                <a:ext uri="{FF2B5EF4-FFF2-40B4-BE49-F238E27FC236}">
                  <a16:creationId xmlns:a16="http://schemas.microsoft.com/office/drawing/2014/main" id="{1C7D3B19-143C-4D23-AB0A-5EA26ACA08A6}"/>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3540663" y="26914761"/>
              <a:ext cx="3009829" cy="1618400"/>
            </a:xfrm>
            <a:prstGeom prst="rect">
              <a:avLst/>
            </a:prstGeom>
          </p:spPr>
        </p:pic>
      </p:grpSp>
      <p:sp>
        <p:nvSpPr>
          <p:cNvPr id="100" name="TextBox 99">
            <a:extLst>
              <a:ext uri="{FF2B5EF4-FFF2-40B4-BE49-F238E27FC236}">
                <a16:creationId xmlns:a16="http://schemas.microsoft.com/office/drawing/2014/main" id="{80C93A64-2649-4B40-983A-63A8C0D520C8}"/>
              </a:ext>
            </a:extLst>
          </p:cNvPr>
          <p:cNvSpPr txBox="1"/>
          <p:nvPr/>
        </p:nvSpPr>
        <p:spPr>
          <a:xfrm>
            <a:off x="1514662" y="20480024"/>
            <a:ext cx="4866967" cy="1015663"/>
          </a:xfrm>
          <a:prstGeom prst="rect">
            <a:avLst/>
          </a:prstGeom>
          <a:noFill/>
        </p:spPr>
        <p:txBody>
          <a:bodyPr wrap="square" rtlCol="0">
            <a:spAutoFit/>
          </a:bodyPr>
          <a:lstStyle/>
          <a:p>
            <a:r>
              <a:rPr lang="en-US" sz="6000" dirty="0">
                <a:solidFill>
                  <a:srgbClr val="722326"/>
                </a:solidFill>
                <a:latin typeface="Book Antiqua" panose="02040602050305030304" pitchFamily="18" charset="0"/>
              </a:rPr>
              <a:t>Materials </a:t>
            </a:r>
          </a:p>
        </p:txBody>
      </p:sp>
      <p:pic>
        <p:nvPicPr>
          <p:cNvPr id="104" name="Picture 103" descr="A picture containing icon&#10;&#10;Description automatically generated">
            <a:extLst>
              <a:ext uri="{FF2B5EF4-FFF2-40B4-BE49-F238E27FC236}">
                <a16:creationId xmlns:a16="http://schemas.microsoft.com/office/drawing/2014/main" id="{DC43CA42-3181-456D-B250-560B86754F33}"/>
              </a:ext>
            </a:extLst>
          </p:cNvPr>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599322" y="20470660"/>
            <a:ext cx="881638" cy="881638"/>
          </a:xfrm>
          <a:prstGeom prst="rect">
            <a:avLst/>
          </a:prstGeom>
        </p:spPr>
      </p:pic>
      <p:sp>
        <p:nvSpPr>
          <p:cNvPr id="105" name="TextBox 104">
            <a:extLst>
              <a:ext uri="{FF2B5EF4-FFF2-40B4-BE49-F238E27FC236}">
                <a16:creationId xmlns:a16="http://schemas.microsoft.com/office/drawing/2014/main" id="{9E91845B-D22D-43B5-8130-93072251C2F1}"/>
              </a:ext>
            </a:extLst>
          </p:cNvPr>
          <p:cNvSpPr txBox="1"/>
          <p:nvPr/>
        </p:nvSpPr>
        <p:spPr>
          <a:xfrm>
            <a:off x="29772932" y="4561987"/>
            <a:ext cx="9773810" cy="3662541"/>
          </a:xfrm>
          <a:prstGeom prst="rect">
            <a:avLst/>
          </a:prstGeom>
          <a:noFill/>
        </p:spPr>
        <p:txBody>
          <a:bodyPr wrap="square" rtlCol="0">
            <a:spAutoFit/>
          </a:bodyPr>
          <a:lstStyle/>
          <a:p>
            <a:r>
              <a:rPr lang="en-US" sz="3200" b="1" dirty="0">
                <a:solidFill>
                  <a:srgbClr val="0D5749"/>
                </a:solidFill>
                <a:effectLst/>
                <a:latin typeface="Times New Roman" panose="02020603050405020304" pitchFamily="18" charset="0"/>
                <a:ea typeface="Calibri" panose="020F0502020204030204" pitchFamily="34" charset="0"/>
              </a:rPr>
              <a:t>	A</a:t>
            </a:r>
            <a:r>
              <a:rPr lang="en-US" sz="2000" dirty="0">
                <a:effectLst/>
                <a:latin typeface="Times New Roman" panose="02020603050405020304" pitchFamily="18" charset="0"/>
                <a:ea typeface="Calibri" panose="020F0502020204030204" pitchFamily="34" charset="0"/>
              </a:rPr>
              <a:t>fter we got our results, we concluded that we were able to increase the temperature of the water by collecting the heat energy from the sun by 10°c in only seven minutes with efficiency 52%. Also, we were able to reach the continuity for our project as we were able to build a tracing system on moving with the sun without the need for any light sensor, which was used in the previous solar panel projects. The light sensor can be less efficient because it can be distracted by any other light source. However, in our tracing system, it was different because it depends on adding data to an Arduino system that is needed to move the stepper motor with the angle that is needed to keep tracking the sun. Also, we used a pump. We connected it with the Arduino to move the water in the system when needed. Finally, the heat energy collected in a fluid could be used in many different ways as generating electricity or in any industry that needs heat in its processes as a source of heat.</a:t>
            </a:r>
            <a:endParaRPr lang="en-US" sz="2000" dirty="0"/>
          </a:p>
        </p:txBody>
      </p:sp>
      <p:pic>
        <p:nvPicPr>
          <p:cNvPr id="108" name="Graphic 107">
            <a:extLst>
              <a:ext uri="{FF2B5EF4-FFF2-40B4-BE49-F238E27FC236}">
                <a16:creationId xmlns:a16="http://schemas.microsoft.com/office/drawing/2014/main" id="{63BA9954-9C67-46E2-919A-7E40CB6B51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773214" y="3859128"/>
            <a:ext cx="5527935" cy="802793"/>
          </a:xfrm>
          <a:prstGeom prst="rect">
            <a:avLst/>
          </a:prstGeom>
        </p:spPr>
      </p:pic>
      <p:sp>
        <p:nvSpPr>
          <p:cNvPr id="63" name="Rectangle: Rounded Corners 62">
            <a:extLst>
              <a:ext uri="{FF2B5EF4-FFF2-40B4-BE49-F238E27FC236}">
                <a16:creationId xmlns:a16="http://schemas.microsoft.com/office/drawing/2014/main" id="{79AAE9D5-9523-4CF9-85DC-EB48D59D59C1}"/>
              </a:ext>
            </a:extLst>
          </p:cNvPr>
          <p:cNvSpPr/>
          <p:nvPr/>
        </p:nvSpPr>
        <p:spPr>
          <a:xfrm>
            <a:off x="29826157" y="8585653"/>
            <a:ext cx="9660736" cy="8526969"/>
          </a:xfrm>
          <a:prstGeom prst="roundRect">
            <a:avLst>
              <a:gd name="adj" fmla="val 3009"/>
            </a:avLst>
          </a:prstGeom>
          <a:solidFill>
            <a:schemeClr val="bg1">
              <a:lumMod val="50000"/>
              <a:alpha val="30000"/>
            </a:schemeClr>
          </a:solidFill>
          <a:ln w="76200">
            <a:solidFill>
              <a:srgbClr val="722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4" name="Graphic 63">
            <a:extLst>
              <a:ext uri="{FF2B5EF4-FFF2-40B4-BE49-F238E27FC236}">
                <a16:creationId xmlns:a16="http://schemas.microsoft.com/office/drawing/2014/main" id="{78F22D70-AA39-46EB-9F99-10CF7BD1DC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784077" y="8305228"/>
            <a:ext cx="6437101" cy="909559"/>
          </a:xfrm>
          <a:prstGeom prst="rect">
            <a:avLst/>
          </a:prstGeom>
        </p:spPr>
      </p:pic>
      <p:sp>
        <p:nvSpPr>
          <p:cNvPr id="3" name="TextBox 2">
            <a:extLst>
              <a:ext uri="{FF2B5EF4-FFF2-40B4-BE49-F238E27FC236}">
                <a16:creationId xmlns:a16="http://schemas.microsoft.com/office/drawing/2014/main" id="{5033D40F-E665-4DF5-BBB4-DBDF8BF8BE13}"/>
              </a:ext>
            </a:extLst>
          </p:cNvPr>
          <p:cNvSpPr txBox="1"/>
          <p:nvPr/>
        </p:nvSpPr>
        <p:spPr>
          <a:xfrm>
            <a:off x="29806981" y="9129893"/>
            <a:ext cx="9752617" cy="8025595"/>
          </a:xfrm>
          <a:prstGeom prst="rect">
            <a:avLst/>
          </a:prstGeom>
          <a:noFill/>
        </p:spPr>
        <p:txBody>
          <a:bodyPr wrap="square" rtlCol="0">
            <a:spAutoFit/>
          </a:bodyPr>
          <a:lstStyle/>
          <a:p>
            <a:pPr marL="0" marR="0">
              <a:lnSpc>
                <a:spcPct val="106000"/>
              </a:lnSpc>
              <a:spcBef>
                <a:spcPts val="0"/>
              </a:spcBef>
              <a:spcAft>
                <a:spcPts val="0"/>
              </a:spcAft>
            </a:pPr>
            <a:r>
              <a:rPr lang="en-US" sz="3200" b="1"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	D</a:t>
            </a:r>
            <a:r>
              <a:rPr lang="en-US" sz="2000" dirty="0">
                <a:solidFill>
                  <a:srgbClr val="0E101A"/>
                </a:solidFill>
                <a:effectLst/>
                <a:latin typeface="Times New Roman" panose="02020603050405020304" pitchFamily="18" charset="0"/>
                <a:ea typeface="Times New Roman" panose="02020603050405020304" pitchFamily="18" charset="0"/>
                <a:cs typeface="Arial" panose="020B0604020202020204" pitchFamily="34" charset="0"/>
              </a:rPr>
              <a:t>espite all the limitations we faced, our prototype succeeded in reaching our goal of improving the design of the parabolic trough to make it more efficient and make it more continuous by using modern technology like communication technology. We encountered some limitations that, unfortunately, we could not overcome problems, so we recommend that future researchers: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6000"/>
              </a:lnSpc>
              <a:spcBef>
                <a:spcPts val="0"/>
              </a:spcBef>
              <a:spcAft>
                <a:spcPts val="0"/>
              </a:spcAft>
              <a:buClr>
                <a:srgbClr val="0D5749"/>
              </a:buClr>
              <a:buSzPct val="120000"/>
              <a:buFont typeface="Arial" panose="020B0604020202020204" pitchFamily="34" charset="0"/>
              <a:buChar char="•"/>
              <a:tabLst>
                <a:tab pos="457200" algn="l"/>
              </a:tabLst>
            </a:pPr>
            <a:r>
              <a:rPr lang="en-US" sz="2000" dirty="0">
                <a:solidFill>
                  <a:srgbClr val="0E101A"/>
                </a:solidFill>
                <a:effectLst/>
                <a:latin typeface="Times New Roman" panose="02020603050405020304" pitchFamily="18" charset="0"/>
                <a:ea typeface="Times New Roman" panose="02020603050405020304" pitchFamily="18" charset="0"/>
                <a:cs typeface="Arial" panose="020B0604020202020204" pitchFamily="34" charset="0"/>
              </a:rPr>
              <a:t>Researching on using molten salt in the large-scale parabolic trough's power cells to work instead of water because it needs at least 500 degrees Celsius to be melted and can store the heat energy inside of it for up to 7 hours    </a:t>
            </a:r>
            <a:endParaRPr lang="en-US" sz="2000" dirty="0">
              <a:solidFill>
                <a:srgbClr val="0E101A"/>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6000"/>
              </a:lnSpc>
              <a:spcBef>
                <a:spcPts val="0"/>
              </a:spcBef>
              <a:spcAft>
                <a:spcPts val="0"/>
              </a:spcAft>
              <a:buClr>
                <a:srgbClr val="0D5749"/>
              </a:buClr>
              <a:buSzPct val="120000"/>
              <a:buFont typeface="Arial" panose="020B0604020202020204" pitchFamily="34" charset="0"/>
              <a:buChar char="•"/>
              <a:tabLst>
                <a:tab pos="457200" algn="l"/>
              </a:tabLst>
            </a:pPr>
            <a:r>
              <a:rPr lang="en-US" sz="2000" b="1"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2000" dirty="0">
                <a:solidFill>
                  <a:srgbClr val="0E101A"/>
                </a:solidFill>
                <a:effectLst/>
                <a:latin typeface="Times New Roman" panose="02020603050405020304" pitchFamily="18" charset="0"/>
                <a:ea typeface="Times New Roman" panose="02020603050405020304" pitchFamily="18" charset="0"/>
                <a:cs typeface="Arial" panose="020B0604020202020204" pitchFamily="34" charset="0"/>
              </a:rPr>
              <a:t>On a large scale, future researchers could connect to a climate center to provide the parabolic trough with the needed data and angles to make the tracing system work more accurate. </a:t>
            </a:r>
            <a:endParaRPr lang="en-US" sz="2000" dirty="0">
              <a:solidFill>
                <a:srgbClr val="0E101A"/>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6000"/>
              </a:lnSpc>
              <a:spcBef>
                <a:spcPts val="0"/>
              </a:spcBef>
              <a:spcAft>
                <a:spcPts val="0"/>
              </a:spcAft>
              <a:buClr>
                <a:srgbClr val="0D5749"/>
              </a:buClr>
              <a:buSzPct val="120000"/>
              <a:buFont typeface="Arial" panose="020B0604020202020204" pitchFamily="34" charset="0"/>
              <a:buChar char="•"/>
              <a:tabLst>
                <a:tab pos="457200" algn="l"/>
              </a:tabLst>
            </a:pPr>
            <a:r>
              <a:rPr lang="en-US" sz="2000" dirty="0">
                <a:solidFill>
                  <a:srgbClr val="0E101A"/>
                </a:solidFill>
                <a:effectLst/>
                <a:latin typeface="Times New Roman" panose="02020603050405020304" pitchFamily="18" charset="0"/>
                <a:ea typeface="Times New Roman" panose="02020603050405020304" pitchFamily="18" charset="0"/>
                <a:cs typeface="Arial" panose="020B0604020202020204" pitchFamily="34" charset="0"/>
              </a:rPr>
              <a:t>Provide the project with thermal insulation materials to maintain the water or fluid temperature in the system and prevent any energy loss that can occur in the system. materials as mineral wool, cellulose and fiberglass are practical examples of thermal insulation materials that we can use in the system</a:t>
            </a:r>
            <a:endParaRPr lang="en-US" sz="2000" dirty="0">
              <a:solidFill>
                <a:srgbClr val="0E101A"/>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6000"/>
              </a:lnSpc>
              <a:spcBef>
                <a:spcPts val="0"/>
              </a:spcBef>
              <a:spcAft>
                <a:spcPts val="0"/>
              </a:spcAft>
              <a:buClr>
                <a:srgbClr val="0D5749"/>
              </a:buClr>
              <a:buSzPct val="120000"/>
              <a:buFont typeface="Arial" panose="020B0604020202020204" pitchFamily="34" charset="0"/>
              <a:buChar char="•"/>
              <a:tabLst>
                <a:tab pos="457200" algn="l"/>
              </a:tabLst>
            </a:pPr>
            <a:r>
              <a:rPr lang="en-US" sz="2000" dirty="0">
                <a:solidFill>
                  <a:srgbClr val="0E101A"/>
                </a:solidFill>
                <a:effectLst/>
                <a:latin typeface="Times New Roman" panose="02020603050405020304" pitchFamily="18" charset="0"/>
                <a:ea typeface="Times New Roman" panose="02020603050405020304" pitchFamily="18" charset="0"/>
                <a:cs typeface="Arial" panose="020B0604020202020204" pitchFamily="34" charset="0"/>
              </a:rPr>
              <a:t>The best replacement for the water as fluid is molten salt, nanofluids, or oil, as they have more heat capacity than the water and do not lose heat faster.</a:t>
            </a:r>
            <a:endParaRPr lang="en-US" sz="2000" dirty="0">
              <a:solidFill>
                <a:srgbClr val="0E101A"/>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6000"/>
              </a:lnSpc>
              <a:spcBef>
                <a:spcPts val="0"/>
              </a:spcBef>
              <a:spcAft>
                <a:spcPts val="0"/>
              </a:spcAft>
              <a:buClr>
                <a:srgbClr val="0D5749"/>
              </a:buClr>
              <a:buSzPct val="120000"/>
              <a:buFont typeface="Arial" panose="020B0604020202020204" pitchFamily="34" charset="0"/>
              <a:buChar char="•"/>
              <a:tabLst>
                <a:tab pos="457200" algn="l"/>
              </a:tabLst>
            </a:pPr>
            <a:r>
              <a:rPr lang="en-US" sz="2000" dirty="0">
                <a:solidFill>
                  <a:srgbClr val="0E101A"/>
                </a:solidFill>
                <a:effectLst/>
                <a:latin typeface="Times New Roman" panose="02020603050405020304" pitchFamily="18" charset="0"/>
                <a:ea typeface="Times New Roman" panose="02020603050405020304" pitchFamily="18" charset="0"/>
                <a:cs typeface="Arial" panose="020B0604020202020204" pitchFamily="34" charset="0"/>
              </a:rPr>
              <a:t>providing thermal insulation containers to transport the heated fluid to any organization that will need this fluid is essential the large-scale</a:t>
            </a:r>
            <a:endParaRPr lang="en-US" sz="2000" dirty="0">
              <a:solidFill>
                <a:srgbClr val="0E101A"/>
              </a:solidFill>
              <a:effectLst/>
              <a:latin typeface="Calibri" panose="020F0502020204030204" pitchFamily="34" charset="0"/>
              <a:ea typeface="Calibri" panose="020F0502020204030204" pitchFamily="34" charset="0"/>
              <a:cs typeface="Arial" panose="020B0604020202020204" pitchFamily="34" charset="0"/>
            </a:endParaRPr>
          </a:p>
          <a:p>
            <a:pPr marL="342900" indent="-342900">
              <a:buClr>
                <a:srgbClr val="0D5749"/>
              </a:buClr>
              <a:buSzPct val="120000"/>
              <a:buFont typeface="Arial" panose="020B0604020202020204" pitchFamily="34" charset="0"/>
              <a:buChar char="•"/>
            </a:pPr>
            <a:r>
              <a:rPr lang="en-US" sz="2000" dirty="0">
                <a:solidFill>
                  <a:srgbClr val="0E101A"/>
                </a:solidFill>
                <a:effectLst/>
                <a:latin typeface="Times New Roman" panose="02020603050405020304" pitchFamily="18" charset="0"/>
                <a:ea typeface="Times New Roman" panose="02020603050405020304" pitchFamily="18" charset="0"/>
              </a:rPr>
              <a:t>As a large-scale project, safety is a property that should be considered; thus, researchers can use more than one water temperature sensor to read the difference between them and detect the fluid's temperature with higher accuracy. This procedure will increase the project's safety by closing the system and the water flow if the fluid temperature becomes too high to handle by the pipes. </a:t>
            </a:r>
            <a:r>
              <a:rPr lang="en-US" sz="2000" dirty="0">
                <a:solidFill>
                  <a:srgbClr val="0E101A"/>
                </a:solidFill>
                <a:latin typeface="Times New Roman" panose="02020603050405020304" pitchFamily="18" charset="0"/>
                <a:ea typeface="Times New Roman" panose="02020603050405020304" pitchFamily="18" charset="0"/>
              </a:rPr>
              <a:t>S</a:t>
            </a:r>
            <a:r>
              <a:rPr lang="en-US" sz="2000" dirty="0">
                <a:solidFill>
                  <a:srgbClr val="0E101A"/>
                </a:solidFill>
                <a:effectLst/>
                <a:latin typeface="Times New Roman" panose="02020603050405020304" pitchFamily="18" charset="0"/>
                <a:ea typeface="Times New Roman" panose="02020603050405020304" pitchFamily="18" charset="0"/>
              </a:rPr>
              <a:t>o, they can explode and cause damages to the system</a:t>
            </a:r>
            <a:endParaRPr lang="en-US" sz="2000" dirty="0"/>
          </a:p>
        </p:txBody>
      </p:sp>
      <p:sp>
        <p:nvSpPr>
          <p:cNvPr id="5" name="TextBox 4">
            <a:extLst>
              <a:ext uri="{FF2B5EF4-FFF2-40B4-BE49-F238E27FC236}">
                <a16:creationId xmlns:a16="http://schemas.microsoft.com/office/drawing/2014/main" id="{BAD55C78-9F2D-4010-A79E-799CE4087F37}"/>
              </a:ext>
            </a:extLst>
          </p:cNvPr>
          <p:cNvSpPr txBox="1"/>
          <p:nvPr/>
        </p:nvSpPr>
        <p:spPr>
          <a:xfrm>
            <a:off x="30870472" y="3868880"/>
            <a:ext cx="4275657" cy="769441"/>
          </a:xfrm>
          <a:prstGeom prst="rect">
            <a:avLst/>
          </a:prstGeom>
          <a:noFill/>
        </p:spPr>
        <p:txBody>
          <a:bodyPr wrap="square" rtlCol="0">
            <a:spAutoFit/>
          </a:bodyPr>
          <a:lstStyle/>
          <a:p>
            <a:r>
              <a:rPr lang="en-US" sz="4400" dirty="0">
                <a:solidFill>
                  <a:srgbClr val="722326"/>
                </a:solidFill>
                <a:latin typeface="Book Antiqua" panose="02040602050305030304" pitchFamily="18" charset="0"/>
              </a:rPr>
              <a:t>Conclusion</a:t>
            </a:r>
            <a:endParaRPr lang="en-US" sz="4800" dirty="0">
              <a:solidFill>
                <a:srgbClr val="722326"/>
              </a:solidFill>
              <a:latin typeface="Book Antiqua" panose="02040602050305030304" pitchFamily="18" charset="0"/>
            </a:endParaRPr>
          </a:p>
        </p:txBody>
      </p:sp>
      <p:pic>
        <p:nvPicPr>
          <p:cNvPr id="12" name="Picture 11" descr="Icon&#10;&#10;Description automatically generated">
            <a:extLst>
              <a:ext uri="{FF2B5EF4-FFF2-40B4-BE49-F238E27FC236}">
                <a16:creationId xmlns:a16="http://schemas.microsoft.com/office/drawing/2014/main" id="{E6C0AE53-3406-4E28-A6B0-191EE3C00490}"/>
              </a:ext>
            </a:extLst>
          </p:cNvPr>
          <p:cNvPicPr>
            <a:picLocks noChangeAspect="1"/>
          </p:cNvPicPr>
          <p:nvPr/>
        </p:nvPicPr>
        <p:blipFill>
          <a:blip r:embed="rId41">
            <a:extLst>
              <a:ext uri="{28A0092B-C50C-407E-A947-70E740481C1C}">
                <a14:useLocalDpi xmlns:a14="http://schemas.microsoft.com/office/drawing/2010/main" val="0"/>
              </a:ext>
            </a:extLst>
          </a:blip>
          <a:stretch>
            <a:fillRect/>
          </a:stretch>
        </p:blipFill>
        <p:spPr>
          <a:xfrm>
            <a:off x="30128171" y="3882451"/>
            <a:ext cx="742301" cy="742301"/>
          </a:xfrm>
          <a:prstGeom prst="rect">
            <a:avLst/>
          </a:prstGeom>
        </p:spPr>
      </p:pic>
      <p:sp>
        <p:nvSpPr>
          <p:cNvPr id="69" name="TextBox 68">
            <a:extLst>
              <a:ext uri="{FF2B5EF4-FFF2-40B4-BE49-F238E27FC236}">
                <a16:creationId xmlns:a16="http://schemas.microsoft.com/office/drawing/2014/main" id="{345EE08D-53A3-4F20-8239-751EBF7C895E}"/>
              </a:ext>
            </a:extLst>
          </p:cNvPr>
          <p:cNvSpPr txBox="1"/>
          <p:nvPr/>
        </p:nvSpPr>
        <p:spPr>
          <a:xfrm>
            <a:off x="30950394" y="8232862"/>
            <a:ext cx="6107485" cy="923330"/>
          </a:xfrm>
          <a:prstGeom prst="rect">
            <a:avLst/>
          </a:prstGeom>
          <a:noFill/>
        </p:spPr>
        <p:txBody>
          <a:bodyPr wrap="square" rtlCol="0">
            <a:spAutoFit/>
          </a:bodyPr>
          <a:lstStyle/>
          <a:p>
            <a:r>
              <a:rPr lang="en-US" sz="4000" dirty="0">
                <a:solidFill>
                  <a:srgbClr val="722326"/>
                </a:solidFill>
                <a:latin typeface="Book Antiqua" panose="02040602050305030304" pitchFamily="18" charset="0"/>
              </a:rPr>
              <a:t>Recommendations</a:t>
            </a:r>
            <a:r>
              <a:rPr lang="en-US" sz="5400" dirty="0">
                <a:solidFill>
                  <a:srgbClr val="722326"/>
                </a:solidFill>
                <a:latin typeface="Book Antiqua" panose="02040602050305030304" pitchFamily="18" charset="0"/>
              </a:rPr>
              <a:t> </a:t>
            </a:r>
            <a:endParaRPr lang="en-US" sz="6000" dirty="0">
              <a:solidFill>
                <a:srgbClr val="722326"/>
              </a:solidFill>
              <a:latin typeface="Book Antiqua" panose="02040602050305030304" pitchFamily="18" charset="0"/>
            </a:endParaRPr>
          </a:p>
        </p:txBody>
      </p:sp>
      <p:pic>
        <p:nvPicPr>
          <p:cNvPr id="19" name="Picture 18" descr="Icon&#10;&#10;Description automatically generated">
            <a:extLst>
              <a:ext uri="{FF2B5EF4-FFF2-40B4-BE49-F238E27FC236}">
                <a16:creationId xmlns:a16="http://schemas.microsoft.com/office/drawing/2014/main" id="{33E4AD79-67EE-4627-B122-0CD16884A83D}"/>
              </a:ext>
            </a:extLst>
          </p:cNvPr>
          <p:cNvPicPr>
            <a:picLocks noChangeAspect="1"/>
          </p:cNvPicPr>
          <p:nvPr/>
        </p:nvPicPr>
        <p:blipFill>
          <a:blip r:embed="rId42">
            <a:extLst>
              <a:ext uri="{28A0092B-C50C-407E-A947-70E740481C1C}">
                <a14:useLocalDpi xmlns:a14="http://schemas.microsoft.com/office/drawing/2010/main" val="0"/>
              </a:ext>
            </a:extLst>
          </a:blip>
          <a:stretch>
            <a:fillRect/>
          </a:stretch>
        </p:blipFill>
        <p:spPr>
          <a:xfrm>
            <a:off x="30142944" y="8369325"/>
            <a:ext cx="828206" cy="828206"/>
          </a:xfrm>
          <a:prstGeom prst="rect">
            <a:avLst/>
          </a:prstGeom>
        </p:spPr>
      </p:pic>
      <p:sp>
        <p:nvSpPr>
          <p:cNvPr id="75" name="Rectangle: Rounded Corners 74">
            <a:extLst>
              <a:ext uri="{FF2B5EF4-FFF2-40B4-BE49-F238E27FC236}">
                <a16:creationId xmlns:a16="http://schemas.microsoft.com/office/drawing/2014/main" id="{9A00C71C-2821-4377-859D-969A86CC32CF}"/>
              </a:ext>
            </a:extLst>
          </p:cNvPr>
          <p:cNvSpPr/>
          <p:nvPr/>
        </p:nvSpPr>
        <p:spPr>
          <a:xfrm>
            <a:off x="29852903" y="17445195"/>
            <a:ext cx="9640394" cy="5959911"/>
          </a:xfrm>
          <a:prstGeom prst="roundRect">
            <a:avLst>
              <a:gd name="adj" fmla="val 5003"/>
            </a:avLst>
          </a:prstGeom>
          <a:solidFill>
            <a:schemeClr val="bg1">
              <a:lumMod val="50000"/>
              <a:alpha val="30000"/>
            </a:schemeClr>
          </a:solidFill>
          <a:ln w="76200">
            <a:solidFill>
              <a:srgbClr val="722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Rounded Corners 75">
            <a:extLst>
              <a:ext uri="{FF2B5EF4-FFF2-40B4-BE49-F238E27FC236}">
                <a16:creationId xmlns:a16="http://schemas.microsoft.com/office/drawing/2014/main" id="{F9F5FE2E-1756-4696-8A6A-72FD2B4DDF4F}"/>
              </a:ext>
            </a:extLst>
          </p:cNvPr>
          <p:cNvSpPr/>
          <p:nvPr/>
        </p:nvSpPr>
        <p:spPr>
          <a:xfrm>
            <a:off x="29787721" y="23747506"/>
            <a:ext cx="9699172" cy="2352350"/>
          </a:xfrm>
          <a:prstGeom prst="roundRect">
            <a:avLst>
              <a:gd name="adj" fmla="val 13525"/>
            </a:avLst>
          </a:prstGeom>
          <a:solidFill>
            <a:schemeClr val="bg1">
              <a:lumMod val="50000"/>
              <a:alpha val="30000"/>
            </a:schemeClr>
          </a:solidFill>
          <a:ln w="76200">
            <a:solidFill>
              <a:srgbClr val="722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5D88F3AC-2959-4172-8BAE-4E236561D28E}"/>
              </a:ext>
            </a:extLst>
          </p:cNvPr>
          <p:cNvSpPr txBox="1"/>
          <p:nvPr/>
        </p:nvSpPr>
        <p:spPr>
          <a:xfrm>
            <a:off x="29831166" y="18065887"/>
            <a:ext cx="9655727" cy="5339219"/>
          </a:xfrm>
          <a:prstGeom prst="rect">
            <a:avLst/>
          </a:prstGeom>
          <a:noFill/>
        </p:spPr>
        <p:txBody>
          <a:bodyPr wrap="square" rtlCol="0">
            <a:spAutoFit/>
          </a:bodyPr>
          <a:lstStyle/>
          <a:p>
            <a:pPr marL="342900" marR="0" lvl="0" indent="-342900" rtl="0">
              <a:lnSpc>
                <a:spcPct val="107000"/>
              </a:lnSpc>
              <a:spcBef>
                <a:spcPts val="0"/>
              </a:spcBef>
              <a:spcAft>
                <a:spcPts val="0"/>
              </a:spcAft>
              <a:buClr>
                <a:srgbClr val="0D5749"/>
              </a:buClr>
              <a:buSzPct val="12000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Concentration with a parabolic reflector. 2.4 Concentration with a Parabolic Reflector | EME 812: Utility Solar Power and Concentration. (n.d.). Retrieved November 29, 2021. </a:t>
            </a:r>
          </a:p>
          <a:p>
            <a:pPr marL="2286000" marR="0">
              <a:lnSpc>
                <a:spcPct val="107000"/>
              </a:lnSpc>
              <a:spcBef>
                <a:spcPts val="0"/>
              </a:spcBef>
              <a:spcAft>
                <a:spcPts val="0"/>
              </a:spcAft>
              <a:buClr>
                <a:srgbClr val="0D5749"/>
              </a:buClr>
              <a:buSzPct val="120000"/>
            </a:pPr>
            <a:r>
              <a:rPr lang="en-US" sz="20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3"/>
              </a:rPr>
              <a:t>https://www.e-education.psu.edu/eme812/node/557</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Clr>
                <a:srgbClr val="0D5749"/>
              </a:buClr>
              <a:buSzPct val="120000"/>
              <a:buFont typeface="Arial" panose="020B0604020202020204" pitchFamily="34" charset="0"/>
              <a:buChar char="•"/>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Gama, A., </a:t>
            </a:r>
            <a:r>
              <a:rPr lang="en-US" sz="20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Larbes</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 Malek, A., </a:t>
            </a:r>
            <a:r>
              <a:rPr lang="en-US" sz="20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Yettou</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 &amp; </a:t>
            </a:r>
            <a:r>
              <a:rPr lang="en-US" sz="20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Adouane</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 (2013). Design and realization of a novel sun tracking system with absorber displacement for parabolic trough collectors. </a:t>
            </a:r>
            <a:r>
              <a:rPr lang="en-US" sz="20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Journal of Renewable and sustainable energy</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033108.</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2286000" marR="0">
              <a:lnSpc>
                <a:spcPct val="107000"/>
              </a:lnSpc>
              <a:spcBef>
                <a:spcPts val="0"/>
              </a:spcBef>
              <a:spcAft>
                <a:spcPts val="0"/>
              </a:spcAft>
              <a:buClr>
                <a:srgbClr val="0D5749"/>
              </a:buClr>
              <a:buSzPct val="120000"/>
            </a:pPr>
            <a:r>
              <a:rPr lang="en-US" sz="20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4"/>
              </a:rPr>
              <a:t>https://doi.org/10.1063/1.4807476</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Clr>
                <a:srgbClr val="0D5749"/>
              </a:buClr>
              <a:buSzPct val="120000"/>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GREENPOWERSCIENCE, (2010, October 22). DIY Parabolic Trough Mirror made in 20 minutes Stainless Steel Mirror free energy from the sun. [Video File].</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2286000" marR="0">
              <a:lnSpc>
                <a:spcPct val="107000"/>
              </a:lnSpc>
              <a:spcBef>
                <a:spcPts val="0"/>
              </a:spcBef>
              <a:spcAft>
                <a:spcPts val="0"/>
              </a:spcAft>
              <a:buClr>
                <a:srgbClr val="0D5749"/>
              </a:buClr>
              <a:buSzPct val="120000"/>
            </a:pPr>
            <a:r>
              <a:rPr lang="en-US" sz="2000" u="sng" dirty="0">
                <a:solidFill>
                  <a:srgbClr val="0563C1"/>
                </a:solidFill>
                <a:effectLst/>
                <a:latin typeface="Times New Roman" panose="02020603050405020304" pitchFamily="18" charset="0"/>
                <a:ea typeface="Times New Roman" panose="02020603050405020304" pitchFamily="18" charset="0"/>
                <a:cs typeface="Times New Roman" panose="02020603050405020304" pitchFamily="18" charset="0"/>
                <a:hlinkClick r:id="rId45"/>
              </a:rPr>
              <a:t>https://www.youtube.com/watch?v=St-0HWKAY4k</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Clr>
                <a:srgbClr val="0D5749"/>
              </a:buClr>
              <a:buSzPct val="120000"/>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Halliday, D., Resnick, R., &amp; Walker, J. (2013). </a:t>
            </a:r>
            <a:r>
              <a:rPr lang="en-US" sz="2000" i="1" dirty="0">
                <a:effectLst/>
                <a:latin typeface="Times New Roman" panose="02020603050405020304" pitchFamily="18" charset="0"/>
                <a:ea typeface="Times New Roman" panose="02020603050405020304" pitchFamily="18" charset="0"/>
                <a:cs typeface="Times New Roman" panose="02020603050405020304" pitchFamily="18" charset="0"/>
              </a:rPr>
              <a:t>Fundamentals of physics</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John Wiley &amp; Sons.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Clr>
                <a:srgbClr val="0D5749"/>
              </a:buClr>
              <a:buSzPct val="12000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Hamidi, S. T., Fattah, F. A., &amp;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Ghanam</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 S. (2018). Performance Improvement of the Parabolic Trough Solar Collector Using Different Types of Fluids with Numerical Simulation.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Journal of University of Babylon for Engineering Sciences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26</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(6), 332-347.</a:t>
            </a:r>
          </a:p>
          <a:p>
            <a:pPr marL="2286000" marR="0">
              <a:lnSpc>
                <a:spcPct val="107000"/>
              </a:lnSpc>
              <a:spcBef>
                <a:spcPts val="0"/>
              </a:spcBef>
              <a:spcAft>
                <a:spcPts val="800"/>
              </a:spcAft>
              <a:buClr>
                <a:srgbClr val="0D5749"/>
              </a:buClr>
              <a:buSzPct val="120000"/>
            </a:pPr>
            <a:r>
              <a:rPr lang="en-US" sz="20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6"/>
              </a:rPr>
              <a:t>https://doi.org/10.29196/jubes.v26i6.1437</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p:txBody>
      </p:sp>
      <p:pic>
        <p:nvPicPr>
          <p:cNvPr id="84" name="Graphic 83">
            <a:extLst>
              <a:ext uri="{FF2B5EF4-FFF2-40B4-BE49-F238E27FC236}">
                <a16:creationId xmlns:a16="http://schemas.microsoft.com/office/drawing/2014/main" id="{BF25E811-245B-4F08-86B7-32A2EE8657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813499" y="17194651"/>
            <a:ext cx="5817654" cy="914883"/>
          </a:xfrm>
          <a:prstGeom prst="rect">
            <a:avLst/>
          </a:prstGeom>
        </p:spPr>
      </p:pic>
      <p:sp>
        <p:nvSpPr>
          <p:cNvPr id="21" name="TextBox 20">
            <a:extLst>
              <a:ext uri="{FF2B5EF4-FFF2-40B4-BE49-F238E27FC236}">
                <a16:creationId xmlns:a16="http://schemas.microsoft.com/office/drawing/2014/main" id="{E285BFC2-AC44-41EE-A2CB-CF57855044E7}"/>
              </a:ext>
            </a:extLst>
          </p:cNvPr>
          <p:cNvSpPr txBox="1"/>
          <p:nvPr/>
        </p:nvSpPr>
        <p:spPr>
          <a:xfrm>
            <a:off x="31142479" y="17144260"/>
            <a:ext cx="4172494" cy="1015663"/>
          </a:xfrm>
          <a:prstGeom prst="rect">
            <a:avLst/>
          </a:prstGeom>
          <a:noFill/>
        </p:spPr>
        <p:txBody>
          <a:bodyPr wrap="square" rtlCol="0">
            <a:spAutoFit/>
          </a:bodyPr>
          <a:lstStyle/>
          <a:p>
            <a:r>
              <a:rPr lang="en-US" sz="6000" dirty="0">
                <a:solidFill>
                  <a:srgbClr val="722326"/>
                </a:solidFill>
                <a:latin typeface="Book Antiqua" panose="02040602050305030304" pitchFamily="18" charset="0"/>
              </a:rPr>
              <a:t>Citation</a:t>
            </a:r>
            <a:endParaRPr lang="en-US" dirty="0">
              <a:solidFill>
                <a:srgbClr val="722326"/>
              </a:solidFill>
              <a:latin typeface="Book Antiqua" panose="02040602050305030304" pitchFamily="18" charset="0"/>
            </a:endParaRPr>
          </a:p>
        </p:txBody>
      </p:sp>
      <p:pic>
        <p:nvPicPr>
          <p:cNvPr id="24" name="Picture 23">
            <a:extLst>
              <a:ext uri="{FF2B5EF4-FFF2-40B4-BE49-F238E27FC236}">
                <a16:creationId xmlns:a16="http://schemas.microsoft.com/office/drawing/2014/main" id="{7DE0D85F-67D7-4BE3-89DA-9B5ED6FB5D7A}"/>
              </a:ext>
            </a:extLst>
          </p:cNvPr>
          <p:cNvPicPr>
            <a:picLocks noChangeAspect="1"/>
          </p:cNvPicPr>
          <p:nvPr/>
        </p:nvPicPr>
        <p:blipFill>
          <a:blip r:embed="rId47">
            <a:extLst>
              <a:ext uri="{28A0092B-C50C-407E-A947-70E740481C1C}">
                <a14:useLocalDpi xmlns:a14="http://schemas.microsoft.com/office/drawing/2010/main" val="0"/>
              </a:ext>
            </a:extLst>
          </a:blip>
          <a:stretch>
            <a:fillRect/>
          </a:stretch>
        </p:blipFill>
        <p:spPr>
          <a:xfrm>
            <a:off x="30300845" y="17236854"/>
            <a:ext cx="839204" cy="839204"/>
          </a:xfrm>
          <a:prstGeom prst="rect">
            <a:avLst/>
          </a:prstGeom>
        </p:spPr>
      </p:pic>
      <p:sp>
        <p:nvSpPr>
          <p:cNvPr id="86" name="Rectangle: Rounded Corners 85">
            <a:extLst>
              <a:ext uri="{FF2B5EF4-FFF2-40B4-BE49-F238E27FC236}">
                <a16:creationId xmlns:a16="http://schemas.microsoft.com/office/drawing/2014/main" id="{73FD5F9F-CB4C-46E2-838C-611F5B353CE0}"/>
              </a:ext>
            </a:extLst>
          </p:cNvPr>
          <p:cNvSpPr/>
          <p:nvPr/>
        </p:nvSpPr>
        <p:spPr>
          <a:xfrm>
            <a:off x="9938310" y="22709161"/>
            <a:ext cx="9723359" cy="5886620"/>
          </a:xfrm>
          <a:prstGeom prst="roundRect">
            <a:avLst>
              <a:gd name="adj" fmla="val 4867"/>
            </a:avLst>
          </a:prstGeom>
          <a:solidFill>
            <a:schemeClr val="bg1">
              <a:lumMod val="50000"/>
              <a:alpha val="30000"/>
            </a:schemeClr>
          </a:solidFill>
          <a:ln w="76200">
            <a:solidFill>
              <a:srgbClr val="722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7" name="Graphic 86">
            <a:extLst>
              <a:ext uri="{FF2B5EF4-FFF2-40B4-BE49-F238E27FC236}">
                <a16:creationId xmlns:a16="http://schemas.microsoft.com/office/drawing/2014/main" id="{30EB8F8E-487B-4D95-8666-F5DF55FC55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92714" y="22454759"/>
            <a:ext cx="5300393" cy="939152"/>
          </a:xfrm>
          <a:prstGeom prst="rect">
            <a:avLst/>
          </a:prstGeom>
        </p:spPr>
      </p:pic>
      <p:sp>
        <p:nvSpPr>
          <p:cNvPr id="92" name="TextBox 91">
            <a:extLst>
              <a:ext uri="{FF2B5EF4-FFF2-40B4-BE49-F238E27FC236}">
                <a16:creationId xmlns:a16="http://schemas.microsoft.com/office/drawing/2014/main" id="{5BFC6517-E724-4665-A03B-BF914D4E7656}"/>
              </a:ext>
            </a:extLst>
          </p:cNvPr>
          <p:cNvSpPr txBox="1"/>
          <p:nvPr/>
        </p:nvSpPr>
        <p:spPr>
          <a:xfrm>
            <a:off x="11020764" y="22378251"/>
            <a:ext cx="3572398" cy="1107996"/>
          </a:xfrm>
          <a:prstGeom prst="rect">
            <a:avLst/>
          </a:prstGeom>
          <a:noFill/>
        </p:spPr>
        <p:txBody>
          <a:bodyPr wrap="square" rtlCol="0">
            <a:spAutoFit/>
          </a:bodyPr>
          <a:lstStyle/>
          <a:p>
            <a:r>
              <a:rPr lang="en-US" sz="4800" dirty="0">
                <a:solidFill>
                  <a:srgbClr val="722326"/>
                </a:solidFill>
                <a:latin typeface="Book Antiqua" panose="02040602050305030304" pitchFamily="18" charset="0"/>
              </a:rPr>
              <a:t>Results</a:t>
            </a:r>
            <a:r>
              <a:rPr lang="en-US" sz="6000" dirty="0">
                <a:solidFill>
                  <a:srgbClr val="722326"/>
                </a:solidFill>
                <a:latin typeface="Book Antiqua" panose="02040602050305030304" pitchFamily="18" charset="0"/>
              </a:rPr>
              <a:t> </a:t>
            </a:r>
            <a:r>
              <a:rPr lang="en-US" sz="6600" dirty="0">
                <a:solidFill>
                  <a:srgbClr val="722326"/>
                </a:solidFill>
              </a:rPr>
              <a:t> </a:t>
            </a:r>
            <a:endParaRPr lang="en-US" sz="4400" dirty="0">
              <a:solidFill>
                <a:srgbClr val="722326"/>
              </a:solidFill>
            </a:endParaRPr>
          </a:p>
        </p:txBody>
      </p:sp>
      <p:pic>
        <p:nvPicPr>
          <p:cNvPr id="22" name="Graphic 21">
            <a:extLst>
              <a:ext uri="{FF2B5EF4-FFF2-40B4-BE49-F238E27FC236}">
                <a16:creationId xmlns:a16="http://schemas.microsoft.com/office/drawing/2014/main" id="{125F4D6A-D5C4-42DB-86C7-FCAC1B28B7FD}"/>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3973662" y="24292817"/>
            <a:ext cx="5588201" cy="3528459"/>
          </a:xfrm>
          <a:prstGeom prst="rect">
            <a:avLst/>
          </a:prstGeom>
        </p:spPr>
      </p:pic>
      <p:sp>
        <p:nvSpPr>
          <p:cNvPr id="28" name="TextBox 27">
            <a:extLst>
              <a:ext uri="{FF2B5EF4-FFF2-40B4-BE49-F238E27FC236}">
                <a16:creationId xmlns:a16="http://schemas.microsoft.com/office/drawing/2014/main" id="{403840E8-5925-449F-B1A1-DC6A37CADA32}"/>
              </a:ext>
            </a:extLst>
          </p:cNvPr>
          <p:cNvSpPr txBox="1"/>
          <p:nvPr/>
        </p:nvSpPr>
        <p:spPr>
          <a:xfrm>
            <a:off x="9954154" y="24198854"/>
            <a:ext cx="4082962" cy="4386842"/>
          </a:xfrm>
          <a:prstGeom prst="rect">
            <a:avLst/>
          </a:prstGeom>
          <a:noFill/>
        </p:spPr>
        <p:txBody>
          <a:bodyPr wrap="square" rtlCol="0">
            <a:spAutoFit/>
          </a:bodyPr>
          <a:lstStyle/>
          <a:p>
            <a:pPr marL="0" marR="0">
              <a:lnSpc>
                <a:spcPct val="106000"/>
              </a:lnSpc>
              <a:spcBef>
                <a:spcPts val="0"/>
              </a:spcBef>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After correcting the mistakes that are done in the first trial, on the contrary, in the second trial, there was a tracing system as the intensity of sunlight on that day was good in latitude angle of Obour city which is 30.33 to the south. In the end, the test results in a day’s temperature of 17°C, could achieve a difference of 10 degrees in only seven minutes, as shown in the </a:t>
            </a:r>
            <a:r>
              <a:rPr lang="en-US" sz="2000" dirty="0">
                <a:solidFill>
                  <a:srgbClr val="0D5749"/>
                </a:solidFill>
                <a:effectLst/>
                <a:latin typeface="Times New Roman" panose="02020603050405020304" pitchFamily="18" charset="0"/>
                <a:ea typeface="Calibri" panose="020F0502020204030204" pitchFamily="34" charset="0"/>
                <a:cs typeface="Times New Roman" panose="02020603050405020304" pitchFamily="18" charset="0"/>
              </a:rPr>
              <a:t>graph(1).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second test plan produce approximately  28 kilojoules.</a:t>
            </a:r>
          </a:p>
          <a:p>
            <a:endParaRPr lang="en-US" dirty="0"/>
          </a:p>
        </p:txBody>
      </p:sp>
      <p:sp>
        <p:nvSpPr>
          <p:cNvPr id="99" name="TextBox 98">
            <a:extLst>
              <a:ext uri="{FF2B5EF4-FFF2-40B4-BE49-F238E27FC236}">
                <a16:creationId xmlns:a16="http://schemas.microsoft.com/office/drawing/2014/main" id="{B62B0C26-59EC-4C57-A63D-7CD06C7D9A63}"/>
              </a:ext>
            </a:extLst>
          </p:cNvPr>
          <p:cNvSpPr txBox="1"/>
          <p:nvPr/>
        </p:nvSpPr>
        <p:spPr>
          <a:xfrm>
            <a:off x="9962344" y="23387082"/>
            <a:ext cx="9764019" cy="1320170"/>
          </a:xfrm>
          <a:prstGeom prst="rect">
            <a:avLst/>
          </a:prstGeom>
          <a:noFill/>
        </p:spPr>
        <p:txBody>
          <a:bodyPr wrap="square" rtlCol="0">
            <a:spAutoFit/>
          </a:bodyPr>
          <a:lstStyle/>
          <a:p>
            <a:pPr marL="0" marR="0">
              <a:lnSpc>
                <a:spcPct val="106000"/>
              </a:lnSpc>
              <a:spcBef>
                <a:spcPts val="0"/>
              </a:spcBef>
              <a:spcAft>
                <a:spcPts val="800"/>
              </a:spcAft>
            </a:pPr>
            <a:r>
              <a:rPr lang="en-US" sz="2800" dirty="0">
                <a:solidFill>
                  <a:srgbClr val="0D5749"/>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a:solidFill>
                  <a:srgbClr val="0D5749"/>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n the first trial, the weather wasn’t good, and the system was fixed so, the water only reached a difference of 10℃ in 15 minutes which gave a negative result with low efficiency.</a:t>
            </a:r>
          </a:p>
          <a:p>
            <a:endParaRPr lang="en-US" dirty="0"/>
          </a:p>
        </p:txBody>
      </p:sp>
      <p:sp>
        <p:nvSpPr>
          <p:cNvPr id="29" name="TextBox 28">
            <a:extLst>
              <a:ext uri="{FF2B5EF4-FFF2-40B4-BE49-F238E27FC236}">
                <a16:creationId xmlns:a16="http://schemas.microsoft.com/office/drawing/2014/main" id="{B46A01C2-E7BD-4003-8FE3-61E1E5012553}"/>
              </a:ext>
            </a:extLst>
          </p:cNvPr>
          <p:cNvSpPr txBox="1"/>
          <p:nvPr/>
        </p:nvSpPr>
        <p:spPr>
          <a:xfrm>
            <a:off x="15193107" y="27797168"/>
            <a:ext cx="3609401" cy="584775"/>
          </a:xfrm>
          <a:prstGeom prst="rect">
            <a:avLst/>
          </a:prstGeom>
          <a:noFill/>
        </p:spPr>
        <p:txBody>
          <a:bodyPr wrap="square" rtlCol="0">
            <a:spAutoFit/>
          </a:bodyPr>
          <a:lstStyle/>
          <a:p>
            <a:pPr algn="ctr"/>
            <a:r>
              <a:rPr lang="en-US" sz="16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G</a:t>
            </a:r>
            <a:r>
              <a:rPr lang="en-US" sz="1600" b="1" dirty="0">
                <a:solidFill>
                  <a:srgbClr val="0D5749"/>
                </a:solidFill>
                <a:effectLst/>
                <a:latin typeface="Times New Roman" panose="02020603050405020304" pitchFamily="18" charset="0"/>
                <a:ea typeface="Calibri" panose="020F0502020204030204" pitchFamily="34" charset="0"/>
                <a:cs typeface="Times New Roman" panose="02020603050405020304" pitchFamily="18" charset="0"/>
              </a:rPr>
              <a:t>raph(1): difference between the two trials.</a:t>
            </a:r>
            <a:endParaRPr lang="en-US" sz="1600" b="1" dirty="0">
              <a:solidFill>
                <a:srgbClr val="0D5749"/>
              </a:solidFill>
            </a:endParaRPr>
          </a:p>
        </p:txBody>
      </p:sp>
      <p:sp>
        <p:nvSpPr>
          <p:cNvPr id="101" name="TextBox 100">
            <a:extLst>
              <a:ext uri="{FF2B5EF4-FFF2-40B4-BE49-F238E27FC236}">
                <a16:creationId xmlns:a16="http://schemas.microsoft.com/office/drawing/2014/main" id="{E40DDBD6-086C-470E-BF6E-7A8E8C33F29B}"/>
              </a:ext>
            </a:extLst>
          </p:cNvPr>
          <p:cNvSpPr txBox="1"/>
          <p:nvPr/>
        </p:nvSpPr>
        <p:spPr>
          <a:xfrm>
            <a:off x="16494497" y="19328092"/>
            <a:ext cx="3273529" cy="569387"/>
          </a:xfrm>
          <a:prstGeom prst="rect">
            <a:avLst/>
          </a:prstGeom>
          <a:noFill/>
        </p:spPr>
        <p:txBody>
          <a:bodyPr wrap="square" rtlCol="0">
            <a:spAutoFit/>
          </a:bodyPr>
          <a:lstStyle/>
          <a:p>
            <a:pPr algn="ctr"/>
            <a:r>
              <a:rPr lang="en-US" sz="155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Figure </a:t>
            </a:r>
            <a:r>
              <a:rPr lang="en-US" sz="1550" b="1" dirty="0">
                <a:solidFill>
                  <a:srgbClr val="0D5749"/>
                </a:solidFill>
                <a:effectLst/>
                <a:latin typeface="Times New Roman" panose="02020603050405020304" pitchFamily="18" charset="0"/>
                <a:ea typeface="Calibri" panose="020F0502020204030204" pitchFamily="34" charset="0"/>
                <a:cs typeface="Times New Roman" panose="02020603050405020304" pitchFamily="18" charset="0"/>
              </a:rPr>
              <a:t>(4): mobile application interface.</a:t>
            </a:r>
            <a:endParaRPr lang="en-US" sz="1550" b="1" dirty="0">
              <a:solidFill>
                <a:srgbClr val="0D5749"/>
              </a:solidFill>
            </a:endParaRPr>
          </a:p>
        </p:txBody>
      </p:sp>
      <p:pic>
        <p:nvPicPr>
          <p:cNvPr id="31" name="Picture 30" descr="Icon&#10;&#10;Description automatically generated">
            <a:extLst>
              <a:ext uri="{FF2B5EF4-FFF2-40B4-BE49-F238E27FC236}">
                <a16:creationId xmlns:a16="http://schemas.microsoft.com/office/drawing/2014/main" id="{3F401EA3-5F25-4812-A39A-3839F394A73B}"/>
              </a:ext>
            </a:extLst>
          </p:cNvPr>
          <p:cNvPicPr>
            <a:picLocks noChangeAspect="1"/>
          </p:cNvPicPr>
          <p:nvPr/>
        </p:nvPicPr>
        <p:blipFill>
          <a:blip r:embed="rId50">
            <a:extLst>
              <a:ext uri="{28A0092B-C50C-407E-A947-70E740481C1C}">
                <a14:useLocalDpi xmlns:a14="http://schemas.microsoft.com/office/drawing/2010/main" val="0"/>
              </a:ext>
            </a:extLst>
          </a:blip>
          <a:stretch>
            <a:fillRect/>
          </a:stretch>
        </p:blipFill>
        <p:spPr>
          <a:xfrm>
            <a:off x="10218270" y="22564330"/>
            <a:ext cx="728287" cy="728287"/>
          </a:xfrm>
          <a:prstGeom prst="rect">
            <a:avLst/>
          </a:prstGeom>
        </p:spPr>
      </p:pic>
      <p:sp>
        <p:nvSpPr>
          <p:cNvPr id="110" name="TextBox 109">
            <a:extLst>
              <a:ext uri="{FF2B5EF4-FFF2-40B4-BE49-F238E27FC236}">
                <a16:creationId xmlns:a16="http://schemas.microsoft.com/office/drawing/2014/main" id="{9791BCE6-1745-4DC2-8FAA-60F399FC3C08}"/>
              </a:ext>
            </a:extLst>
          </p:cNvPr>
          <p:cNvSpPr txBox="1"/>
          <p:nvPr/>
        </p:nvSpPr>
        <p:spPr>
          <a:xfrm>
            <a:off x="16604307" y="15067403"/>
            <a:ext cx="3248506" cy="584775"/>
          </a:xfrm>
          <a:prstGeom prst="rect">
            <a:avLst/>
          </a:prstGeom>
          <a:noFill/>
        </p:spPr>
        <p:txBody>
          <a:bodyPr wrap="square" rtlCol="0">
            <a:spAutoFit/>
          </a:bodyPr>
          <a:lstStyle/>
          <a:p>
            <a:pPr algn="ctr"/>
            <a:r>
              <a:rPr lang="en-US" sz="16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Figure </a:t>
            </a:r>
            <a:r>
              <a:rPr lang="en-US" sz="1600" b="1" dirty="0">
                <a:solidFill>
                  <a:srgbClr val="0D5749"/>
                </a:solidFill>
                <a:effectLst/>
                <a:latin typeface="Times New Roman" panose="02020603050405020304" pitchFamily="18" charset="0"/>
                <a:ea typeface="Calibri" panose="020F0502020204030204" pitchFamily="34" charset="0"/>
                <a:cs typeface="Times New Roman" panose="02020603050405020304" pitchFamily="18" charset="0"/>
              </a:rPr>
              <a:t>(3): code for pump switching.</a:t>
            </a:r>
            <a:endParaRPr lang="en-US" sz="1600" b="1" dirty="0">
              <a:solidFill>
                <a:srgbClr val="0D5749"/>
              </a:solidFill>
            </a:endParaRPr>
          </a:p>
        </p:txBody>
      </p:sp>
      <p:sp>
        <p:nvSpPr>
          <p:cNvPr id="111" name="TextBox 110">
            <a:extLst>
              <a:ext uri="{FF2B5EF4-FFF2-40B4-BE49-F238E27FC236}">
                <a16:creationId xmlns:a16="http://schemas.microsoft.com/office/drawing/2014/main" id="{F84DAA97-2A38-44EB-8676-9D1B02AB90F9}"/>
              </a:ext>
            </a:extLst>
          </p:cNvPr>
          <p:cNvSpPr txBox="1"/>
          <p:nvPr/>
        </p:nvSpPr>
        <p:spPr>
          <a:xfrm>
            <a:off x="16604306" y="10057525"/>
            <a:ext cx="3192205" cy="584775"/>
          </a:xfrm>
          <a:prstGeom prst="rect">
            <a:avLst/>
          </a:prstGeom>
          <a:noFill/>
        </p:spPr>
        <p:txBody>
          <a:bodyPr wrap="square" rtlCol="0">
            <a:spAutoFit/>
          </a:bodyPr>
          <a:lstStyle/>
          <a:p>
            <a:pPr algn="ctr"/>
            <a:r>
              <a:rPr lang="en-US" sz="16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Figure </a:t>
            </a:r>
            <a:r>
              <a:rPr lang="en-US" sz="1600" b="1" dirty="0">
                <a:solidFill>
                  <a:srgbClr val="0D5749"/>
                </a:solidFill>
                <a:effectLst/>
                <a:latin typeface="Times New Roman" panose="02020603050405020304" pitchFamily="18" charset="0"/>
                <a:ea typeface="Calibri" panose="020F0502020204030204" pitchFamily="34" charset="0"/>
                <a:cs typeface="Times New Roman" panose="02020603050405020304" pitchFamily="18" charset="0"/>
              </a:rPr>
              <a:t>(2): adjustment of the focus</a:t>
            </a:r>
            <a:endParaRPr lang="en-US" sz="1600" b="1" dirty="0">
              <a:solidFill>
                <a:srgbClr val="0D5749"/>
              </a:solidFill>
            </a:endParaRPr>
          </a:p>
        </p:txBody>
      </p:sp>
      <p:sp>
        <p:nvSpPr>
          <p:cNvPr id="112" name="TextBox 111">
            <a:extLst>
              <a:ext uri="{FF2B5EF4-FFF2-40B4-BE49-F238E27FC236}">
                <a16:creationId xmlns:a16="http://schemas.microsoft.com/office/drawing/2014/main" id="{4CD405B0-A230-4364-B246-E4395016DBF3}"/>
              </a:ext>
            </a:extLst>
          </p:cNvPr>
          <p:cNvSpPr txBox="1"/>
          <p:nvPr/>
        </p:nvSpPr>
        <p:spPr>
          <a:xfrm>
            <a:off x="17302670" y="7586241"/>
            <a:ext cx="2407804" cy="338554"/>
          </a:xfrm>
          <a:prstGeom prst="rect">
            <a:avLst/>
          </a:prstGeom>
          <a:noFill/>
        </p:spPr>
        <p:txBody>
          <a:bodyPr wrap="square" rtlCol="0">
            <a:spAutoFit/>
          </a:bodyPr>
          <a:lstStyle/>
          <a:p>
            <a:r>
              <a:rPr lang="en-US" sz="1600" b="1" dirty="0">
                <a:solidFill>
                  <a:srgbClr val="0D5749"/>
                </a:solidFill>
                <a:latin typeface="Times New Roman" panose="02020603050405020304" pitchFamily="18" charset="0"/>
                <a:ea typeface="Calibri" panose="020F0502020204030204" pitchFamily="34" charset="0"/>
                <a:cs typeface="Times New Roman" panose="02020603050405020304" pitchFamily="18" charset="0"/>
              </a:rPr>
              <a:t>Figure </a:t>
            </a:r>
            <a:r>
              <a:rPr lang="en-US" sz="1600" b="1" dirty="0">
                <a:solidFill>
                  <a:srgbClr val="0D5749"/>
                </a:solidFill>
                <a:effectLst/>
                <a:latin typeface="Times New Roman" panose="02020603050405020304" pitchFamily="18" charset="0"/>
                <a:ea typeface="Calibri" panose="020F0502020204030204" pitchFamily="34" charset="0"/>
                <a:cs typeface="Times New Roman" panose="02020603050405020304" pitchFamily="18" charset="0"/>
              </a:rPr>
              <a:t>(1): The prototype</a:t>
            </a:r>
            <a:endParaRPr lang="en-US" sz="1600" b="1" dirty="0">
              <a:solidFill>
                <a:srgbClr val="0D5749"/>
              </a:solidFill>
            </a:endParaRPr>
          </a:p>
        </p:txBody>
      </p:sp>
      <p:pic>
        <p:nvPicPr>
          <p:cNvPr id="113" name="Graphic 112">
            <a:extLst>
              <a:ext uri="{FF2B5EF4-FFF2-40B4-BE49-F238E27FC236}">
                <a16:creationId xmlns:a16="http://schemas.microsoft.com/office/drawing/2014/main" id="{FBD884C1-B264-4CF5-B7CC-1D0AA9D80A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63" y="3842360"/>
            <a:ext cx="5527935" cy="802793"/>
          </a:xfrm>
          <a:prstGeom prst="rect">
            <a:avLst/>
          </a:prstGeom>
        </p:spPr>
      </p:pic>
      <p:sp>
        <p:nvSpPr>
          <p:cNvPr id="80" name="TextBox 79">
            <a:extLst>
              <a:ext uri="{FF2B5EF4-FFF2-40B4-BE49-F238E27FC236}">
                <a16:creationId xmlns:a16="http://schemas.microsoft.com/office/drawing/2014/main" id="{02FAB3AD-01F0-492C-A0C0-32A3F993C7F2}"/>
              </a:ext>
            </a:extLst>
          </p:cNvPr>
          <p:cNvSpPr txBox="1"/>
          <p:nvPr/>
        </p:nvSpPr>
        <p:spPr>
          <a:xfrm>
            <a:off x="1197559" y="3733905"/>
            <a:ext cx="5369598" cy="923330"/>
          </a:xfrm>
          <a:prstGeom prst="rect">
            <a:avLst/>
          </a:prstGeom>
          <a:noFill/>
        </p:spPr>
        <p:txBody>
          <a:bodyPr wrap="square" rtlCol="0">
            <a:spAutoFit/>
          </a:bodyPr>
          <a:lstStyle/>
          <a:p>
            <a:r>
              <a:rPr lang="en-US" sz="5400" dirty="0">
                <a:solidFill>
                  <a:srgbClr val="722326"/>
                </a:solidFill>
                <a:latin typeface="Book Antiqua" panose="02040602050305030304" pitchFamily="18" charset="0"/>
              </a:rPr>
              <a:t>Abstract </a:t>
            </a:r>
            <a:endParaRPr lang="en-US" sz="7200" dirty="0">
              <a:solidFill>
                <a:srgbClr val="722326"/>
              </a:solidFill>
            </a:endParaRPr>
          </a:p>
        </p:txBody>
      </p:sp>
      <p:pic>
        <p:nvPicPr>
          <p:cNvPr id="15" name="Picture 14" descr="Icon&#10;&#10;Description automatically generated">
            <a:extLst>
              <a:ext uri="{FF2B5EF4-FFF2-40B4-BE49-F238E27FC236}">
                <a16:creationId xmlns:a16="http://schemas.microsoft.com/office/drawing/2014/main" id="{069D72A1-9B2B-4015-93F1-A54C588F4D2B}"/>
              </a:ext>
            </a:extLst>
          </p:cNvPr>
          <p:cNvPicPr>
            <a:picLocks noChangeAspect="1"/>
          </p:cNvPicPr>
          <p:nvPr/>
        </p:nvPicPr>
        <p:blipFill>
          <a:blip r:embed="rId51">
            <a:extLst>
              <a:ext uri="{28A0092B-C50C-407E-A947-70E740481C1C}">
                <a14:useLocalDpi xmlns:a14="http://schemas.microsoft.com/office/drawing/2010/main" val="0"/>
              </a:ext>
            </a:extLst>
          </a:blip>
          <a:stretch>
            <a:fillRect/>
          </a:stretch>
        </p:blipFill>
        <p:spPr>
          <a:xfrm>
            <a:off x="492989" y="3880570"/>
            <a:ext cx="681417" cy="681417"/>
          </a:xfrm>
          <a:prstGeom prst="rect">
            <a:avLst/>
          </a:prstGeom>
        </p:spPr>
      </p:pic>
      <p:pic>
        <p:nvPicPr>
          <p:cNvPr id="114" name="Graphic 113">
            <a:extLst>
              <a:ext uri="{FF2B5EF4-FFF2-40B4-BE49-F238E27FC236}">
                <a16:creationId xmlns:a16="http://schemas.microsoft.com/office/drawing/2014/main" id="{19D2B7E0-6A38-4CB4-9FB5-40E219D90D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747309" y="23516544"/>
            <a:ext cx="5527935" cy="802793"/>
          </a:xfrm>
          <a:prstGeom prst="rect">
            <a:avLst/>
          </a:prstGeom>
        </p:spPr>
      </p:pic>
      <p:sp>
        <p:nvSpPr>
          <p:cNvPr id="115" name="Rectangle: Rounded Corners 114">
            <a:extLst>
              <a:ext uri="{FF2B5EF4-FFF2-40B4-BE49-F238E27FC236}">
                <a16:creationId xmlns:a16="http://schemas.microsoft.com/office/drawing/2014/main" id="{FFD1BC9C-3847-4438-BAC4-170CCC6C5663}"/>
              </a:ext>
            </a:extLst>
          </p:cNvPr>
          <p:cNvSpPr/>
          <p:nvPr/>
        </p:nvSpPr>
        <p:spPr>
          <a:xfrm>
            <a:off x="29869903" y="26443376"/>
            <a:ext cx="9699172" cy="2137946"/>
          </a:xfrm>
          <a:prstGeom prst="roundRect">
            <a:avLst>
              <a:gd name="adj" fmla="val 13525"/>
            </a:avLst>
          </a:prstGeom>
          <a:solidFill>
            <a:schemeClr val="bg1">
              <a:lumMod val="50000"/>
              <a:alpha val="30000"/>
            </a:schemeClr>
          </a:solidFill>
          <a:ln w="76200">
            <a:solidFill>
              <a:srgbClr val="722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6" name="Graphic 115">
            <a:extLst>
              <a:ext uri="{FF2B5EF4-FFF2-40B4-BE49-F238E27FC236}">
                <a16:creationId xmlns:a16="http://schemas.microsoft.com/office/drawing/2014/main" id="{D0F1E1C6-59B9-4187-B1A8-4197C79551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840998" y="26213087"/>
            <a:ext cx="8174058" cy="802793"/>
          </a:xfrm>
          <a:prstGeom prst="rect">
            <a:avLst/>
          </a:prstGeom>
        </p:spPr>
      </p:pic>
      <p:pic>
        <p:nvPicPr>
          <p:cNvPr id="117" name="Graphic 116">
            <a:extLst>
              <a:ext uri="{FF2B5EF4-FFF2-40B4-BE49-F238E27FC236}">
                <a16:creationId xmlns:a16="http://schemas.microsoft.com/office/drawing/2014/main" id="{D6EBD315-B185-44CC-862E-E856341454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1736" y="4505697"/>
            <a:ext cx="5527935" cy="746410"/>
          </a:xfrm>
          <a:prstGeom prst="rect">
            <a:avLst/>
          </a:prstGeom>
        </p:spPr>
      </p:pic>
      <p:sp>
        <p:nvSpPr>
          <p:cNvPr id="91" name="TextBox 90">
            <a:extLst>
              <a:ext uri="{FF2B5EF4-FFF2-40B4-BE49-F238E27FC236}">
                <a16:creationId xmlns:a16="http://schemas.microsoft.com/office/drawing/2014/main" id="{8D0CC105-F987-45C6-8CBD-1AB79F5F54A7}"/>
              </a:ext>
            </a:extLst>
          </p:cNvPr>
          <p:cNvSpPr txBox="1"/>
          <p:nvPr/>
        </p:nvSpPr>
        <p:spPr>
          <a:xfrm>
            <a:off x="11148423" y="4244934"/>
            <a:ext cx="3572398" cy="1107996"/>
          </a:xfrm>
          <a:prstGeom prst="rect">
            <a:avLst/>
          </a:prstGeom>
          <a:noFill/>
        </p:spPr>
        <p:txBody>
          <a:bodyPr wrap="square" rtlCol="0">
            <a:spAutoFit/>
          </a:bodyPr>
          <a:lstStyle/>
          <a:p>
            <a:r>
              <a:rPr lang="en-US" sz="4800" dirty="0">
                <a:solidFill>
                  <a:srgbClr val="722326"/>
                </a:solidFill>
                <a:latin typeface="Book Antiqua" panose="02040602050305030304" pitchFamily="18" charset="0"/>
              </a:rPr>
              <a:t>Methods</a:t>
            </a:r>
            <a:r>
              <a:rPr lang="en-US" sz="6600" dirty="0">
                <a:solidFill>
                  <a:srgbClr val="722326"/>
                </a:solidFill>
              </a:rPr>
              <a:t> </a:t>
            </a:r>
            <a:endParaRPr lang="en-US" sz="4400" dirty="0">
              <a:solidFill>
                <a:srgbClr val="722326"/>
              </a:solidFill>
            </a:endParaRPr>
          </a:p>
        </p:txBody>
      </p:sp>
      <p:pic>
        <p:nvPicPr>
          <p:cNvPr id="93" name="Picture 92">
            <a:extLst>
              <a:ext uri="{FF2B5EF4-FFF2-40B4-BE49-F238E27FC236}">
                <a16:creationId xmlns:a16="http://schemas.microsoft.com/office/drawing/2014/main" id="{ADAD556B-62FB-4130-B9E7-ABEB6F808548}"/>
              </a:ext>
            </a:extLst>
          </p:cNvPr>
          <p:cNvPicPr>
            <a:picLocks noChangeAspect="1"/>
          </p:cNvPicPr>
          <p:nvPr/>
        </p:nvPicPr>
        <p:blipFill>
          <a:blip r:embed="rId52">
            <a:extLst>
              <a:ext uri="{28A0092B-C50C-407E-A947-70E740481C1C}">
                <a14:useLocalDpi xmlns:a14="http://schemas.microsoft.com/office/drawing/2010/main" val="0"/>
              </a:ext>
            </a:extLst>
          </a:blip>
          <a:stretch>
            <a:fillRect/>
          </a:stretch>
        </p:blipFill>
        <p:spPr>
          <a:xfrm flipH="1">
            <a:off x="10268562" y="4561987"/>
            <a:ext cx="707707" cy="707707"/>
          </a:xfrm>
          <a:prstGeom prst="rect">
            <a:avLst/>
          </a:prstGeom>
        </p:spPr>
      </p:pic>
      <p:sp>
        <p:nvSpPr>
          <p:cNvPr id="35" name="TextBox 34">
            <a:extLst>
              <a:ext uri="{FF2B5EF4-FFF2-40B4-BE49-F238E27FC236}">
                <a16:creationId xmlns:a16="http://schemas.microsoft.com/office/drawing/2014/main" id="{1CECFAB1-9B6D-45B3-9B17-A247163EA869}"/>
              </a:ext>
            </a:extLst>
          </p:cNvPr>
          <p:cNvSpPr txBox="1"/>
          <p:nvPr/>
        </p:nvSpPr>
        <p:spPr>
          <a:xfrm>
            <a:off x="31072782" y="26245550"/>
            <a:ext cx="5463963" cy="707886"/>
          </a:xfrm>
          <a:prstGeom prst="rect">
            <a:avLst/>
          </a:prstGeom>
          <a:noFill/>
        </p:spPr>
        <p:txBody>
          <a:bodyPr wrap="square" rtlCol="0">
            <a:spAutoFit/>
          </a:bodyPr>
          <a:lstStyle/>
          <a:p>
            <a:r>
              <a:rPr lang="en-US" sz="4000" dirty="0">
                <a:solidFill>
                  <a:srgbClr val="722326"/>
                </a:solidFill>
                <a:latin typeface="Book Antiqua" panose="02040602050305030304" pitchFamily="18" charset="0"/>
                <a:cs typeface="Times New Roman" panose="02020603050405020304" pitchFamily="18" charset="0"/>
              </a:rPr>
              <a:t>For further information </a:t>
            </a:r>
          </a:p>
        </p:txBody>
      </p:sp>
      <p:pic>
        <p:nvPicPr>
          <p:cNvPr id="39" name="Picture 38" descr="A picture containing icon&#10;&#10;Description automatically generated">
            <a:extLst>
              <a:ext uri="{FF2B5EF4-FFF2-40B4-BE49-F238E27FC236}">
                <a16:creationId xmlns:a16="http://schemas.microsoft.com/office/drawing/2014/main" id="{050BEC4A-062A-4ED8-8A7C-BC8449146388}"/>
              </a:ext>
            </a:extLst>
          </p:cNvPr>
          <p:cNvPicPr>
            <a:picLocks noChangeAspect="1"/>
          </p:cNvPicPr>
          <p:nvPr/>
        </p:nvPicPr>
        <p:blipFill>
          <a:blip r:embed="rId53">
            <a:extLst>
              <a:ext uri="{28A0092B-C50C-407E-A947-70E740481C1C}">
                <a14:useLocalDpi xmlns:a14="http://schemas.microsoft.com/office/drawing/2010/main" val="0"/>
              </a:ext>
            </a:extLst>
          </a:blip>
          <a:stretch>
            <a:fillRect/>
          </a:stretch>
        </p:blipFill>
        <p:spPr>
          <a:xfrm>
            <a:off x="30364838" y="26296337"/>
            <a:ext cx="606312" cy="606312"/>
          </a:xfrm>
          <a:prstGeom prst="rect">
            <a:avLst/>
          </a:prstGeom>
        </p:spPr>
      </p:pic>
      <p:sp>
        <p:nvSpPr>
          <p:cNvPr id="43" name="TextBox 42">
            <a:extLst>
              <a:ext uri="{FF2B5EF4-FFF2-40B4-BE49-F238E27FC236}">
                <a16:creationId xmlns:a16="http://schemas.microsoft.com/office/drawing/2014/main" id="{F8E2CBAE-048F-4546-B1C7-18C89EA6AB1D}"/>
              </a:ext>
            </a:extLst>
          </p:cNvPr>
          <p:cNvSpPr txBox="1"/>
          <p:nvPr/>
        </p:nvSpPr>
        <p:spPr>
          <a:xfrm>
            <a:off x="30203366" y="27149614"/>
            <a:ext cx="8893659" cy="193899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Yousef Ahmed: </a:t>
            </a:r>
            <a:r>
              <a:rPr lang="en-US" sz="2400" dirty="0">
                <a:latin typeface="Times New Roman" panose="02020603050405020304" pitchFamily="18" charset="0"/>
                <a:cs typeface="Times New Roman" panose="02020603050405020304" pitchFamily="18" charset="0"/>
                <a:hlinkClick r:id="rId54"/>
              </a:rPr>
              <a:t>yousef.2119071@stemkalubya.moe.edu.eg</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Mohamed Haitham: </a:t>
            </a:r>
            <a:r>
              <a:rPr lang="en-US" sz="2400" dirty="0">
                <a:latin typeface="Times New Roman" panose="02020603050405020304" pitchFamily="18" charset="0"/>
                <a:cs typeface="Times New Roman" panose="02020603050405020304" pitchFamily="18" charset="0"/>
                <a:hlinkClick r:id="rId55"/>
              </a:rPr>
              <a:t>moahmed.2119062@stemkalubya.moe.edu.eg</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Ramy Said: </a:t>
            </a:r>
            <a:r>
              <a:rPr lang="en-US" sz="2400" dirty="0">
                <a:latin typeface="Times New Roman" panose="02020603050405020304" pitchFamily="18" charset="0"/>
                <a:cs typeface="Times New Roman" panose="02020603050405020304" pitchFamily="18" charset="0"/>
                <a:hlinkClick r:id="rId56"/>
              </a:rPr>
              <a:t>ramy.2119024@stemkalubya.moe.edu.eg</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E8D5F4AB-C19E-4DC9-9A1E-70BA044EB1D9}"/>
              </a:ext>
            </a:extLst>
          </p:cNvPr>
          <p:cNvSpPr txBox="1"/>
          <p:nvPr/>
        </p:nvSpPr>
        <p:spPr>
          <a:xfrm>
            <a:off x="29853911" y="24213948"/>
            <a:ext cx="9673394" cy="1815882"/>
          </a:xfrm>
          <a:prstGeom prst="rect">
            <a:avLst/>
          </a:prstGeom>
          <a:noFill/>
        </p:spPr>
        <p:txBody>
          <a:bodyPr wrap="square" rtlCol="0">
            <a:spAutoFit/>
          </a:bodyPr>
          <a:lstStyle/>
          <a:p>
            <a:r>
              <a:rPr lang="en-US" sz="3200" dirty="0">
                <a:solidFill>
                  <a:srgbClr val="0D5749"/>
                </a:solidFill>
                <a:latin typeface="Times New Roman" panose="02020603050405020304" pitchFamily="18" charset="0"/>
                <a:cs typeface="Times New Roman" panose="02020603050405020304" pitchFamily="18" charset="0"/>
              </a:rPr>
              <a:t>	</a:t>
            </a:r>
            <a:r>
              <a:rPr lang="en-US" sz="3200" b="1" dirty="0">
                <a:solidFill>
                  <a:srgbClr val="0D5749"/>
                </a:solidFill>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his work could not have been possible without the crucial help of </a:t>
            </a:r>
            <a:r>
              <a:rPr lang="en-US" sz="2000" dirty="0" err="1">
                <a:latin typeface="Times New Roman" panose="02020603050405020304" pitchFamily="18" charset="0"/>
                <a:cs typeface="Times New Roman" panose="02020603050405020304" pitchFamily="18" charset="0"/>
              </a:rPr>
              <a:t>Dr.Essam</a:t>
            </a:r>
            <a:r>
              <a:rPr lang="en-US" sz="2000" dirty="0">
                <a:latin typeface="Times New Roman" panose="02020603050405020304" pitchFamily="18" charset="0"/>
                <a:cs typeface="Times New Roman" panose="02020603050405020304" pitchFamily="18" charset="0"/>
              </a:rPr>
              <a:t> El-</a:t>
            </a:r>
            <a:r>
              <a:rPr lang="en-US" sz="2000" dirty="0" err="1">
                <a:latin typeface="Times New Roman" panose="02020603050405020304" pitchFamily="18" charset="0"/>
                <a:cs typeface="Times New Roman" panose="02020603050405020304" pitchFamily="18" charset="0"/>
              </a:rPr>
              <a:t>sayed</a:t>
            </a:r>
            <a:r>
              <a:rPr lang="en-US" sz="2000" dirty="0">
                <a:latin typeface="Times New Roman" panose="02020603050405020304" pitchFamily="18" charset="0"/>
                <a:cs typeface="Times New Roman" panose="02020603050405020304" pitchFamily="18" charset="0"/>
              </a:rPr>
              <a:t> from NREA ( New and Renewable Energy Authority) and his crew. Also big thanks to Mr. Faisal Abo-</a:t>
            </a:r>
            <a:r>
              <a:rPr lang="en-US" sz="2000" dirty="0" err="1">
                <a:latin typeface="Times New Roman" panose="02020603050405020304" pitchFamily="18" charset="0"/>
                <a:cs typeface="Times New Roman" panose="02020603050405020304" pitchFamily="18" charset="0"/>
              </a:rPr>
              <a:t>eleinen</a:t>
            </a:r>
            <a:r>
              <a:rPr lang="en-US" sz="2000" dirty="0">
                <a:latin typeface="Times New Roman" panose="02020603050405020304" pitchFamily="18" charset="0"/>
                <a:cs typeface="Times New Roman" panose="02020603050405020304" pitchFamily="18" charset="0"/>
              </a:rPr>
              <a:t> and Mr. gad El-</a:t>
            </a:r>
            <a:r>
              <a:rPr lang="en-US" sz="2000" dirty="0" err="1">
                <a:latin typeface="Times New Roman" panose="02020603050405020304" pitchFamily="18" charset="0"/>
                <a:cs typeface="Times New Roman" panose="02020603050405020304" pitchFamily="18" charset="0"/>
              </a:rPr>
              <a:t>rab</a:t>
            </a:r>
            <a:r>
              <a:rPr lang="en-US" sz="2000" dirty="0">
                <a:latin typeface="Times New Roman" panose="02020603050405020304" pitchFamily="18" charset="0"/>
                <a:cs typeface="Times New Roman" panose="02020603050405020304" pitchFamily="18" charset="0"/>
              </a:rPr>
              <a:t> for helping us In the constructing prototype process. We mostly thank the School principal and the capstone teachers who helped us to have the final project successfully.</a:t>
            </a:r>
          </a:p>
        </p:txBody>
      </p:sp>
      <p:sp>
        <p:nvSpPr>
          <p:cNvPr id="47" name="TextBox 46">
            <a:extLst>
              <a:ext uri="{FF2B5EF4-FFF2-40B4-BE49-F238E27FC236}">
                <a16:creationId xmlns:a16="http://schemas.microsoft.com/office/drawing/2014/main" id="{CF99BCFA-A473-4922-A461-9128CC4ABA14}"/>
              </a:ext>
            </a:extLst>
          </p:cNvPr>
          <p:cNvSpPr txBox="1"/>
          <p:nvPr/>
        </p:nvSpPr>
        <p:spPr>
          <a:xfrm>
            <a:off x="30712964" y="23564329"/>
            <a:ext cx="4365700" cy="646331"/>
          </a:xfrm>
          <a:prstGeom prst="rect">
            <a:avLst/>
          </a:prstGeom>
          <a:noFill/>
        </p:spPr>
        <p:txBody>
          <a:bodyPr wrap="square" rtlCol="0">
            <a:spAutoFit/>
          </a:bodyPr>
          <a:lstStyle/>
          <a:p>
            <a:r>
              <a:rPr lang="en-US" sz="3600" dirty="0">
                <a:solidFill>
                  <a:srgbClr val="722326"/>
                </a:solidFill>
                <a:latin typeface="Book Antiqua" panose="02040602050305030304" pitchFamily="18" charset="0"/>
                <a:cs typeface="Times New Roman" panose="02020603050405020304" pitchFamily="18" charset="0"/>
              </a:rPr>
              <a:t>Acknowledgment</a:t>
            </a:r>
            <a:r>
              <a:rPr lang="en-US" dirty="0"/>
              <a:t>  </a:t>
            </a:r>
          </a:p>
        </p:txBody>
      </p:sp>
      <p:pic>
        <p:nvPicPr>
          <p:cNvPr id="51" name="Picture 50" descr="Icon&#10;&#10;Description automatically generated">
            <a:extLst>
              <a:ext uri="{FF2B5EF4-FFF2-40B4-BE49-F238E27FC236}">
                <a16:creationId xmlns:a16="http://schemas.microsoft.com/office/drawing/2014/main" id="{26A0E525-D62D-4D6D-B34C-9968329D9D63}"/>
              </a:ext>
            </a:extLst>
          </p:cNvPr>
          <p:cNvPicPr>
            <a:picLocks noChangeAspect="1"/>
          </p:cNvPicPr>
          <p:nvPr/>
        </p:nvPicPr>
        <p:blipFill>
          <a:blip r:embed="rId57">
            <a:extLst>
              <a:ext uri="{28A0092B-C50C-407E-A947-70E740481C1C}">
                <a14:useLocalDpi xmlns:a14="http://schemas.microsoft.com/office/drawing/2010/main" val="0"/>
              </a:ext>
            </a:extLst>
          </a:blip>
          <a:stretch>
            <a:fillRect/>
          </a:stretch>
        </p:blipFill>
        <p:spPr>
          <a:xfrm>
            <a:off x="30089467" y="23562347"/>
            <a:ext cx="691081" cy="691081"/>
          </a:xfrm>
          <a:prstGeom prst="rect">
            <a:avLst/>
          </a:prstGeom>
        </p:spPr>
      </p:pic>
      <p:pic>
        <p:nvPicPr>
          <p:cNvPr id="119" name="Graphic 118">
            <a:extLst>
              <a:ext uri="{FF2B5EF4-FFF2-40B4-BE49-F238E27FC236}">
                <a16:creationId xmlns:a16="http://schemas.microsoft.com/office/drawing/2014/main" id="{CD85324A-07A0-4028-AEA1-28245DB411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820727" y="4408131"/>
            <a:ext cx="4852581" cy="935472"/>
          </a:xfrm>
          <a:prstGeom prst="rect">
            <a:avLst/>
          </a:prstGeom>
        </p:spPr>
      </p:pic>
      <p:sp>
        <p:nvSpPr>
          <p:cNvPr id="55" name="TextBox 54">
            <a:extLst>
              <a:ext uri="{FF2B5EF4-FFF2-40B4-BE49-F238E27FC236}">
                <a16:creationId xmlns:a16="http://schemas.microsoft.com/office/drawing/2014/main" id="{88EF1D83-8623-4C0D-950B-B825D92384BC}"/>
              </a:ext>
            </a:extLst>
          </p:cNvPr>
          <p:cNvSpPr txBox="1"/>
          <p:nvPr/>
        </p:nvSpPr>
        <p:spPr>
          <a:xfrm>
            <a:off x="20866244" y="4426971"/>
            <a:ext cx="3705726" cy="830997"/>
          </a:xfrm>
          <a:prstGeom prst="rect">
            <a:avLst/>
          </a:prstGeom>
          <a:noFill/>
        </p:spPr>
        <p:txBody>
          <a:bodyPr wrap="square" rtlCol="0">
            <a:spAutoFit/>
          </a:bodyPr>
          <a:lstStyle/>
          <a:p>
            <a:r>
              <a:rPr lang="en-US" sz="4800" dirty="0">
                <a:solidFill>
                  <a:srgbClr val="722326"/>
                </a:solidFill>
                <a:latin typeface="Book Antiqua" panose="02040602050305030304" pitchFamily="18" charset="0"/>
              </a:rPr>
              <a:t>Analysis</a:t>
            </a:r>
            <a:r>
              <a:rPr lang="en-US" sz="4000" dirty="0">
                <a:latin typeface="Book Antiqua" panose="02040602050305030304" pitchFamily="18" charset="0"/>
              </a:rPr>
              <a:t> </a:t>
            </a:r>
          </a:p>
        </p:txBody>
      </p:sp>
      <p:pic>
        <p:nvPicPr>
          <p:cNvPr id="59" name="Picture 58" descr="Icon&#10;&#10;Description automatically generated">
            <a:extLst>
              <a:ext uri="{FF2B5EF4-FFF2-40B4-BE49-F238E27FC236}">
                <a16:creationId xmlns:a16="http://schemas.microsoft.com/office/drawing/2014/main" id="{1FB44857-669A-433C-9959-E6541C0958B2}"/>
              </a:ext>
            </a:extLst>
          </p:cNvPr>
          <p:cNvPicPr>
            <a:picLocks noChangeAspect="1"/>
          </p:cNvPicPr>
          <p:nvPr/>
        </p:nvPicPr>
        <p:blipFill>
          <a:blip r:embed="rId58">
            <a:extLst>
              <a:ext uri="{28A0092B-C50C-407E-A947-70E740481C1C}">
                <a14:useLocalDpi xmlns:a14="http://schemas.microsoft.com/office/drawing/2010/main" val="0"/>
              </a:ext>
            </a:extLst>
          </a:blip>
          <a:stretch>
            <a:fillRect/>
          </a:stretch>
        </p:blipFill>
        <p:spPr>
          <a:xfrm>
            <a:off x="20214498" y="4480513"/>
            <a:ext cx="691454" cy="691454"/>
          </a:xfrm>
          <a:prstGeom prst="rect">
            <a:avLst/>
          </a:prstGeom>
        </p:spPr>
      </p:pic>
      <p:sp>
        <p:nvSpPr>
          <p:cNvPr id="122" name="TextBox 121">
            <a:extLst>
              <a:ext uri="{FF2B5EF4-FFF2-40B4-BE49-F238E27FC236}">
                <a16:creationId xmlns:a16="http://schemas.microsoft.com/office/drawing/2014/main" id="{2D40F253-5BFF-44DA-8899-9CF478F6F29B}"/>
              </a:ext>
            </a:extLst>
          </p:cNvPr>
          <p:cNvSpPr txBox="1"/>
          <p:nvPr/>
        </p:nvSpPr>
        <p:spPr>
          <a:xfrm>
            <a:off x="19843501" y="5209970"/>
            <a:ext cx="9927480" cy="3046988"/>
          </a:xfrm>
          <a:prstGeom prst="rect">
            <a:avLst/>
          </a:prstGeom>
          <a:noFill/>
        </p:spPr>
        <p:txBody>
          <a:bodyPr wrap="square" rtlCol="0">
            <a:spAutoFit/>
          </a:bodyPr>
          <a:lstStyle/>
          <a:p>
            <a:pPr marL="0" marR="0">
              <a:spcBef>
                <a:spcPts val="0"/>
              </a:spcBef>
              <a:spcAft>
                <a:spcPts val="800"/>
              </a:spcAft>
            </a:pPr>
            <a:r>
              <a:rPr lang="en-US" sz="3000" b="1" dirty="0">
                <a:solidFill>
                  <a:srgbClr val="0D5749"/>
                </a:solidFill>
                <a:effectLst/>
                <a:latin typeface="Times New Roman" panose="02020603050405020304" pitchFamily="18" charset="0"/>
                <a:ea typeface="Calibri" panose="020F0502020204030204" pitchFamily="34" charset="0"/>
              </a:rPr>
              <a:t>	A</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ccording to the vision of Egypt in 2030 for the expansion in alternative energy production as in the current time, the major challenge is addressing how this section can be exploited in the future. Suppose the alternative energy’s problem is solved. In that case, it will decrease the pollution rates that occur because of fossil fuel usage and provide a power source that will not run out at an affordable price; however, the continued dependence on the traditional energy resources will cause a rising in the emissions of greenhouse gases. By summing up all of the information after a chain of researches is done, the applied solution, the parabolic trough, is involved in the heat’s collection energy by the reflection of the sun rays from the reflector plate to the specific point (the focal point) at which the heated fluid would be able to be stored in a container in a closed system meaning that the liquid will continue returning to the collector to be heated again and be used in viral facilities and manufacturing.</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4B826A9-2775-40DA-9010-4CE1979122C9}"/>
                  </a:ext>
                </a:extLst>
              </p:cNvPr>
              <p:cNvSpPr txBox="1"/>
              <p:nvPr/>
            </p:nvSpPr>
            <p:spPr>
              <a:xfrm>
                <a:off x="19844372" y="8107747"/>
                <a:ext cx="6228059" cy="4125104"/>
              </a:xfrm>
              <a:prstGeom prst="rect">
                <a:avLst/>
              </a:prstGeom>
              <a:noFill/>
            </p:spPr>
            <p:txBody>
              <a:bodyPr wrap="square" rtlCol="0">
                <a:spAutoFit/>
              </a:bodyPr>
              <a:lstStyle/>
              <a:p>
                <a:pPr marL="0" marR="0">
                  <a:spcBef>
                    <a:spcPts val="0"/>
                  </a:spcBef>
                  <a:spcAft>
                    <a:spcPts val="800"/>
                  </a:spcAft>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The prototype demonstrates that it is capable of meeting the specified design requirements. As well as the prototype testing and the design requirements are consistent. The first design requirement is calculating the mass flow rate, which initiates fluid speed motion in the pipe as velocity is inversely proportional to the cross-sectional area. Second, the efficiency as a requirement was modified by using a stepper motor to trace the sunlight with an array tha</a:t>
                </a:r>
                <a:r>
                  <a:rPr lang="en-US" dirty="0">
                    <a:latin typeface="Times New Roman" panose="02020603050405020304" pitchFamily="18" charset="0"/>
                    <a:ea typeface="Times New Roman" panose="02020603050405020304" pitchFamily="18" charset="0"/>
                    <a:cs typeface="Arial" panose="020B0604020202020204" pitchFamily="34" charset="0"/>
                  </a:rPr>
                  <a:t>t will depend on the coordinates of the sun radiation intensity for the daytime</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along the latitudes as in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graph(2)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and using a reflector plate instead of the concave mirror that costs less in the development of the prototype. Hence, the final efficiency of the whole system is calculated by using </a:t>
                </a:r>
                <a14:m>
                  <m:oMath xmlns:m="http://schemas.openxmlformats.org/officeDocument/2006/math">
                    <m:r>
                      <a:rPr lang="en-US" sz="18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𝑻</m:t>
                            </m:r>
                          </m:e>
                          <m:sub>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𝟐</m:t>
                            </m:r>
                          </m:sub>
                        </m:sSub>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𝑻</m:t>
                            </m:r>
                          </m:e>
                          <m:sub>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𝟏</m:t>
                            </m:r>
                          </m:sub>
                        </m:sSub>
                      </m:num>
                      <m:den>
                        <m:sSub>
                          <m:sSubPr>
                            <m:ctrlP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𝑻</m:t>
                            </m:r>
                          </m:e>
                          <m:sub>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𝟏</m:t>
                            </m:r>
                          </m:sub>
                        </m:sSub>
                      </m:den>
                    </m:f>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𝟏𝟎𝟎</m:t>
                    </m:r>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b="1" i="1"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that will range from 50% to 70% depending on the weather’s conditions.</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123" name="TextBox 122">
                <a:extLst>
                  <a:ext uri="{FF2B5EF4-FFF2-40B4-BE49-F238E27FC236}">
                    <a16:creationId xmlns:a16="http://schemas.microsoft.com/office/drawing/2014/main" id="{84B826A9-2775-40DA-9010-4CE1979122C9}"/>
                  </a:ext>
                </a:extLst>
              </p:cNvPr>
              <p:cNvSpPr txBox="1">
                <a:spLocks noRot="1" noChangeAspect="1" noMove="1" noResize="1" noEditPoints="1" noAdjustHandles="1" noChangeArrowheads="1" noChangeShapeType="1" noTextEdit="1"/>
              </p:cNvSpPr>
              <p:nvPr/>
            </p:nvSpPr>
            <p:spPr>
              <a:xfrm>
                <a:off x="19844372" y="8107747"/>
                <a:ext cx="6228059" cy="4125104"/>
              </a:xfrm>
              <a:prstGeom prst="rect">
                <a:avLst/>
              </a:prstGeom>
              <a:blipFill>
                <a:blip r:embed="rId59"/>
                <a:stretch>
                  <a:fillRect l="-783" t="-739" r="-881" b="-1182"/>
                </a:stretch>
              </a:blipFill>
            </p:spPr>
            <p:txBody>
              <a:bodyPr/>
              <a:lstStyle/>
              <a:p>
                <a:r>
                  <a:rPr lang="en-US">
                    <a:noFill/>
                  </a:rPr>
                  <a:t> </a:t>
                </a:r>
              </a:p>
            </p:txBody>
          </p:sp>
        </mc:Fallback>
      </mc:AlternateContent>
      <p:graphicFrame>
        <p:nvGraphicFramePr>
          <p:cNvPr id="125" name="Chart 124">
            <a:extLst>
              <a:ext uri="{FF2B5EF4-FFF2-40B4-BE49-F238E27FC236}">
                <a16:creationId xmlns:a16="http://schemas.microsoft.com/office/drawing/2014/main" id="{377F3BBB-04BA-47AB-B8AE-E9BA67DEE9B9}"/>
              </a:ext>
            </a:extLst>
          </p:cNvPr>
          <p:cNvGraphicFramePr>
            <a:graphicFrameLocks/>
          </p:cNvGraphicFramePr>
          <p:nvPr>
            <p:extLst>
              <p:ext uri="{D42A27DB-BD31-4B8C-83A1-F6EECF244321}">
                <p14:modId xmlns:p14="http://schemas.microsoft.com/office/powerpoint/2010/main" val="2434050088"/>
              </p:ext>
            </p:extLst>
          </p:nvPr>
        </p:nvGraphicFramePr>
        <p:xfrm>
          <a:off x="25922539" y="7940118"/>
          <a:ext cx="3692000" cy="3551273"/>
        </p:xfrm>
        <a:graphic>
          <a:graphicData uri="http://schemas.openxmlformats.org/drawingml/2006/chart">
            <c:chart xmlns:c="http://schemas.openxmlformats.org/drawingml/2006/chart" xmlns:r="http://schemas.openxmlformats.org/officeDocument/2006/relationships" r:id="rId60"/>
          </a:graphicData>
        </a:graphic>
      </p:graphicFrame>
      <p:sp>
        <p:nvSpPr>
          <p:cNvPr id="127" name="TextBox 126">
            <a:extLst>
              <a:ext uri="{FF2B5EF4-FFF2-40B4-BE49-F238E27FC236}">
                <a16:creationId xmlns:a16="http://schemas.microsoft.com/office/drawing/2014/main" id="{D95304C3-8BAE-42B0-AFDE-748359AAB869}"/>
              </a:ext>
            </a:extLst>
          </p:cNvPr>
          <p:cNvSpPr txBox="1"/>
          <p:nvPr/>
        </p:nvSpPr>
        <p:spPr>
          <a:xfrm>
            <a:off x="19871894" y="12083349"/>
            <a:ext cx="9885526" cy="2308324"/>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cs typeface="Arial" panose="020B0604020202020204" pitchFamily="34" charset="0"/>
              </a:rPr>
              <a:t>In order to increase the efficiency of collecting the sunlight done by the reflector plate, the parabolic trough system will be able to move in coordinates controlled by a stepper motor that would move the parabola towards the direction of the sun where the mobile app will trigger the stepper motor. By comparing the stepper motor to the servomotor, the stepper motor is more efficient in generating holding torque at low speed. The second communication method is switching the pump manually from the app. After applying these features and doing the test plan, the test plan was done in bad weather conditions. The day’s overall temperature was 17°c, the wind speed was 24 km/h, the pressure was 1016 bar, and the humidity was 47%. </a:t>
            </a:r>
            <a:endParaRPr lang="en-US" dirty="0"/>
          </a:p>
        </p:txBody>
      </p:sp>
      <p:sp>
        <p:nvSpPr>
          <p:cNvPr id="128" name="TextBox 127">
            <a:extLst>
              <a:ext uri="{FF2B5EF4-FFF2-40B4-BE49-F238E27FC236}">
                <a16:creationId xmlns:a16="http://schemas.microsoft.com/office/drawing/2014/main" id="{1ECFAF34-9D24-4B97-AE5E-2AF489E02ACE}"/>
              </a:ext>
            </a:extLst>
          </p:cNvPr>
          <p:cNvSpPr txBox="1"/>
          <p:nvPr/>
        </p:nvSpPr>
        <p:spPr>
          <a:xfrm>
            <a:off x="19836924" y="14248881"/>
            <a:ext cx="6800493" cy="3139321"/>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cs typeface="Arial" panose="020B0604020202020204" pitchFamily="34" charset="0"/>
              </a:rPr>
              <a:t>Then a 19.2°c water was added to the tube and leaving the parabolic trough for seven minutes facing the sun, it could achieve 10 degrees difference seven minutes as the outcome water levels a temperature of 29.2°c, this out coming water will go to settle down in the container.</a:t>
            </a:r>
          </a:p>
          <a:p>
            <a:r>
              <a:rPr lang="en-US" sz="1800" dirty="0">
                <a:effectLst/>
                <a:latin typeface="Times New Roman" panose="02020603050405020304" pitchFamily="18" charset="0"/>
                <a:ea typeface="Times New Roman" panose="02020603050405020304" pitchFamily="18" charset="0"/>
                <a:cs typeface="Arial" panose="020B0604020202020204" pitchFamily="34" charset="0"/>
              </a:rPr>
              <a:t>According to the done test plans as shown in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graph (3),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the first test plan, the negative result that didn’t achieve the chosen design requirements, only produced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13041</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joules, on the other hand. The second test plan, the positive result, produced energy estimated by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28980</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joules as indicated. By applying the project in </a:t>
            </a:r>
            <a:r>
              <a:rPr lang="en-US" sz="1800" b="1"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real life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with an area of 50 m</a:t>
            </a:r>
            <a:r>
              <a:rPr lang="en-US" sz="1800" baseline="30000" dirty="0">
                <a:effectLst/>
                <a:latin typeface="Times New Roman" panose="02020603050405020304" pitchFamily="18" charset="0"/>
                <a:ea typeface="Times New Roman" panose="02020603050405020304" pitchFamily="18" charset="0"/>
                <a:cs typeface="Arial" panose="020B0604020202020204" pitchFamily="34" charset="0"/>
              </a:rPr>
              <a:t>2</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by making a ratio between the area and the produced energy from the prototype, it generated approximately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2898</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kilojoules.</a:t>
            </a:r>
            <a:endParaRPr lang="en-US" dirty="0"/>
          </a:p>
        </p:txBody>
      </p:sp>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1BD1154E-140E-4670-BEC8-22DBA9948A62}"/>
                  </a:ext>
                </a:extLst>
              </p:cNvPr>
              <p:cNvSpPr txBox="1"/>
              <p:nvPr/>
            </p:nvSpPr>
            <p:spPr>
              <a:xfrm>
                <a:off x="19833114" y="17227998"/>
                <a:ext cx="9888038" cy="4271234"/>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cs typeface="Arial" panose="020B0604020202020204" pitchFamily="34" charset="0"/>
                  </a:rPr>
                  <a:t>Moreover, the law that used in applying the optimum mass flow rate</a:t>
                </a:r>
                <a14:m>
                  <m:oMath xmlns:m="http://schemas.openxmlformats.org/officeDocument/2006/math">
                    <m:acc>
                      <m:accPr>
                        <m:chr m:val="̇"/>
                        <m:ctrlPr>
                          <a:rPr lang="en-US" sz="18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𝒎</m:t>
                        </m:r>
                      </m:e>
                    </m:acc>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b="1"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 = </a:t>
                </a:r>
                <a14:m>
                  <m:oMath xmlns:m="http://schemas.openxmlformats.org/officeDocument/2006/math">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𝝆</m:t>
                    </m:r>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𝑨</m:t>
                    </m:r>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𝑽</m:t>
                    </m:r>
                  </m:oMath>
                </a14:m>
                <a:r>
                  <a:rPr lang="en-US" sz="1800" b="1" dirty="0">
                    <a:effectLst/>
                    <a:latin typeface="Times New Roman" panose="02020603050405020304" pitchFamily="18" charset="0"/>
                    <a:ea typeface="Times New Roman" panose="02020603050405020304" pitchFamily="18" charset="0"/>
                    <a:cs typeface="Arial" panose="020B0604020202020204" pitchFamily="34" charset="0"/>
                  </a:rPr>
                  <a:t>,</a:t>
                </a:r>
                <a:r>
                  <a:rPr lang="en-US" sz="1800" b="1" i="1" dirty="0">
                    <a:effectLst/>
                    <a:latin typeface="Times New Roman" panose="02020603050405020304" pitchFamily="18" charset="0"/>
                    <a:ea typeface="Calibri" panose="020F0502020204030204" pitchFamily="34" charset="0"/>
                    <a:cs typeface="Arial" panose="020B0604020202020204" pitchFamily="34" charset="0"/>
                  </a:rPr>
                  <a:t>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where </a:t>
                </a:r>
                <a14:m>
                  <m:oMath xmlns:m="http://schemas.openxmlformats.org/officeDocument/2006/math">
                    <m:r>
                      <a:rPr lang="en-US" sz="1800" b="1" i="1" smtClean="0">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𝝆</m:t>
                    </m:r>
                  </m:oMath>
                </a14:m>
                <a:r>
                  <a:rPr lang="en-US" sz="1800" dirty="0">
                    <a:effectLst/>
                    <a:latin typeface="Times New Roman" panose="02020603050405020304" pitchFamily="18" charset="0"/>
                    <a:ea typeface="Times New Roman" panose="02020603050405020304" pitchFamily="18" charset="0"/>
                    <a:cs typeface="Arial" panose="020B0604020202020204" pitchFamily="34" charset="0"/>
                  </a:rPr>
                  <a:t> is the density of the fluid, </a:t>
                </a:r>
                <a14:m>
                  <m:oMath xmlns:m="http://schemas.openxmlformats.org/officeDocument/2006/math">
                    <m:r>
                      <a:rPr lang="en-US" sz="1800" b="1" i="1" smtClean="0">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𝑨</m:t>
                    </m:r>
                  </m:oMath>
                </a14:m>
                <a:r>
                  <a:rPr lang="en-US" sz="1800" dirty="0">
                    <a:effectLst/>
                    <a:latin typeface="Times New Roman" panose="02020603050405020304" pitchFamily="18" charset="0"/>
                    <a:ea typeface="Times New Roman" panose="02020603050405020304" pitchFamily="18" charset="0"/>
                    <a:cs typeface="Arial" panose="020B0604020202020204" pitchFamily="34" charset="0"/>
                  </a:rPr>
                  <a:t> is the area of the tube, and </a:t>
                </a:r>
                <a14:m>
                  <m:oMath xmlns:m="http://schemas.openxmlformats.org/officeDocument/2006/math">
                    <m:r>
                      <a:rPr lang="en-US" sz="1800" b="1" i="1" smtClean="0">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𝑽</m:t>
                    </m:r>
                  </m:oMath>
                </a14:m>
                <a:r>
                  <a:rPr lang="en-US" sz="1800" dirty="0">
                    <a:effectLst/>
                    <a:latin typeface="Times New Roman" panose="02020603050405020304" pitchFamily="18" charset="0"/>
                    <a:ea typeface="Times New Roman" panose="02020603050405020304" pitchFamily="18" charset="0"/>
                    <a:cs typeface="Arial" panose="020B0604020202020204" pitchFamily="34" charset="0"/>
                  </a:rPr>
                  <a:t> is the velocity in which the fluid moves with, all of that will be calculated by neglecting the friction losses that is at the boundaries. Consequently, by using water as the primary fluid in the prototype and the circular area of the pipe and the hose at which the difference in the diameter will be neglected as the diameter for both would be estimated by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0.02</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meters, as the total </a:t>
                </a:r>
                <a14:m>
                  <m:oMath xmlns:m="http://schemas.openxmlformats.org/officeDocument/2006/math">
                    <m:acc>
                      <m:accPr>
                        <m:chr m:val="̇"/>
                        <m:ctrlPr>
                          <a:rPr lang="en-US" sz="1800"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8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𝒎</m:t>
                        </m:r>
                      </m:e>
                    </m:acc>
                  </m:oMath>
                </a14:m>
                <a:r>
                  <a:rPr lang="en-US" sz="1800" dirty="0">
                    <a:effectLst/>
                    <a:latin typeface="Times New Roman" panose="02020603050405020304" pitchFamily="18" charset="0"/>
                    <a:ea typeface="Times New Roman" panose="02020603050405020304" pitchFamily="18" charset="0"/>
                    <a:cs typeface="Arial" panose="020B0604020202020204" pitchFamily="34" charset="0"/>
                  </a:rPr>
                  <a:t> is equal to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0.03 kg/s</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so the water pump power intensity is selected in order to be able to fill all of the system with the proper amount of water in only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23</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seconds. Then, to calculate total produced heat energy </a:t>
                </a:r>
                <a: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a:t>(Q)=m .Cp. </a:t>
                </a:r>
                <a:r>
                  <a:rPr lang="el-GR"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a:t>Δ</a:t>
                </a:r>
                <a: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a:t>T</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where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m:t>
                    </m:r>
                  </m:oMath>
                </a14:m>
                <a:r>
                  <a:rPr lang="en-US" sz="1800" dirty="0">
                    <a:effectLst/>
                    <a:latin typeface="Times New Roman" panose="02020603050405020304" pitchFamily="18" charset="0"/>
                    <a:ea typeface="Times New Roman" panose="02020603050405020304" pitchFamily="18" charset="0"/>
                    <a:cs typeface="Arial" panose="020B0604020202020204" pitchFamily="34" charset="0"/>
                  </a:rPr>
                  <a:t> is the mass flow rate, </a:t>
                </a:r>
                <a14:m>
                  <m:oMath xmlns:m="http://schemas.openxmlformats.org/officeDocument/2006/math">
                    <m:r>
                      <a:rPr lang="en-US" sz="18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𝑪𝒑</m:t>
                    </m:r>
                  </m:oMath>
                </a14:m>
                <a:r>
                  <a:rPr lang="en-US" sz="1800" dirty="0">
                    <a:effectLst/>
                    <a:latin typeface="Times New Roman" panose="02020603050405020304" pitchFamily="18" charset="0"/>
                    <a:ea typeface="Times New Roman" panose="02020603050405020304" pitchFamily="18" charset="0"/>
                    <a:cs typeface="Arial" panose="020B0604020202020204" pitchFamily="34" charset="0"/>
                  </a:rPr>
                  <a:t> is the specific heat capacity, </a:t>
                </a:r>
                <a14:m>
                  <m:oMath xmlns:m="http://schemas.openxmlformats.org/officeDocument/2006/math">
                    <m:r>
                      <a:rPr lang="en-US" sz="18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𝒎</m:t>
                    </m:r>
                  </m:oMath>
                </a14:m>
                <a:r>
                  <a:rPr lang="en-US" sz="1800" dirty="0">
                    <a:effectLst/>
                    <a:latin typeface="Times New Roman" panose="02020603050405020304" pitchFamily="18" charset="0"/>
                    <a:ea typeface="Times New Roman" panose="02020603050405020304" pitchFamily="18" charset="0"/>
                    <a:cs typeface="Arial" panose="020B0604020202020204" pitchFamily="34" charset="0"/>
                  </a:rPr>
                  <a:t> is the mass of the liquid, and </a:t>
                </a:r>
                <a14:m>
                  <m:oMath xmlns:m="http://schemas.openxmlformats.org/officeDocument/2006/math">
                    <m:r>
                      <a:rPr lang="en-US" sz="18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𝜟</m:t>
                    </m:r>
                    <m:r>
                      <a:rPr lang="en-US" sz="18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𝑻</m:t>
                    </m:r>
                  </m:oMath>
                </a14:m>
                <a:r>
                  <a:rPr lang="en-US" sz="1800" dirty="0">
                    <a:effectLst/>
                    <a:latin typeface="Times New Roman" panose="02020603050405020304" pitchFamily="18" charset="0"/>
                    <a:ea typeface="Times New Roman" panose="02020603050405020304" pitchFamily="18" charset="0"/>
                    <a:cs typeface="Arial" panose="020B0604020202020204" pitchFamily="34" charset="0"/>
                  </a:rPr>
                  <a:t> is the difference in the temperature between the output temperature and the input temperature. All of the energy will be equal to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28980</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joules. By concluding the previous information, the fluid flow inside the system is considered laminar flow as</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the Reynolds number is less than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2300</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Finally, for the calculation of the location of the focus, the used law is </a:t>
                </a:r>
                <a14:m>
                  <m:oMath xmlns:m="http://schemas.openxmlformats.org/officeDocument/2006/math">
                    <m:sSup>
                      <m:sSupPr>
                        <m:ctrlPr>
                          <a:rPr lang="en-US" sz="1800" b="1" i="1" smtClean="0">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𝒙</m:t>
                        </m:r>
                      </m:e>
                      <m:sup>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𝟐</m:t>
                        </m:r>
                      </m:sup>
                    </m:sSup>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𝟒</m:t>
                    </m:r>
                    <m:r>
                      <a:rPr lang="en-US" sz="1800" b="1" i="1" smtClean="0">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𝒑</m:t>
                    </m:r>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𝒚</m:t>
                    </m:r>
                  </m:oMath>
                </a14:m>
                <a:r>
                  <a:rPr lang="en-US" sz="1800" b="1"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as the coordinates of the x-axis is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0.40</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meters, and the y-axis is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0.145</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meters so that the focal length will be </a:t>
                </a:r>
                <a:r>
                  <a:rPr lang="en-US" sz="1800"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0.065</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meters</a:t>
                </a:r>
                <a:r>
                  <a:rPr lang="en-US" dirty="0">
                    <a:latin typeface="Times New Roman" panose="02020603050405020304" pitchFamily="18" charset="0"/>
                    <a:ea typeface="Times New Roman" panose="02020603050405020304" pitchFamily="18" charset="0"/>
                    <a:cs typeface="Arial" panose="020B0604020202020204" pitchFamily="34" charset="0"/>
                  </a:rPr>
                  <a:t> as the function of it is presented in </a:t>
                </a:r>
                <a:r>
                  <a:rPr lang="en-US" dirty="0">
                    <a:solidFill>
                      <a:srgbClr val="0D5749"/>
                    </a:solidFill>
                    <a:latin typeface="Times New Roman" panose="02020603050405020304" pitchFamily="18" charset="0"/>
                    <a:ea typeface="Times New Roman" panose="02020603050405020304" pitchFamily="18" charset="0"/>
                    <a:cs typeface="Arial" panose="020B0604020202020204" pitchFamily="34" charset="0"/>
                  </a:rPr>
                  <a:t>graph(4).</a:t>
                </a:r>
                <a:endParaRPr lang="en-US" sz="1800" dirty="0">
                  <a:solidFill>
                    <a:srgbClr val="0D5749"/>
                  </a:solidFill>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mc:Choice>
        <mc:Fallback xmlns="">
          <p:sp>
            <p:nvSpPr>
              <p:cNvPr id="129" name="TextBox 128">
                <a:extLst>
                  <a:ext uri="{FF2B5EF4-FFF2-40B4-BE49-F238E27FC236}">
                    <a16:creationId xmlns:a16="http://schemas.microsoft.com/office/drawing/2014/main" id="{1BD1154E-140E-4670-BEC8-22DBA9948A62}"/>
                  </a:ext>
                </a:extLst>
              </p:cNvPr>
              <p:cNvSpPr txBox="1">
                <a:spLocks noRot="1" noChangeAspect="1" noMove="1" noResize="1" noEditPoints="1" noAdjustHandles="1" noChangeArrowheads="1" noChangeShapeType="1" noTextEdit="1"/>
              </p:cNvSpPr>
              <p:nvPr/>
            </p:nvSpPr>
            <p:spPr>
              <a:xfrm>
                <a:off x="19833114" y="17227998"/>
                <a:ext cx="9888038" cy="4271234"/>
              </a:xfrm>
              <a:prstGeom prst="rect">
                <a:avLst/>
              </a:prstGeom>
              <a:blipFill>
                <a:blip r:embed="rId61"/>
                <a:stretch>
                  <a:fillRect l="-493" t="-285" r="-678"/>
                </a:stretch>
              </a:blipFill>
            </p:spPr>
            <p:txBody>
              <a:bodyPr/>
              <a:lstStyle/>
              <a:p>
                <a:r>
                  <a:rPr lang="en-US">
                    <a:noFill/>
                  </a:rPr>
                  <a:t> </a:t>
                </a:r>
              </a:p>
            </p:txBody>
          </p:sp>
        </mc:Fallback>
      </mc:AlternateContent>
      <p:pic>
        <p:nvPicPr>
          <p:cNvPr id="131" name="Picture 130" descr="A picture containing indoor, floor, wood&#10;&#10;Description automatically generated">
            <a:extLst>
              <a:ext uri="{FF2B5EF4-FFF2-40B4-BE49-F238E27FC236}">
                <a16:creationId xmlns:a16="http://schemas.microsoft.com/office/drawing/2014/main" id="{28300468-B1F1-4992-BA38-CC44AC826054}"/>
              </a:ext>
            </a:extLst>
          </p:cNvPr>
          <p:cNvPicPr>
            <a:picLocks noChangeAspect="1"/>
          </p:cNvPicPr>
          <p:nvPr/>
        </p:nvPicPr>
        <p:blipFill>
          <a:blip r:embed="rId62">
            <a:extLst>
              <a:ext uri="{28A0092B-C50C-407E-A947-70E740481C1C}">
                <a14:useLocalDpi xmlns:a14="http://schemas.microsoft.com/office/drawing/2010/main" val="0"/>
              </a:ext>
            </a:extLst>
          </a:blip>
          <a:stretch>
            <a:fillRect/>
          </a:stretch>
        </p:blipFill>
        <p:spPr>
          <a:xfrm>
            <a:off x="20865920" y="21222887"/>
            <a:ext cx="3806262" cy="1544794"/>
          </a:xfrm>
          <a:prstGeom prst="rect">
            <a:avLst/>
          </a:prstGeom>
        </p:spPr>
      </p:pic>
      <p:pic>
        <p:nvPicPr>
          <p:cNvPr id="133" name="Picture 132" descr="Chart, line chart&#10;&#10;Description automatically generated with medium confidence">
            <a:extLst>
              <a:ext uri="{FF2B5EF4-FFF2-40B4-BE49-F238E27FC236}">
                <a16:creationId xmlns:a16="http://schemas.microsoft.com/office/drawing/2014/main" id="{E04F05CD-6809-42FE-A661-4496DB384D49}"/>
              </a:ext>
            </a:extLst>
          </p:cNvPr>
          <p:cNvPicPr>
            <a:picLocks noChangeAspect="1"/>
          </p:cNvPicPr>
          <p:nvPr/>
        </p:nvPicPr>
        <p:blipFill>
          <a:blip r:embed="rId63">
            <a:extLst>
              <a:ext uri="{28A0092B-C50C-407E-A947-70E740481C1C}">
                <a14:useLocalDpi xmlns:a14="http://schemas.microsoft.com/office/drawing/2010/main" val="0"/>
              </a:ext>
            </a:extLst>
          </a:blip>
          <a:stretch>
            <a:fillRect/>
          </a:stretch>
        </p:blipFill>
        <p:spPr>
          <a:xfrm>
            <a:off x="25328394" y="20877905"/>
            <a:ext cx="4018343" cy="1850430"/>
          </a:xfrm>
          <a:prstGeom prst="rect">
            <a:avLst/>
          </a:prstGeom>
        </p:spPr>
      </p:pic>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EE5F0E90-6B90-44CE-93B5-01097F2B3556}"/>
                  </a:ext>
                </a:extLst>
              </p:cNvPr>
              <p:cNvSpPr txBox="1"/>
              <p:nvPr/>
            </p:nvSpPr>
            <p:spPr>
              <a:xfrm>
                <a:off x="19913600" y="23320293"/>
                <a:ext cx="9802216" cy="5339219"/>
              </a:xfrm>
              <a:prstGeom prst="rect">
                <a:avLst/>
              </a:prstGeom>
              <a:noFill/>
            </p:spPr>
            <p:txBody>
              <a:bodyPr wrap="square" rtlCol="0">
                <a:spAutoFit/>
              </a:bodyPr>
              <a:lstStyle/>
              <a:p>
                <a:pPr marL="0" marR="0">
                  <a:spcBef>
                    <a:spcPts val="0"/>
                  </a:spcBef>
                  <a:spcAft>
                    <a:spcPts val="0"/>
                  </a:spcAft>
                </a:pPr>
                <a:r>
                  <a:rPr lang="en-US" sz="1800" b="1"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rPr>
                  <a:t>Biology LO 1:</a:t>
                </a:r>
                <a:r>
                  <a:rPr lang="en-US" sz="1800"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0E101A"/>
                    </a:solidFill>
                    <a:effectLst/>
                    <a:latin typeface="Times New Roman" panose="02020603050405020304" pitchFamily="18" charset="0"/>
                    <a:ea typeface="Times New Roman" panose="02020603050405020304" pitchFamily="18" charset="0"/>
                    <a:cs typeface="Times New Roman" panose="02020603050405020304" pitchFamily="18" charset="0"/>
                  </a:rPr>
                  <a:t>It showed methods of communication as the structural unit of the brain, the neuron and how it can communicate with another neuron, and there are specific regions in the brain that works as a relay center for all of the incoming signals and points it towards the target location.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b="1"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rPr>
                  <a:t>Physics LO 3:</a:t>
                </a:r>
                <a:r>
                  <a:rPr lang="en-US" sz="1800"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0E101A"/>
                    </a:solidFill>
                    <a:effectLst/>
                    <a:latin typeface="Times New Roman" panose="02020603050405020304" pitchFamily="18" charset="0"/>
                    <a:ea typeface="Times New Roman" panose="02020603050405020304" pitchFamily="18" charset="0"/>
                    <a:cs typeface="Times New Roman" panose="02020603050405020304" pitchFamily="18" charset="0"/>
                  </a:rPr>
                  <a:t>One of the most underlying subjects refers to the reflection of lights and how this project can be applied with the concave mirror, in which all of the lights reflect fall on the mirror reflect and concentrate on the focal point.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b="1"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rPr>
                  <a:t>Physics LO4: </a:t>
                </a:r>
                <a:r>
                  <a:rPr lang="en-US" sz="1800" dirty="0">
                    <a:solidFill>
                      <a:srgbClr val="0E101A"/>
                    </a:solidFill>
                    <a:effectLst/>
                    <a:latin typeface="Times New Roman" panose="02020603050405020304" pitchFamily="18" charset="0"/>
                    <a:ea typeface="Times New Roman" panose="02020603050405020304" pitchFamily="18" charset="0"/>
                    <a:cs typeface="Times New Roman" panose="02020603050405020304" pitchFamily="18" charset="0"/>
                  </a:rPr>
                  <a:t>The other one refers to different methods of communication, even wireless communication or wired ones. It shows how wireless communication can be applied in the current project.</a:t>
                </a:r>
                <a:endParaRPr lang="en-US" sz="1800" dirty="0">
                  <a:effectLst/>
                  <a:latin typeface="Times New Roman" panose="02020603050405020304" pitchFamily="18" charset="0"/>
                  <a:ea typeface="Times New Roman" panose="02020603050405020304" pitchFamily="18" charset="0"/>
                </a:endParaRPr>
              </a:p>
              <a:p>
                <a:pPr marL="0" marR="0">
                  <a:lnSpc>
                    <a:spcPct val="107000"/>
                  </a:lnSpc>
                  <a:spcBef>
                    <a:spcPts val="0"/>
                  </a:spcBef>
                  <a:spcAft>
                    <a:spcPts val="800"/>
                  </a:spcAft>
                </a:pPr>
                <a:r>
                  <a:rPr lang="en-US" sz="1800" b="1"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Math LO 1:</a:t>
                </a:r>
                <a:r>
                  <a:rPr lang="en-US" sz="1800" dirty="0">
                    <a:solidFill>
                      <a:srgbClr val="0D5749"/>
                    </a:solidFill>
                    <a:effectLst/>
                    <a:latin typeface="Times New Roman" panose="02020603050405020304" pitchFamily="18" charset="0"/>
                    <a:ea typeface="Calibri" panose="020F0502020204030204" pitchFamily="34" charset="0"/>
                    <a:cs typeface="Arial" panose="020B0604020202020204" pitchFamily="34" charset="0"/>
                  </a:rPr>
                  <a:t> </a:t>
                </a:r>
                <a:r>
                  <a:rPr lang="en-US" sz="1800" dirty="0">
                    <a:effectLst/>
                    <a:latin typeface="Times New Roman" panose="02020603050405020304" pitchFamily="18" charset="0"/>
                    <a:ea typeface="Calibri" panose="020F0502020204030204" pitchFamily="34" charset="0"/>
                    <a:cs typeface="Arial" panose="020B0604020202020204" pitchFamily="34" charset="0"/>
                  </a:rPr>
                  <a:t>it refers to the implicant functions, which are functions defined by an implicit equation that connects one of the factors, referred to be the function’s value, with others, referred to this as the factors. For example, the circular formula is </a:t>
                </a:r>
                <a14:m>
                  <m:oMath xmlns:m="http://schemas.openxmlformats.org/officeDocument/2006/math">
                    <m:sSup>
                      <m:sSupPr>
                        <m:ctrlP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𝒙</m:t>
                        </m:r>
                      </m:e>
                      <m:sup>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𝟐</m:t>
                        </m:r>
                      </m:sup>
                    </m:sSup>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𝒚</m:t>
                        </m:r>
                      </m:e>
                      <m:sup>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𝟐</m:t>
                        </m:r>
                      </m:sup>
                    </m:sSup>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𝟎</m:t>
                    </m:r>
                  </m:oMath>
                </a14:m>
                <a:r>
                  <a:rPr lang="en-US" sz="1800" dirty="0">
                    <a:effectLst/>
                    <a:latin typeface="Times New Roman" panose="02020603050405020304" pitchFamily="18" charset="0"/>
                    <a:ea typeface="Calibri" panose="020F0502020204030204" pitchFamily="34" charset="0"/>
                    <a:cs typeface="Arial" panose="020B0604020202020204" pitchFamily="34" charset="0"/>
                  </a:rPr>
                  <a:t> that characterizes y as an implicit function of x when −1≤ x ≤1, and one confines y to nonnegative integers. We used this to specify the length of the prototype’s focus, which is</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14:m>
                  <m:oMath xmlns:m="http://schemas.openxmlformats.org/officeDocument/2006/math">
                    <m:sSup>
                      <m:sSupPr>
                        <m:ctrlPr>
                          <a:rPr lang="en-US" sz="1800" b="1" i="1" smtClean="0">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𝒙</m:t>
                        </m:r>
                      </m:e>
                      <m:sup>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𝟐</m:t>
                        </m:r>
                      </m:sup>
                    </m:sSup>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𝟒</m:t>
                    </m:r>
                    <m:r>
                      <a:rPr lang="en-US" sz="1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𝒑𝒚</m:t>
                    </m:r>
                  </m:oMath>
                </a14:m>
                <a:r>
                  <a:rPr lang="en-US" sz="1800" b="1" dirty="0">
                    <a:solidFill>
                      <a:srgbClr val="0D5749"/>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800" dirty="0">
                    <a:effectLst/>
                    <a:latin typeface="Times New Roman" panose="02020603050405020304" pitchFamily="18" charset="0"/>
                    <a:ea typeface="Calibri" panose="020F0502020204030204" pitchFamily="34" charset="0"/>
                    <a:cs typeface="Arial" panose="020B0604020202020204" pitchFamily="34" charset="0"/>
                  </a:rPr>
                  <a:t>(f is the position of the focus on the y axis).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0"/>
                  </a:spcAft>
                </a:pPr>
                <a:r>
                  <a:rPr lang="en-US" sz="1800" b="1"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rPr>
                  <a:t>Chemistry LO 1:</a:t>
                </a:r>
                <a:r>
                  <a:rPr lang="en-US" sz="1800"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0E101A"/>
                    </a:solidFill>
                    <a:effectLst/>
                    <a:latin typeface="Times New Roman" panose="02020603050405020304" pitchFamily="18" charset="0"/>
                    <a:ea typeface="Times New Roman" panose="02020603050405020304" pitchFamily="18" charset="0"/>
                    <a:cs typeface="Times New Roman" panose="02020603050405020304" pitchFamily="18" charset="0"/>
                  </a:rPr>
                  <a:t>Points out the correct scientific methods that are important for the organization of the research paths for the proper solution that can solve the problem scientifically and indicates the difference between hypothesis and theory as a hypothesis is the testable prediction that arrives logically from a theory</a:t>
                </a:r>
                <a:endParaRPr lang="en-US" dirty="0"/>
              </a:p>
            </p:txBody>
          </p:sp>
        </mc:Choice>
        <mc:Fallback xmlns="">
          <p:sp>
            <p:nvSpPr>
              <p:cNvPr id="134" name="TextBox 133">
                <a:extLst>
                  <a:ext uri="{FF2B5EF4-FFF2-40B4-BE49-F238E27FC236}">
                    <a16:creationId xmlns:a16="http://schemas.microsoft.com/office/drawing/2014/main" id="{EE5F0E90-6B90-44CE-93B5-01097F2B3556}"/>
                  </a:ext>
                </a:extLst>
              </p:cNvPr>
              <p:cNvSpPr txBox="1">
                <a:spLocks noRot="1" noChangeAspect="1" noMove="1" noResize="1" noEditPoints="1" noAdjustHandles="1" noChangeArrowheads="1" noChangeShapeType="1" noTextEdit="1"/>
              </p:cNvSpPr>
              <p:nvPr/>
            </p:nvSpPr>
            <p:spPr>
              <a:xfrm>
                <a:off x="19913600" y="23320293"/>
                <a:ext cx="9802216" cy="5339219"/>
              </a:xfrm>
              <a:prstGeom prst="rect">
                <a:avLst/>
              </a:prstGeom>
              <a:blipFill>
                <a:blip r:embed="rId64"/>
                <a:stretch>
                  <a:fillRect l="-560" t="-686" r="-622"/>
                </a:stretch>
              </a:blipFill>
            </p:spPr>
            <p:txBody>
              <a:bodyPr/>
              <a:lstStyle/>
              <a:p>
                <a:r>
                  <a:rPr lang="en-US">
                    <a:noFill/>
                  </a:rPr>
                  <a:t> </a:t>
                </a:r>
              </a:p>
            </p:txBody>
          </p:sp>
        </mc:Fallback>
      </mc:AlternateContent>
      <p:sp>
        <p:nvSpPr>
          <p:cNvPr id="135" name="TextBox 134">
            <a:extLst>
              <a:ext uri="{FF2B5EF4-FFF2-40B4-BE49-F238E27FC236}">
                <a16:creationId xmlns:a16="http://schemas.microsoft.com/office/drawing/2014/main" id="{DE33A5AD-2F99-462C-8090-854A57111D79}"/>
              </a:ext>
            </a:extLst>
          </p:cNvPr>
          <p:cNvSpPr txBox="1"/>
          <p:nvPr/>
        </p:nvSpPr>
        <p:spPr>
          <a:xfrm>
            <a:off x="23739553" y="22943350"/>
            <a:ext cx="2897864" cy="738664"/>
          </a:xfrm>
          <a:prstGeom prst="rect">
            <a:avLst/>
          </a:prstGeom>
          <a:noFill/>
        </p:spPr>
        <p:txBody>
          <a:bodyPr wrap="square" rtlCol="0">
            <a:spAutoFit/>
          </a:bodyPr>
          <a:lstStyle/>
          <a:p>
            <a:r>
              <a:rPr lang="en-US" sz="2400" b="1" u="sng"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rPr>
              <a:t>Learning Transfer:</a:t>
            </a:r>
            <a:endParaRPr lang="en-US" sz="2400" b="1" u="sng" dirty="0">
              <a:solidFill>
                <a:srgbClr val="0D5749"/>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sp>
        <p:nvSpPr>
          <p:cNvPr id="137" name="TextBox 136">
            <a:extLst>
              <a:ext uri="{FF2B5EF4-FFF2-40B4-BE49-F238E27FC236}">
                <a16:creationId xmlns:a16="http://schemas.microsoft.com/office/drawing/2014/main" id="{2E51579C-9065-40A9-BE59-D69AF77217DB}"/>
              </a:ext>
            </a:extLst>
          </p:cNvPr>
          <p:cNvSpPr txBox="1"/>
          <p:nvPr/>
        </p:nvSpPr>
        <p:spPr>
          <a:xfrm>
            <a:off x="26290067" y="11498574"/>
            <a:ext cx="3186215" cy="584775"/>
          </a:xfrm>
          <a:prstGeom prst="rect">
            <a:avLst/>
          </a:prstGeom>
          <a:noFill/>
        </p:spPr>
        <p:txBody>
          <a:bodyPr wrap="square" rtlCol="0">
            <a:spAutoFit/>
          </a:bodyPr>
          <a:lstStyle/>
          <a:p>
            <a:pPr algn="ctr"/>
            <a:r>
              <a:rPr lang="en-US" sz="1600" b="1" dirty="0">
                <a:solidFill>
                  <a:srgbClr val="0D5749"/>
                </a:solidFill>
                <a:latin typeface="Times New Roman" panose="02020603050405020304" pitchFamily="18" charset="0"/>
                <a:cs typeface="Times New Roman" panose="02020603050405020304" pitchFamily="18" charset="0"/>
              </a:rPr>
              <a:t>Graph (2): Solar intensity during the day</a:t>
            </a:r>
          </a:p>
        </p:txBody>
      </p:sp>
      <p:sp>
        <p:nvSpPr>
          <p:cNvPr id="138" name="TextBox 137">
            <a:extLst>
              <a:ext uri="{FF2B5EF4-FFF2-40B4-BE49-F238E27FC236}">
                <a16:creationId xmlns:a16="http://schemas.microsoft.com/office/drawing/2014/main" id="{80A521AD-9926-4DB6-8E0C-4EC76CD6656F}"/>
              </a:ext>
            </a:extLst>
          </p:cNvPr>
          <p:cNvSpPr txBox="1"/>
          <p:nvPr/>
        </p:nvSpPr>
        <p:spPr>
          <a:xfrm>
            <a:off x="21244264" y="22702224"/>
            <a:ext cx="3233939" cy="338554"/>
          </a:xfrm>
          <a:prstGeom prst="rect">
            <a:avLst/>
          </a:prstGeom>
          <a:noFill/>
        </p:spPr>
        <p:txBody>
          <a:bodyPr wrap="square" rtlCol="0">
            <a:spAutoFit/>
          </a:bodyPr>
          <a:lstStyle/>
          <a:p>
            <a:pPr algn="ctr"/>
            <a:r>
              <a:rPr lang="en-US" sz="1600" b="1" dirty="0">
                <a:solidFill>
                  <a:srgbClr val="0D5749"/>
                </a:solidFill>
                <a:latin typeface="Times New Roman" panose="02020603050405020304" pitchFamily="18" charset="0"/>
                <a:cs typeface="Times New Roman" panose="02020603050405020304" pitchFamily="18" charset="0"/>
              </a:rPr>
              <a:t>Figure(5): Constructed parabola</a:t>
            </a:r>
          </a:p>
        </p:txBody>
      </p:sp>
      <p:sp>
        <p:nvSpPr>
          <p:cNvPr id="139" name="TextBox 138">
            <a:extLst>
              <a:ext uri="{FF2B5EF4-FFF2-40B4-BE49-F238E27FC236}">
                <a16:creationId xmlns:a16="http://schemas.microsoft.com/office/drawing/2014/main" id="{49DEB761-7564-48BE-AB37-925DF50B9909}"/>
              </a:ext>
            </a:extLst>
          </p:cNvPr>
          <p:cNvSpPr txBox="1"/>
          <p:nvPr/>
        </p:nvSpPr>
        <p:spPr>
          <a:xfrm>
            <a:off x="25677208" y="22699255"/>
            <a:ext cx="3603249" cy="338554"/>
          </a:xfrm>
          <a:prstGeom prst="rect">
            <a:avLst/>
          </a:prstGeom>
          <a:noFill/>
        </p:spPr>
        <p:txBody>
          <a:bodyPr wrap="square" rtlCol="0">
            <a:spAutoFit/>
          </a:bodyPr>
          <a:lstStyle/>
          <a:p>
            <a:pPr algn="ctr"/>
            <a:r>
              <a:rPr lang="en-US" sz="1600" b="1" dirty="0">
                <a:solidFill>
                  <a:srgbClr val="0D5749"/>
                </a:solidFill>
                <a:latin typeface="Times New Roman" panose="02020603050405020304" pitchFamily="18" charset="0"/>
                <a:cs typeface="Times New Roman" panose="02020603050405020304" pitchFamily="18" charset="0"/>
              </a:rPr>
              <a:t>Graph(4): Function of the Parabola</a:t>
            </a:r>
          </a:p>
        </p:txBody>
      </p:sp>
      <p:sp>
        <p:nvSpPr>
          <p:cNvPr id="144" name="TextBox 143">
            <a:extLst>
              <a:ext uri="{FF2B5EF4-FFF2-40B4-BE49-F238E27FC236}">
                <a16:creationId xmlns:a16="http://schemas.microsoft.com/office/drawing/2014/main" id="{EEEAA702-6EF3-448E-ABBD-F754C6E6A9DF}"/>
              </a:ext>
            </a:extLst>
          </p:cNvPr>
          <p:cNvSpPr txBox="1"/>
          <p:nvPr/>
        </p:nvSpPr>
        <p:spPr>
          <a:xfrm>
            <a:off x="26469842" y="16937965"/>
            <a:ext cx="3186215" cy="338554"/>
          </a:xfrm>
          <a:prstGeom prst="rect">
            <a:avLst/>
          </a:prstGeom>
          <a:noFill/>
        </p:spPr>
        <p:txBody>
          <a:bodyPr wrap="square" rtlCol="0">
            <a:spAutoFit/>
          </a:bodyPr>
          <a:lstStyle/>
          <a:p>
            <a:pPr algn="ctr"/>
            <a:r>
              <a:rPr lang="en-US" sz="1600" b="1" dirty="0">
                <a:solidFill>
                  <a:srgbClr val="0D5749"/>
                </a:solidFill>
                <a:latin typeface="Times New Roman" panose="02020603050405020304" pitchFamily="18" charset="0"/>
                <a:cs typeface="Times New Roman" panose="02020603050405020304" pitchFamily="18" charset="0"/>
              </a:rPr>
              <a:t>Graph (3): Trials’ Energy </a:t>
            </a:r>
          </a:p>
        </p:txBody>
      </p:sp>
      <p:pic>
        <p:nvPicPr>
          <p:cNvPr id="146" name="Picture 145" descr="Chart, bar chart, treemap chart&#10;&#10;Description automatically generated">
            <a:extLst>
              <a:ext uri="{FF2B5EF4-FFF2-40B4-BE49-F238E27FC236}">
                <a16:creationId xmlns:a16="http://schemas.microsoft.com/office/drawing/2014/main" id="{836965FC-837D-4D10-A107-578AA0384FEC}"/>
              </a:ext>
            </a:extLst>
          </p:cNvPr>
          <p:cNvPicPr>
            <a:picLocks noChangeAspect="1"/>
          </p:cNvPicPr>
          <p:nvPr/>
        </p:nvPicPr>
        <p:blipFill>
          <a:blip r:embed="rId65">
            <a:extLst>
              <a:ext uri="{28A0092B-C50C-407E-A947-70E740481C1C}">
                <a14:useLocalDpi xmlns:a14="http://schemas.microsoft.com/office/drawing/2010/main" val="0"/>
              </a:ext>
            </a:extLst>
          </a:blip>
          <a:stretch>
            <a:fillRect/>
          </a:stretch>
        </p:blipFill>
        <p:spPr>
          <a:xfrm>
            <a:off x="26487734" y="14189657"/>
            <a:ext cx="3125681" cy="2818724"/>
          </a:xfrm>
          <a:prstGeom prst="rect">
            <a:avLst/>
          </a:prstGeom>
        </p:spPr>
      </p:pic>
    </p:spTree>
    <p:extLst>
      <p:ext uri="{BB962C8B-B14F-4D97-AF65-F5344CB8AC3E}">
        <p14:creationId xmlns:p14="http://schemas.microsoft.com/office/powerpoint/2010/main" val="2773104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3365</TotalTime>
  <Words>3734</Words>
  <Application>Microsoft Office PowerPoint</Application>
  <PresentationFormat>Custom</PresentationFormat>
  <Paragraphs>80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Book Antiqua</vt:lpstr>
      <vt:lpstr>Calibri</vt:lpstr>
      <vt:lpstr>Calibri Light</vt:lpstr>
      <vt:lpstr>Cambria Math</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Yousef Shbana_369</dc:creator>
  <cp:lastModifiedBy>Yousef Shbana_369</cp:lastModifiedBy>
  <cp:revision>38</cp:revision>
  <dcterms:created xsi:type="dcterms:W3CDTF">2021-11-03T06:02:16Z</dcterms:created>
  <dcterms:modified xsi:type="dcterms:W3CDTF">2021-12-22T12:18:21Z</dcterms:modified>
</cp:coreProperties>
</file>